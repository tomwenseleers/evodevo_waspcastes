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64592"/>
            <a:ext cx="3794760" cy="6510528"/>
            <a:chOff x="182880" y="164592"/>
            <a:chExt cx="3794760" cy="6510528"/>
          </a:xfrm>
        </p:grpSpPr>
        <p:sp>
          <p:nvSpPr>
            <p:cNvPr id="3" name="rc3"/>
            <p:cNvSpPr/>
            <p:nvPr/>
          </p:nvSpPr>
          <p:spPr>
            <a:xfrm>
              <a:off x="182880" y="164592"/>
              <a:ext cx="3794760" cy="65105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325229" y="1836371"/>
              <a:ext cx="956233" cy="1107462"/>
            </a:xfrm>
            <a:custGeom>
              <a:avLst/>
              <a:pathLst>
                <a:path w="956233" h="1107462">
                  <a:moveTo>
                    <a:pt x="183566" y="1107462"/>
                  </a:moveTo>
                  <a:lnTo>
                    <a:pt x="0" y="983262"/>
                  </a:lnTo>
                  <a:lnTo>
                    <a:pt x="59001" y="125172"/>
                  </a:lnTo>
                  <a:lnTo>
                    <a:pt x="564401" y="0"/>
                  </a:lnTo>
                  <a:lnTo>
                    <a:pt x="956233" y="152859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19214" y="1687118"/>
              <a:ext cx="1012802" cy="941215"/>
            </a:xfrm>
            <a:custGeom>
              <a:avLst/>
              <a:pathLst>
                <a:path w="1012802" h="941215">
                  <a:moveTo>
                    <a:pt x="323556" y="829325"/>
                  </a:moveTo>
                  <a:lnTo>
                    <a:pt x="0" y="941215"/>
                  </a:lnTo>
                  <a:lnTo>
                    <a:pt x="554069" y="108115"/>
                  </a:lnTo>
                  <a:lnTo>
                    <a:pt x="1012802" y="0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924559" y="1700579"/>
              <a:ext cx="988853" cy="579827"/>
            </a:xfrm>
            <a:custGeom>
              <a:avLst/>
              <a:pathLst>
                <a:path w="988853" h="579827">
                  <a:moveTo>
                    <a:pt x="187161" y="579827"/>
                  </a:moveTo>
                  <a:lnTo>
                    <a:pt x="0" y="253834"/>
                  </a:lnTo>
                  <a:lnTo>
                    <a:pt x="225446" y="0"/>
                  </a:lnTo>
                  <a:lnTo>
                    <a:pt x="988853" y="17503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2201277" y="1797628"/>
              <a:ext cx="580687" cy="281576"/>
            </a:xfrm>
            <a:custGeom>
              <a:avLst/>
              <a:pathLst>
                <a:path w="580687" h="281576">
                  <a:moveTo>
                    <a:pt x="200500" y="281576"/>
                  </a:moveTo>
                  <a:lnTo>
                    <a:pt x="0" y="82169"/>
                  </a:lnTo>
                  <a:lnTo>
                    <a:pt x="230627" y="40333"/>
                  </a:lnTo>
                  <a:lnTo>
                    <a:pt x="308480" y="30557"/>
                  </a:lnTo>
                  <a:lnTo>
                    <a:pt x="580687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2061542" y="1087595"/>
              <a:ext cx="926745" cy="627995"/>
            </a:xfrm>
            <a:custGeom>
              <a:avLst/>
              <a:pathLst>
                <a:path w="926745" h="627995">
                  <a:moveTo>
                    <a:pt x="833552" y="627995"/>
                  </a:moveTo>
                  <a:lnTo>
                    <a:pt x="445139" y="518275"/>
                  </a:lnTo>
                  <a:lnTo>
                    <a:pt x="0" y="244642"/>
                  </a:lnTo>
                  <a:lnTo>
                    <a:pt x="85389" y="0"/>
                  </a:lnTo>
                  <a:lnTo>
                    <a:pt x="926745" y="88158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784056" y="879627"/>
              <a:ext cx="1021694" cy="388024"/>
            </a:xfrm>
            <a:custGeom>
              <a:avLst/>
              <a:pathLst>
                <a:path w="1021694" h="388024">
                  <a:moveTo>
                    <a:pt x="631960" y="388024"/>
                  </a:moveTo>
                  <a:lnTo>
                    <a:pt x="0" y="386229"/>
                  </a:lnTo>
                  <a:lnTo>
                    <a:pt x="920179" y="0"/>
                  </a:lnTo>
                  <a:lnTo>
                    <a:pt x="1021694" y="125050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896189" y="1624286"/>
              <a:ext cx="1046760" cy="1462593"/>
            </a:xfrm>
            <a:custGeom>
              <a:avLst/>
              <a:pathLst>
                <a:path w="1046760" h="1462593">
                  <a:moveTo>
                    <a:pt x="559058" y="1462593"/>
                  </a:moveTo>
                  <a:lnTo>
                    <a:pt x="0" y="912961"/>
                  </a:lnTo>
                  <a:lnTo>
                    <a:pt x="507157" y="236495"/>
                  </a:lnTo>
                  <a:lnTo>
                    <a:pt x="1010462" y="7800"/>
                  </a:lnTo>
                  <a:lnTo>
                    <a:pt x="1046760" y="0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2440249" y="1590720"/>
              <a:ext cx="751423" cy="1315725"/>
            </a:xfrm>
            <a:custGeom>
              <a:avLst/>
              <a:pathLst>
                <a:path w="751423" h="1315725">
                  <a:moveTo>
                    <a:pt x="331616" y="1315725"/>
                  </a:moveTo>
                  <a:lnTo>
                    <a:pt x="0" y="390520"/>
                  </a:lnTo>
                  <a:lnTo>
                    <a:pt x="419319" y="0"/>
                  </a:lnTo>
                  <a:lnTo>
                    <a:pt x="749146" y="272168"/>
                  </a:lnTo>
                  <a:lnTo>
                    <a:pt x="751423" y="407314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2368679" y="1191199"/>
              <a:ext cx="1046405" cy="868763"/>
            </a:xfrm>
            <a:custGeom>
              <a:avLst/>
              <a:pathLst>
                <a:path w="1046405" h="868763">
                  <a:moveTo>
                    <a:pt x="983278" y="556588"/>
                  </a:moveTo>
                  <a:lnTo>
                    <a:pt x="708317" y="868763"/>
                  </a:lnTo>
                  <a:lnTo>
                    <a:pt x="0" y="735699"/>
                  </a:lnTo>
                  <a:lnTo>
                    <a:pt x="226194" y="406963"/>
                  </a:lnTo>
                  <a:lnTo>
                    <a:pt x="1046405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3022811" y="1203679"/>
              <a:ext cx="754553" cy="403952"/>
            </a:xfrm>
            <a:custGeom>
              <a:avLst/>
              <a:pathLst>
                <a:path w="754553" h="403952">
                  <a:moveTo>
                    <a:pt x="754553" y="403952"/>
                  </a:moveTo>
                  <a:lnTo>
                    <a:pt x="0" y="242615"/>
                  </a:lnTo>
                  <a:lnTo>
                    <a:pt x="27382" y="106867"/>
                  </a:lnTo>
                  <a:lnTo>
                    <a:pt x="118015" y="0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2782391" y="972262"/>
              <a:ext cx="633467" cy="369405"/>
            </a:xfrm>
            <a:custGeom>
              <a:avLst/>
              <a:pathLst>
                <a:path w="633467" h="369405">
                  <a:moveTo>
                    <a:pt x="603182" y="179961"/>
                  </a:moveTo>
                  <a:lnTo>
                    <a:pt x="545935" y="369405"/>
                  </a:lnTo>
                  <a:lnTo>
                    <a:pt x="0" y="0"/>
                  </a:lnTo>
                  <a:lnTo>
                    <a:pt x="633467" y="22305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525764" y="883384"/>
              <a:ext cx="881425" cy="220063"/>
            </a:xfrm>
            <a:custGeom>
              <a:avLst/>
              <a:pathLst>
                <a:path w="881425" h="220063">
                  <a:moveTo>
                    <a:pt x="0" y="220063"/>
                  </a:moveTo>
                  <a:lnTo>
                    <a:pt x="332063" y="67518"/>
                  </a:lnTo>
                  <a:lnTo>
                    <a:pt x="738472" y="258"/>
                  </a:lnTo>
                  <a:lnTo>
                    <a:pt x="881425" y="0"/>
                  </a:lnTo>
                  <a:lnTo>
                    <a:pt x="861338" y="17771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818996" y="944758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355092" y="869145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232225" y="851632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2103821" y="103781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371337" y="1828772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910939" y="159227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827558" y="155870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724086" y="1830227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62640" y="95489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2542" y="1752828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66222" y="149666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83074" y="1159188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52998" y="126537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740946" y="121607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108816" y="117166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50380" y="940252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383847" y="962557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846520" y="17865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493753" y="1071437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218584" y="89716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2388906" y="16373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2238352" y="193945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341120" y="191176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2068609" y="223062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2185776" y="177553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930173" y="17454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2358709" y="172103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282119" y="27698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2138016" y="184518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2388794" y="178818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2158166" y="183001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2018432" y="128245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2463572" y="15560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169674" y="11608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661125" y="82984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528392" y="252474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65685" y="28940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699660" y="246666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810156" y="202845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376104" y="25785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2106895" y="165079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881448" y="190463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2251253" y="188300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2358667" y="202942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2945177" y="112597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2851984" y="166581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372906" y="12178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502761" y="99095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58374" y="1863002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74642" y="1600077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59662" y="196602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157385" y="1830877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408239" y="1949230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2491943" y="191468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319948" y="1715777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14430" y="181609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044987" y="202795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442020" y="1488490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745354" y="157562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386047" y="148190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2870301" y="166830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96316" y="1309657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53563" y="1120213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25816" y="918892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2738854" y="174784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75179" y="85137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64179" y="250523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423238" y="3054870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2466646" y="177840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626541" y="2052721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39855" y="2874435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336669" y="1894888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562863" y="1566151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2180100" y="12027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018183" y="127853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90800" y="1414284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084507" y="1021841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921664" y="1491561"/>
              <a:ext cx="349209" cy="956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</a:t>
              </a:r>
            </a:p>
          </p:txBody>
        </p:sp>
        <p:sp>
          <p:nvSpPr>
            <p:cNvPr id="94" name="pg94"/>
            <p:cNvSpPr/>
            <p:nvPr/>
          </p:nvSpPr>
          <p:spPr>
            <a:xfrm>
              <a:off x="947432" y="1687730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947432" y="1867705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947432" y="2047680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947432" y="2227655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947432" y="2407630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947432" y="2587605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1147846" y="1696026"/>
              <a:ext cx="76992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47846" y="1876000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1147846" y="2055975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1147846" y="2235950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1147846" y="2415925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1147846" y="2595900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34391" y="477850"/>
              <a:ext cx="3292638" cy="2733269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920416" y="5201109"/>
              <a:ext cx="462306" cy="316570"/>
            </a:xfrm>
            <a:custGeom>
              <a:avLst/>
              <a:pathLst>
                <a:path w="462306" h="316570">
                  <a:moveTo>
                    <a:pt x="407681" y="255942"/>
                  </a:moveTo>
                  <a:lnTo>
                    <a:pt x="462306" y="304005"/>
                  </a:lnTo>
                  <a:lnTo>
                    <a:pt x="236612" y="316570"/>
                  </a:lnTo>
                  <a:lnTo>
                    <a:pt x="0" y="0"/>
                  </a:lnTo>
                  <a:lnTo>
                    <a:pt x="97542" y="42037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2272359" y="5205918"/>
              <a:ext cx="381670" cy="321475"/>
            </a:xfrm>
            <a:custGeom>
              <a:avLst/>
              <a:pathLst>
                <a:path w="381670" h="321475">
                  <a:moveTo>
                    <a:pt x="381670" y="135454"/>
                  </a:moveTo>
                  <a:lnTo>
                    <a:pt x="0" y="321475"/>
                  </a:lnTo>
                  <a:lnTo>
                    <a:pt x="172003" y="0"/>
                  </a:lnTo>
                  <a:lnTo>
                    <a:pt x="249156" y="46190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2465843" y="4502635"/>
              <a:ext cx="130243" cy="536085"/>
            </a:xfrm>
            <a:custGeom>
              <a:avLst/>
              <a:pathLst>
                <a:path w="130243" h="536085">
                  <a:moveTo>
                    <a:pt x="130243" y="536085"/>
                  </a:moveTo>
                  <a:lnTo>
                    <a:pt x="67477" y="489635"/>
                  </a:lnTo>
                  <a:lnTo>
                    <a:pt x="0" y="4615"/>
                  </a:lnTo>
                  <a:lnTo>
                    <a:pt x="88536" y="0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2494495" y="4155016"/>
              <a:ext cx="371676" cy="263044"/>
            </a:xfrm>
            <a:custGeom>
              <a:avLst/>
              <a:pathLst>
                <a:path w="371676" h="263044">
                  <a:moveTo>
                    <a:pt x="371676" y="146061"/>
                  </a:moveTo>
                  <a:lnTo>
                    <a:pt x="284310" y="263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2203559" y="3673922"/>
              <a:ext cx="395167" cy="363848"/>
            </a:xfrm>
            <a:custGeom>
              <a:avLst/>
              <a:pathLst>
                <a:path w="395167" h="363848">
                  <a:moveTo>
                    <a:pt x="395167" y="305532"/>
                  </a:moveTo>
                  <a:lnTo>
                    <a:pt x="0" y="363848"/>
                  </a:lnTo>
                  <a:lnTo>
                    <a:pt x="199666" y="105256"/>
                  </a:lnTo>
                  <a:lnTo>
                    <a:pt x="274077" y="10828"/>
                  </a:lnTo>
                  <a:lnTo>
                    <a:pt x="287829" y="0"/>
                  </a:lnTo>
                  <a:lnTo>
                    <a:pt x="346518" y="46593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975877" y="3760218"/>
              <a:ext cx="874099" cy="376734"/>
            </a:xfrm>
            <a:custGeom>
              <a:avLst/>
              <a:pathLst>
                <a:path w="874099" h="376734">
                  <a:moveTo>
                    <a:pt x="118454" y="332888"/>
                  </a:moveTo>
                  <a:lnTo>
                    <a:pt x="0" y="376734"/>
                  </a:lnTo>
                  <a:lnTo>
                    <a:pt x="179980" y="97544"/>
                  </a:lnTo>
                  <a:lnTo>
                    <a:pt x="874099" y="0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2055435" y="5310666"/>
              <a:ext cx="721803" cy="220939"/>
            </a:xfrm>
            <a:custGeom>
              <a:avLst/>
              <a:pathLst>
                <a:path w="721803" h="220939">
                  <a:moveTo>
                    <a:pt x="721803" y="101136"/>
                  </a:moveTo>
                  <a:lnTo>
                    <a:pt x="446054" y="220939"/>
                  </a:lnTo>
                  <a:lnTo>
                    <a:pt x="235183" y="150665"/>
                  </a:lnTo>
                  <a:lnTo>
                    <a:pt x="0" y="0"/>
                  </a:lnTo>
                  <a:lnTo>
                    <a:pt x="283377" y="18305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2848676" y="4626570"/>
              <a:ext cx="295523" cy="893089"/>
            </a:xfrm>
            <a:custGeom>
              <a:avLst/>
              <a:pathLst>
                <a:path w="295523" h="893089">
                  <a:moveTo>
                    <a:pt x="134967" y="893089"/>
                  </a:moveTo>
                  <a:lnTo>
                    <a:pt x="70095" y="789294"/>
                  </a:lnTo>
                  <a:lnTo>
                    <a:pt x="0" y="661532"/>
                  </a:lnTo>
                  <a:lnTo>
                    <a:pt x="35554" y="0"/>
                  </a:lnTo>
                  <a:lnTo>
                    <a:pt x="234061" y="76683"/>
                  </a:lnTo>
                  <a:lnTo>
                    <a:pt x="295523" y="420897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2888063" y="4536667"/>
              <a:ext cx="347811" cy="749035"/>
            </a:xfrm>
            <a:custGeom>
              <a:avLst/>
              <a:pathLst>
                <a:path w="347811" h="749035">
                  <a:moveTo>
                    <a:pt x="0" y="749035"/>
                  </a:moveTo>
                  <a:lnTo>
                    <a:pt x="37160" y="9322"/>
                  </a:lnTo>
                  <a:lnTo>
                    <a:pt x="347811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2980656" y="4252201"/>
              <a:ext cx="340177" cy="255208"/>
            </a:xfrm>
            <a:custGeom>
              <a:avLst/>
              <a:pathLst>
                <a:path w="340177" h="255208">
                  <a:moveTo>
                    <a:pt x="172382" y="255208"/>
                  </a:moveTo>
                  <a:lnTo>
                    <a:pt x="0" y="0"/>
                  </a:lnTo>
                  <a:lnTo>
                    <a:pt x="273974" y="27001"/>
                  </a:lnTo>
                  <a:lnTo>
                    <a:pt x="340177" y="85478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2723757" y="4055074"/>
              <a:ext cx="171546" cy="203181"/>
            </a:xfrm>
            <a:custGeom>
              <a:avLst/>
              <a:pathLst>
                <a:path w="171546" h="203181">
                  <a:moveTo>
                    <a:pt x="171546" y="203181"/>
                  </a:moveTo>
                  <a:lnTo>
                    <a:pt x="0" y="165701"/>
                  </a:lnTo>
                  <a:lnTo>
                    <a:pt x="6722" y="0"/>
                  </a:lnTo>
                  <a:lnTo>
                    <a:pt x="160322" y="30310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728328" y="3753930"/>
              <a:ext cx="497692" cy="239605"/>
            </a:xfrm>
            <a:custGeom>
              <a:avLst/>
              <a:pathLst>
                <a:path w="497692" h="239605">
                  <a:moveTo>
                    <a:pt x="244715" y="236501"/>
                  </a:moveTo>
                  <a:lnTo>
                    <a:pt x="0" y="239605"/>
                  </a:lnTo>
                  <a:lnTo>
                    <a:pt x="100921" y="118938"/>
                  </a:lnTo>
                  <a:lnTo>
                    <a:pt x="360950" y="0"/>
                  </a:lnTo>
                  <a:lnTo>
                    <a:pt x="497692" y="43104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974848" y="51933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877306" y="515132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2281392" y="540097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2423675" y="520502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2511269" y="445285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2422732" y="44574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2506967" y="367073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2448278" y="362414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112747" y="380798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095797" y="384352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2339612" y="545533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2113918" y="54679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2478404" y="520232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2401252" y="51561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2823060" y="425129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2434526" y="36349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2360115" y="372939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932766" y="408717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062398" y="38865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2284987" y="54072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2099672" y="537428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2610918" y="529159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2229248" y="547761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2490210" y="49424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2552976" y="498894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2735695" y="436828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2451384" y="410523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2555616" y="392967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2160448" y="39879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1806866" y="37104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1051221" y="404332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258608" y="542932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96031" y="538203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951633" y="548764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86762" y="538385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856052" y="525369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893808" y="482005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21028" y="447539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288823" y="430566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698470" y="4023064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706636" y="4088520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1696317" y="3961525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1941033" y="395842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023425" y="527865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306802" y="529696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050727" y="4671243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816666" y="5256092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908576" y="4610088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893213" y="4513979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80127" y="4308930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948646" y="4220190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63293" y="4226246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194010" y="376502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095083" y="3753719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745228" y="5379793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469479" y="549959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112190" y="501545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52221" y="459455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170882" y="4552514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203864" y="4504657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222621" y="4247192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19312" y="434423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852069" y="405337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691747" y="418876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1797239" y="3840858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057267" y="3721920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tx185"/>
            <p:cNvSpPr/>
            <p:nvPr/>
          </p:nvSpPr>
          <p:spPr>
            <a:xfrm>
              <a:off x="921664" y="5247299"/>
              <a:ext cx="913759" cy="956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Season / Caste</a:t>
              </a:r>
            </a:p>
          </p:txBody>
        </p:sp>
        <p:sp>
          <p:nvSpPr>
            <p:cNvPr id="186" name="pg186"/>
            <p:cNvSpPr/>
            <p:nvPr/>
          </p:nvSpPr>
          <p:spPr>
            <a:xfrm>
              <a:off x="930223" y="5433917"/>
              <a:ext cx="133670" cy="115761"/>
            </a:xfrm>
            <a:custGeom>
              <a:avLst/>
              <a:pathLst>
                <a:path w="133670" h="115761">
                  <a:moveTo>
                    <a:pt x="66835" y="0"/>
                  </a:moveTo>
                  <a:lnTo>
                    <a:pt x="133670" y="115761"/>
                  </a:lnTo>
                  <a:lnTo>
                    <a:pt x="0" y="115761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947432" y="5677436"/>
              <a:ext cx="99252" cy="9925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tx188"/>
            <p:cNvSpPr/>
            <p:nvPr/>
          </p:nvSpPr>
          <p:spPr>
            <a:xfrm>
              <a:off x="1147846" y="5469761"/>
              <a:ext cx="729508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Early / Worker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1147846" y="5685731"/>
              <a:ext cx="667512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/ Queen</a:t>
              </a:r>
            </a:p>
          </p:txBody>
        </p:sp>
        <p:sp>
          <p:nvSpPr>
            <p:cNvPr id="190" name="rc190"/>
            <p:cNvSpPr/>
            <p:nvPr/>
          </p:nvSpPr>
          <p:spPr>
            <a:xfrm>
              <a:off x="634391" y="3549683"/>
              <a:ext cx="3292638" cy="2733269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634391" y="3287035"/>
              <a:ext cx="3292638" cy="2626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92" name="tx192"/>
            <p:cNvSpPr/>
            <p:nvPr/>
          </p:nvSpPr>
          <p:spPr>
            <a:xfrm>
              <a:off x="1724343" y="3363769"/>
              <a:ext cx="1112733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193" name="rc193"/>
            <p:cNvSpPr/>
            <p:nvPr/>
          </p:nvSpPr>
          <p:spPr>
            <a:xfrm>
              <a:off x="634391" y="215202"/>
              <a:ext cx="3292638" cy="2626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94" name="tx194"/>
            <p:cNvSpPr/>
            <p:nvPr/>
          </p:nvSpPr>
          <p:spPr>
            <a:xfrm>
              <a:off x="1683424" y="291936"/>
              <a:ext cx="1194572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195" name="pl195"/>
            <p:cNvSpPr/>
            <p:nvPr/>
          </p:nvSpPr>
          <p:spPr>
            <a:xfrm>
              <a:off x="959361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1713303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2467246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3221188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tx199"/>
            <p:cNvSpPr/>
            <p:nvPr/>
          </p:nvSpPr>
          <p:spPr>
            <a:xfrm>
              <a:off x="876790" y="6351277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630733" y="6351277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435470" y="6351277"/>
              <a:ext cx="6355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3157637" y="635127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400926" y="2470329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502516" y="1570455"/>
              <a:ext cx="6355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438965" y="670580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06" name="pl206"/>
            <p:cNvSpPr/>
            <p:nvPr/>
          </p:nvSpPr>
          <p:spPr>
            <a:xfrm>
              <a:off x="596433" y="251124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596433" y="161137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596433" y="71149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tx209"/>
            <p:cNvSpPr/>
            <p:nvPr/>
          </p:nvSpPr>
          <p:spPr>
            <a:xfrm>
              <a:off x="400926" y="5542162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502516" y="4642288"/>
              <a:ext cx="6355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438965" y="3742413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12" name="pl212"/>
            <p:cNvSpPr/>
            <p:nvPr/>
          </p:nvSpPr>
          <p:spPr>
            <a:xfrm>
              <a:off x="596433" y="558308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596433" y="468320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596433" y="378333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1573833" y="6495030"/>
              <a:ext cx="141375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1: Season / Caste</a:t>
              </a:r>
            </a:p>
          </p:txBody>
        </p:sp>
        <p:sp>
          <p:nvSpPr>
            <p:cNvPr id="216" name="tx216"/>
            <p:cNvSpPr/>
            <p:nvPr/>
          </p:nvSpPr>
          <p:spPr>
            <a:xfrm rot="-5400000">
              <a:off x="-128200" y="3330383"/>
              <a:ext cx="8234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2: Stage</a:t>
              </a:r>
            </a:p>
          </p:txBody>
        </p:sp>
      </p:grpSp>
      <p:grpSp xmlns:pic="http://schemas.openxmlformats.org/drawingml/2006/picture">
        <p:nvGrpSpPr>
          <p:cNvPr id="217" name=""/>
          <p:cNvGrpSpPr/>
          <p:nvPr/>
        </p:nvGrpSpPr>
        <p:grpSpPr>
          <a:xfrm>
            <a:off x="3931920" y="164592"/>
            <a:ext cx="5074920" cy="6510528"/>
            <a:chOff x="3931920" y="164592"/>
            <a:chExt cx="5074920" cy="6510528"/>
          </a:xfrm>
        </p:grpSpPr>
        <p:sp>
          <p:nvSpPr>
            <p:cNvPr id="218" name="rc3"/>
            <p:cNvSpPr/>
            <p:nvPr/>
          </p:nvSpPr>
          <p:spPr>
            <a:xfrm>
              <a:off x="3931919" y="164592"/>
              <a:ext cx="5074920" cy="65105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rc4"/>
            <p:cNvSpPr/>
            <p:nvPr/>
          </p:nvSpPr>
          <p:spPr>
            <a:xfrm>
              <a:off x="3931919" y="164592"/>
              <a:ext cx="5074920" cy="65105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l5"/>
            <p:cNvSpPr/>
            <p:nvPr/>
          </p:nvSpPr>
          <p:spPr>
            <a:xfrm>
              <a:off x="6117980" y="616983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6"/>
            <p:cNvSpPr/>
            <p:nvPr/>
          </p:nvSpPr>
          <p:spPr>
            <a:xfrm>
              <a:off x="6117980" y="60546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7"/>
            <p:cNvSpPr/>
            <p:nvPr/>
          </p:nvSpPr>
          <p:spPr>
            <a:xfrm>
              <a:off x="6117980" y="593952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8"/>
            <p:cNvSpPr/>
            <p:nvPr/>
          </p:nvSpPr>
          <p:spPr>
            <a:xfrm>
              <a:off x="6117980" y="582436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9"/>
            <p:cNvSpPr/>
            <p:nvPr/>
          </p:nvSpPr>
          <p:spPr>
            <a:xfrm>
              <a:off x="6117980" y="570921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10"/>
            <p:cNvSpPr/>
            <p:nvPr/>
          </p:nvSpPr>
          <p:spPr>
            <a:xfrm>
              <a:off x="6117980" y="559405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11"/>
            <p:cNvSpPr/>
            <p:nvPr/>
          </p:nvSpPr>
          <p:spPr>
            <a:xfrm>
              <a:off x="6117980" y="54789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12"/>
            <p:cNvSpPr/>
            <p:nvPr/>
          </p:nvSpPr>
          <p:spPr>
            <a:xfrm>
              <a:off x="6117980" y="536374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13"/>
            <p:cNvSpPr/>
            <p:nvPr/>
          </p:nvSpPr>
          <p:spPr>
            <a:xfrm>
              <a:off x="6117980" y="52485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14"/>
            <p:cNvSpPr/>
            <p:nvPr/>
          </p:nvSpPr>
          <p:spPr>
            <a:xfrm>
              <a:off x="6117980" y="513343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15"/>
            <p:cNvSpPr/>
            <p:nvPr/>
          </p:nvSpPr>
          <p:spPr>
            <a:xfrm>
              <a:off x="6117980" y="50182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16"/>
            <p:cNvSpPr/>
            <p:nvPr/>
          </p:nvSpPr>
          <p:spPr>
            <a:xfrm>
              <a:off x="6117980" y="490313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17"/>
            <p:cNvSpPr/>
            <p:nvPr/>
          </p:nvSpPr>
          <p:spPr>
            <a:xfrm>
              <a:off x="6117980" y="47879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18"/>
            <p:cNvSpPr/>
            <p:nvPr/>
          </p:nvSpPr>
          <p:spPr>
            <a:xfrm>
              <a:off x="6117980" y="46728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19"/>
            <p:cNvSpPr/>
            <p:nvPr/>
          </p:nvSpPr>
          <p:spPr>
            <a:xfrm>
              <a:off x="6117980" y="455766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0"/>
            <p:cNvSpPr/>
            <p:nvPr/>
          </p:nvSpPr>
          <p:spPr>
            <a:xfrm>
              <a:off x="6117980" y="44425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1"/>
            <p:cNvSpPr/>
            <p:nvPr/>
          </p:nvSpPr>
          <p:spPr>
            <a:xfrm>
              <a:off x="6117980" y="432735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2"/>
            <p:cNvSpPr/>
            <p:nvPr/>
          </p:nvSpPr>
          <p:spPr>
            <a:xfrm>
              <a:off x="6117980" y="42122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"/>
            <p:cNvSpPr/>
            <p:nvPr/>
          </p:nvSpPr>
          <p:spPr>
            <a:xfrm>
              <a:off x="6117980" y="409704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4"/>
            <p:cNvSpPr/>
            <p:nvPr/>
          </p:nvSpPr>
          <p:spPr>
            <a:xfrm>
              <a:off x="6117980" y="39818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5"/>
            <p:cNvSpPr/>
            <p:nvPr/>
          </p:nvSpPr>
          <p:spPr>
            <a:xfrm>
              <a:off x="6117980" y="386673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6"/>
            <p:cNvSpPr/>
            <p:nvPr/>
          </p:nvSpPr>
          <p:spPr>
            <a:xfrm>
              <a:off x="6117980" y="37515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7"/>
            <p:cNvSpPr/>
            <p:nvPr/>
          </p:nvSpPr>
          <p:spPr>
            <a:xfrm>
              <a:off x="6117980" y="363642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8"/>
            <p:cNvSpPr/>
            <p:nvPr/>
          </p:nvSpPr>
          <p:spPr>
            <a:xfrm>
              <a:off x="6117980" y="35212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9"/>
            <p:cNvSpPr/>
            <p:nvPr/>
          </p:nvSpPr>
          <p:spPr>
            <a:xfrm>
              <a:off x="6117980" y="34061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30"/>
            <p:cNvSpPr/>
            <p:nvPr/>
          </p:nvSpPr>
          <p:spPr>
            <a:xfrm>
              <a:off x="6117980" y="329096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31"/>
            <p:cNvSpPr/>
            <p:nvPr/>
          </p:nvSpPr>
          <p:spPr>
            <a:xfrm>
              <a:off x="6117980" y="31758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32"/>
            <p:cNvSpPr/>
            <p:nvPr/>
          </p:nvSpPr>
          <p:spPr>
            <a:xfrm>
              <a:off x="6117980" y="306065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33"/>
            <p:cNvSpPr/>
            <p:nvPr/>
          </p:nvSpPr>
          <p:spPr>
            <a:xfrm>
              <a:off x="6117980" y="29455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34"/>
            <p:cNvSpPr/>
            <p:nvPr/>
          </p:nvSpPr>
          <p:spPr>
            <a:xfrm>
              <a:off x="6117980" y="283034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35"/>
            <p:cNvSpPr/>
            <p:nvPr/>
          </p:nvSpPr>
          <p:spPr>
            <a:xfrm>
              <a:off x="6117980" y="27151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36"/>
            <p:cNvSpPr/>
            <p:nvPr/>
          </p:nvSpPr>
          <p:spPr>
            <a:xfrm>
              <a:off x="6117980" y="260003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37"/>
            <p:cNvSpPr/>
            <p:nvPr/>
          </p:nvSpPr>
          <p:spPr>
            <a:xfrm>
              <a:off x="6117980" y="24848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38"/>
            <p:cNvSpPr/>
            <p:nvPr/>
          </p:nvSpPr>
          <p:spPr>
            <a:xfrm>
              <a:off x="6117980" y="236972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39"/>
            <p:cNvSpPr/>
            <p:nvPr/>
          </p:nvSpPr>
          <p:spPr>
            <a:xfrm>
              <a:off x="6117980" y="22545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40"/>
            <p:cNvSpPr/>
            <p:nvPr/>
          </p:nvSpPr>
          <p:spPr>
            <a:xfrm>
              <a:off x="6117980" y="21394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41"/>
            <p:cNvSpPr/>
            <p:nvPr/>
          </p:nvSpPr>
          <p:spPr>
            <a:xfrm>
              <a:off x="6117980" y="202426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42"/>
            <p:cNvSpPr/>
            <p:nvPr/>
          </p:nvSpPr>
          <p:spPr>
            <a:xfrm>
              <a:off x="6117980" y="19091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43"/>
            <p:cNvSpPr/>
            <p:nvPr/>
          </p:nvSpPr>
          <p:spPr>
            <a:xfrm>
              <a:off x="6117980" y="179395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44"/>
            <p:cNvSpPr/>
            <p:nvPr/>
          </p:nvSpPr>
          <p:spPr>
            <a:xfrm>
              <a:off x="6117980" y="16788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45"/>
            <p:cNvSpPr/>
            <p:nvPr/>
          </p:nvSpPr>
          <p:spPr>
            <a:xfrm>
              <a:off x="6117980" y="156364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46"/>
            <p:cNvSpPr/>
            <p:nvPr/>
          </p:nvSpPr>
          <p:spPr>
            <a:xfrm>
              <a:off x="6117980" y="14484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47"/>
            <p:cNvSpPr/>
            <p:nvPr/>
          </p:nvSpPr>
          <p:spPr>
            <a:xfrm>
              <a:off x="6117980" y="133333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48"/>
            <p:cNvSpPr/>
            <p:nvPr/>
          </p:nvSpPr>
          <p:spPr>
            <a:xfrm>
              <a:off x="6117980" y="12181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49"/>
            <p:cNvSpPr/>
            <p:nvPr/>
          </p:nvSpPr>
          <p:spPr>
            <a:xfrm>
              <a:off x="6117980" y="110302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50"/>
            <p:cNvSpPr/>
            <p:nvPr/>
          </p:nvSpPr>
          <p:spPr>
            <a:xfrm>
              <a:off x="6117980" y="98787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51"/>
            <p:cNvSpPr/>
            <p:nvPr/>
          </p:nvSpPr>
          <p:spPr>
            <a:xfrm>
              <a:off x="6117980" y="8727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52"/>
            <p:cNvSpPr/>
            <p:nvPr/>
          </p:nvSpPr>
          <p:spPr>
            <a:xfrm>
              <a:off x="6117980" y="75756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53"/>
            <p:cNvSpPr/>
            <p:nvPr/>
          </p:nvSpPr>
          <p:spPr>
            <a:xfrm>
              <a:off x="6117980" y="6424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54"/>
            <p:cNvSpPr/>
            <p:nvPr/>
          </p:nvSpPr>
          <p:spPr>
            <a:xfrm>
              <a:off x="6117980" y="52725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55"/>
            <p:cNvSpPr/>
            <p:nvPr/>
          </p:nvSpPr>
          <p:spPr>
            <a:xfrm>
              <a:off x="6117980" y="4121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56"/>
            <p:cNvSpPr/>
            <p:nvPr/>
          </p:nvSpPr>
          <p:spPr>
            <a:xfrm>
              <a:off x="6117980" y="29694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57"/>
            <p:cNvSpPr/>
            <p:nvPr/>
          </p:nvSpPr>
          <p:spPr>
            <a:xfrm>
              <a:off x="6178118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58"/>
            <p:cNvSpPr/>
            <p:nvPr/>
          </p:nvSpPr>
          <p:spPr>
            <a:xfrm>
              <a:off x="6467906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59"/>
            <p:cNvSpPr/>
            <p:nvPr/>
          </p:nvSpPr>
          <p:spPr>
            <a:xfrm>
              <a:off x="6757694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60"/>
            <p:cNvSpPr/>
            <p:nvPr/>
          </p:nvSpPr>
          <p:spPr>
            <a:xfrm>
              <a:off x="7047482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61"/>
            <p:cNvSpPr/>
            <p:nvPr/>
          </p:nvSpPr>
          <p:spPr>
            <a:xfrm>
              <a:off x="7337270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62"/>
            <p:cNvSpPr/>
            <p:nvPr/>
          </p:nvSpPr>
          <p:spPr>
            <a:xfrm>
              <a:off x="7325190" y="6140090"/>
              <a:ext cx="59480" cy="59480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63"/>
            <p:cNvSpPr/>
            <p:nvPr/>
          </p:nvSpPr>
          <p:spPr>
            <a:xfrm>
              <a:off x="7285456" y="6021385"/>
              <a:ext cx="66579" cy="66579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64"/>
            <p:cNvSpPr/>
            <p:nvPr/>
          </p:nvSpPr>
          <p:spPr>
            <a:xfrm>
              <a:off x="7242761" y="5906231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65"/>
            <p:cNvSpPr/>
            <p:nvPr/>
          </p:nvSpPr>
          <p:spPr>
            <a:xfrm>
              <a:off x="7242761" y="5791076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66"/>
            <p:cNvSpPr/>
            <p:nvPr/>
          </p:nvSpPr>
          <p:spPr>
            <a:xfrm>
              <a:off x="7230282" y="5679472"/>
              <a:ext cx="59480" cy="5948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67"/>
            <p:cNvSpPr/>
            <p:nvPr/>
          </p:nvSpPr>
          <p:spPr>
            <a:xfrm>
              <a:off x="7216558" y="5551895"/>
              <a:ext cx="84324" cy="84324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68"/>
            <p:cNvSpPr/>
            <p:nvPr/>
          </p:nvSpPr>
          <p:spPr>
            <a:xfrm>
              <a:off x="7215228" y="5436740"/>
              <a:ext cx="84324" cy="84324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69"/>
            <p:cNvSpPr/>
            <p:nvPr/>
          </p:nvSpPr>
          <p:spPr>
            <a:xfrm>
              <a:off x="7201940" y="5308297"/>
              <a:ext cx="110901" cy="110901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70"/>
            <p:cNvSpPr/>
            <p:nvPr/>
          </p:nvSpPr>
          <p:spPr>
            <a:xfrm>
              <a:off x="7230357" y="5227423"/>
              <a:ext cx="42339" cy="42339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71"/>
            <p:cNvSpPr/>
            <p:nvPr/>
          </p:nvSpPr>
          <p:spPr>
            <a:xfrm>
              <a:off x="7210395" y="5097425"/>
              <a:ext cx="72027" cy="72027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72"/>
            <p:cNvSpPr/>
            <p:nvPr/>
          </p:nvSpPr>
          <p:spPr>
            <a:xfrm>
              <a:off x="7210395" y="4982270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73"/>
            <p:cNvSpPr/>
            <p:nvPr/>
          </p:nvSpPr>
          <p:spPr>
            <a:xfrm>
              <a:off x="7212820" y="4873390"/>
              <a:ext cx="59480" cy="5948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74"/>
            <p:cNvSpPr/>
            <p:nvPr/>
          </p:nvSpPr>
          <p:spPr>
            <a:xfrm>
              <a:off x="7212820" y="4758235"/>
              <a:ext cx="59480" cy="59480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75"/>
            <p:cNvSpPr/>
            <p:nvPr/>
          </p:nvSpPr>
          <p:spPr>
            <a:xfrm>
              <a:off x="7196581" y="4627411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76"/>
            <p:cNvSpPr/>
            <p:nvPr/>
          </p:nvSpPr>
          <p:spPr>
            <a:xfrm>
              <a:off x="7170596" y="4494511"/>
              <a:ext cx="126309" cy="12630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77"/>
            <p:cNvSpPr/>
            <p:nvPr/>
          </p:nvSpPr>
          <p:spPr>
            <a:xfrm>
              <a:off x="7176573" y="4404201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78"/>
            <p:cNvSpPr/>
            <p:nvPr/>
          </p:nvSpPr>
          <p:spPr>
            <a:xfrm>
              <a:off x="7158028" y="4276499"/>
              <a:ext cx="101715" cy="101715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79"/>
            <p:cNvSpPr/>
            <p:nvPr/>
          </p:nvSpPr>
          <p:spPr>
            <a:xfrm>
              <a:off x="7169898" y="4176188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80"/>
            <p:cNvSpPr/>
            <p:nvPr/>
          </p:nvSpPr>
          <p:spPr>
            <a:xfrm>
              <a:off x="7157641" y="4048777"/>
              <a:ext cx="96542" cy="96542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81"/>
            <p:cNvSpPr/>
            <p:nvPr/>
          </p:nvSpPr>
          <p:spPr>
            <a:xfrm>
              <a:off x="7166061" y="3943583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82"/>
            <p:cNvSpPr/>
            <p:nvPr/>
          </p:nvSpPr>
          <p:spPr>
            <a:xfrm>
              <a:off x="7167881" y="3833449"/>
              <a:ext cx="66579" cy="66579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83"/>
            <p:cNvSpPr/>
            <p:nvPr/>
          </p:nvSpPr>
          <p:spPr>
            <a:xfrm>
              <a:off x="7158609" y="3711251"/>
              <a:ext cx="80666" cy="80666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84"/>
            <p:cNvSpPr/>
            <p:nvPr/>
          </p:nvSpPr>
          <p:spPr>
            <a:xfrm>
              <a:off x="7125526" y="3582067"/>
              <a:ext cx="108723" cy="108723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85"/>
            <p:cNvSpPr/>
            <p:nvPr/>
          </p:nvSpPr>
          <p:spPr>
            <a:xfrm>
              <a:off x="7123160" y="3485261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86"/>
            <p:cNvSpPr/>
            <p:nvPr/>
          </p:nvSpPr>
          <p:spPr>
            <a:xfrm>
              <a:off x="7110448" y="3367810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87"/>
            <p:cNvSpPr/>
            <p:nvPr/>
          </p:nvSpPr>
          <p:spPr>
            <a:xfrm>
              <a:off x="7108425" y="3250632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88"/>
            <p:cNvSpPr/>
            <p:nvPr/>
          </p:nvSpPr>
          <p:spPr>
            <a:xfrm>
              <a:off x="7111575" y="3142521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89"/>
            <p:cNvSpPr/>
            <p:nvPr/>
          </p:nvSpPr>
          <p:spPr>
            <a:xfrm>
              <a:off x="7081240" y="2998386"/>
              <a:ext cx="124541" cy="124541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90"/>
            <p:cNvSpPr/>
            <p:nvPr/>
          </p:nvSpPr>
          <p:spPr>
            <a:xfrm>
              <a:off x="7059409" y="2875100"/>
              <a:ext cx="140803" cy="140803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91"/>
            <p:cNvSpPr/>
            <p:nvPr/>
          </p:nvSpPr>
          <p:spPr>
            <a:xfrm>
              <a:off x="7072769" y="2786503"/>
              <a:ext cx="87688" cy="87688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92"/>
            <p:cNvSpPr/>
            <p:nvPr/>
          </p:nvSpPr>
          <p:spPr>
            <a:xfrm>
              <a:off x="7021353" y="2648674"/>
              <a:ext cx="133037" cy="13303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93"/>
            <p:cNvSpPr/>
            <p:nvPr/>
          </p:nvSpPr>
          <p:spPr>
            <a:xfrm>
              <a:off x="7016585" y="2547968"/>
              <a:ext cx="104140" cy="10414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94"/>
            <p:cNvSpPr/>
            <p:nvPr/>
          </p:nvSpPr>
          <p:spPr>
            <a:xfrm>
              <a:off x="7027978" y="2448870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95"/>
            <p:cNvSpPr/>
            <p:nvPr/>
          </p:nvSpPr>
          <p:spPr>
            <a:xfrm>
              <a:off x="7025681" y="2331419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96"/>
            <p:cNvSpPr/>
            <p:nvPr/>
          </p:nvSpPr>
          <p:spPr>
            <a:xfrm>
              <a:off x="7021829" y="2212412"/>
              <a:ext cx="84324" cy="84324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97"/>
            <p:cNvSpPr/>
            <p:nvPr/>
          </p:nvSpPr>
          <p:spPr>
            <a:xfrm>
              <a:off x="7018582" y="2094010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98"/>
            <p:cNvSpPr/>
            <p:nvPr/>
          </p:nvSpPr>
          <p:spPr>
            <a:xfrm>
              <a:off x="7002622" y="1973408"/>
              <a:ext cx="101715" cy="101715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99"/>
            <p:cNvSpPr/>
            <p:nvPr/>
          </p:nvSpPr>
          <p:spPr>
            <a:xfrm>
              <a:off x="7009635" y="1865267"/>
              <a:ext cx="87688" cy="87688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100"/>
            <p:cNvSpPr/>
            <p:nvPr/>
          </p:nvSpPr>
          <p:spPr>
            <a:xfrm>
              <a:off x="6995949" y="1736426"/>
              <a:ext cx="115059" cy="115059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101"/>
            <p:cNvSpPr/>
            <p:nvPr/>
          </p:nvSpPr>
          <p:spPr>
            <a:xfrm>
              <a:off x="6980364" y="1642788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102"/>
            <p:cNvSpPr/>
            <p:nvPr/>
          </p:nvSpPr>
          <p:spPr>
            <a:xfrm>
              <a:off x="6918786" y="1491056"/>
              <a:ext cx="145181" cy="145181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103"/>
            <p:cNvSpPr/>
            <p:nvPr/>
          </p:nvSpPr>
          <p:spPr>
            <a:xfrm>
              <a:off x="6943110" y="1410182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104"/>
            <p:cNvSpPr/>
            <p:nvPr/>
          </p:nvSpPr>
          <p:spPr>
            <a:xfrm>
              <a:off x="6885087" y="1260747"/>
              <a:ext cx="145181" cy="145181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105"/>
            <p:cNvSpPr/>
            <p:nvPr/>
          </p:nvSpPr>
          <p:spPr>
            <a:xfrm>
              <a:off x="6905872" y="1177850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106"/>
            <p:cNvSpPr/>
            <p:nvPr/>
          </p:nvSpPr>
          <p:spPr>
            <a:xfrm>
              <a:off x="6899133" y="1059185"/>
              <a:ext cx="87688" cy="87688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107"/>
            <p:cNvSpPr/>
            <p:nvPr/>
          </p:nvSpPr>
          <p:spPr>
            <a:xfrm>
              <a:off x="6883428" y="947541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108"/>
            <p:cNvSpPr/>
            <p:nvPr/>
          </p:nvSpPr>
          <p:spPr>
            <a:xfrm>
              <a:off x="6840731" y="827310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109"/>
            <p:cNvSpPr/>
            <p:nvPr/>
          </p:nvSpPr>
          <p:spPr>
            <a:xfrm>
              <a:off x="6806619" y="719255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110"/>
            <p:cNvSpPr/>
            <p:nvPr/>
          </p:nvSpPr>
          <p:spPr>
            <a:xfrm>
              <a:off x="6773590" y="589174"/>
              <a:ext cx="106472" cy="106472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111"/>
            <p:cNvSpPr/>
            <p:nvPr/>
          </p:nvSpPr>
          <p:spPr>
            <a:xfrm>
              <a:off x="6544368" y="480376"/>
              <a:ext cx="93760" cy="9376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112"/>
            <p:cNvSpPr/>
            <p:nvPr/>
          </p:nvSpPr>
          <p:spPr>
            <a:xfrm>
              <a:off x="6409044" y="336729"/>
              <a:ext cx="150744" cy="150744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113"/>
            <p:cNvSpPr/>
            <p:nvPr/>
          </p:nvSpPr>
          <p:spPr>
            <a:xfrm>
              <a:off x="6380125" y="251537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tx114"/>
            <p:cNvSpPr/>
            <p:nvPr/>
          </p:nvSpPr>
          <p:spPr>
            <a:xfrm>
              <a:off x="4522974" y="6137140"/>
              <a:ext cx="152668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morphogenesis of follicular epithelium</a:t>
              </a:r>
            </a:p>
          </p:txBody>
        </p:sp>
        <p:sp>
          <p:nvSpPr>
            <p:cNvPr id="330" name="tx115"/>
            <p:cNvSpPr/>
            <p:nvPr/>
          </p:nvSpPr>
          <p:spPr>
            <a:xfrm>
              <a:off x="4948901" y="6021985"/>
              <a:ext cx="11007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female gonad development</a:t>
              </a:r>
            </a:p>
          </p:txBody>
        </p:sp>
        <p:sp>
          <p:nvSpPr>
            <p:cNvPr id="331" name="tx116"/>
            <p:cNvSpPr/>
            <p:nvPr/>
          </p:nvSpPr>
          <p:spPr>
            <a:xfrm>
              <a:off x="4178337" y="5906831"/>
              <a:ext cx="187131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aspartate family amino acid metabolic process</a:t>
              </a:r>
            </a:p>
          </p:txBody>
        </p:sp>
        <p:sp>
          <p:nvSpPr>
            <p:cNvPr id="332" name="tx117"/>
            <p:cNvSpPr/>
            <p:nvPr/>
          </p:nvSpPr>
          <p:spPr>
            <a:xfrm>
              <a:off x="4091834" y="5791676"/>
              <a:ext cx="195782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non-proteinogenic amino acid metabolic process</a:t>
              </a:r>
            </a:p>
          </p:txBody>
        </p:sp>
        <p:sp>
          <p:nvSpPr>
            <p:cNvPr id="333" name="tx118"/>
            <p:cNvSpPr/>
            <p:nvPr/>
          </p:nvSpPr>
          <p:spPr>
            <a:xfrm>
              <a:off x="4533398" y="5676522"/>
              <a:ext cx="15162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intra-Golgi vesicle-mediated transport</a:t>
              </a:r>
            </a:p>
          </p:txBody>
        </p:sp>
        <p:sp>
          <p:nvSpPr>
            <p:cNvPr id="334" name="tx119"/>
            <p:cNvSpPr/>
            <p:nvPr/>
          </p:nvSpPr>
          <p:spPr>
            <a:xfrm>
              <a:off x="4507612" y="5561367"/>
              <a:ext cx="15420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ribonucleoprotein complex localization</a:t>
              </a:r>
            </a:p>
          </p:txBody>
        </p:sp>
        <p:sp>
          <p:nvSpPr>
            <p:cNvPr id="335" name="tx120"/>
            <p:cNvSpPr/>
            <p:nvPr/>
          </p:nvSpPr>
          <p:spPr>
            <a:xfrm>
              <a:off x="4979534" y="5446213"/>
              <a:ext cx="107012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import into nucleus</a:t>
              </a:r>
            </a:p>
          </p:txBody>
        </p:sp>
        <p:sp>
          <p:nvSpPr>
            <p:cNvPr id="336" name="tx121"/>
            <p:cNvSpPr/>
            <p:nvPr/>
          </p:nvSpPr>
          <p:spPr>
            <a:xfrm>
              <a:off x="4918726" y="5331058"/>
              <a:ext cx="113092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response to oxidative stress</a:t>
              </a:r>
            </a:p>
          </p:txBody>
        </p:sp>
        <p:sp>
          <p:nvSpPr>
            <p:cNvPr id="337" name="tx122"/>
            <p:cNvSpPr/>
            <p:nvPr/>
          </p:nvSpPr>
          <p:spPr>
            <a:xfrm>
              <a:off x="4721124" y="5215903"/>
              <a:ext cx="132853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transmembrane transport</a:t>
              </a:r>
            </a:p>
          </p:txBody>
        </p:sp>
        <p:sp>
          <p:nvSpPr>
            <p:cNvPr id="338" name="tx123"/>
            <p:cNvSpPr/>
            <p:nvPr/>
          </p:nvSpPr>
          <p:spPr>
            <a:xfrm>
              <a:off x="5430790" y="5100749"/>
              <a:ext cx="61886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ERAD pathway</a:t>
              </a:r>
            </a:p>
          </p:txBody>
        </p:sp>
        <p:sp>
          <p:nvSpPr>
            <p:cNvPr id="339" name="tx124"/>
            <p:cNvSpPr/>
            <p:nvPr/>
          </p:nvSpPr>
          <p:spPr>
            <a:xfrm>
              <a:off x="4908394" y="4985594"/>
              <a:ext cx="114126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xenobiotic catabolic process</a:t>
              </a:r>
            </a:p>
          </p:txBody>
        </p:sp>
        <p:sp>
          <p:nvSpPr>
            <p:cNvPr id="340" name="tx125"/>
            <p:cNvSpPr/>
            <p:nvPr/>
          </p:nvSpPr>
          <p:spPr>
            <a:xfrm>
              <a:off x="4847677" y="4870440"/>
              <a:ext cx="120197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pyruvate biosynthetic process</a:t>
              </a:r>
            </a:p>
          </p:txBody>
        </p:sp>
        <p:sp>
          <p:nvSpPr>
            <p:cNvPr id="341" name="tx126"/>
            <p:cNvSpPr/>
            <p:nvPr/>
          </p:nvSpPr>
          <p:spPr>
            <a:xfrm>
              <a:off x="4279744" y="4705908"/>
              <a:ext cx="17699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cellular response to epidermal growth factor</a:t>
              </a:r>
            </a:p>
          </p:txBody>
        </p:sp>
        <p:sp>
          <p:nvSpPr>
            <p:cNvPr id="342" name="tx127"/>
            <p:cNvSpPr/>
            <p:nvPr/>
          </p:nvSpPr>
          <p:spPr>
            <a:xfrm>
              <a:off x="5714986" y="4804663"/>
              <a:ext cx="3346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stimulus</a:t>
              </a:r>
            </a:p>
          </p:txBody>
        </p:sp>
        <p:sp>
          <p:nvSpPr>
            <p:cNvPr id="343" name="tx128"/>
            <p:cNvSpPr/>
            <p:nvPr/>
          </p:nvSpPr>
          <p:spPr>
            <a:xfrm>
              <a:off x="5288784" y="4640131"/>
              <a:ext cx="76087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response to insulin</a:t>
              </a:r>
            </a:p>
          </p:txBody>
        </p:sp>
        <p:sp>
          <p:nvSpPr>
            <p:cNvPr id="344" name="tx129"/>
            <p:cNvSpPr/>
            <p:nvPr/>
          </p:nvSpPr>
          <p:spPr>
            <a:xfrm>
              <a:off x="4720850" y="4524976"/>
              <a:ext cx="132880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carboxylic acid catabolic process</a:t>
              </a:r>
            </a:p>
          </p:txBody>
        </p:sp>
        <p:sp>
          <p:nvSpPr>
            <p:cNvPr id="345" name="tx130"/>
            <p:cNvSpPr/>
            <p:nvPr/>
          </p:nvSpPr>
          <p:spPr>
            <a:xfrm>
              <a:off x="4502674" y="4409822"/>
              <a:ext cx="154698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alpha-amino acid biosynthetic process</a:t>
              </a:r>
            </a:p>
          </p:txBody>
        </p:sp>
        <p:sp>
          <p:nvSpPr>
            <p:cNvPr id="346" name="tx131"/>
            <p:cNvSpPr/>
            <p:nvPr/>
          </p:nvSpPr>
          <p:spPr>
            <a:xfrm>
              <a:off x="5233006" y="4294667"/>
              <a:ext cx="81665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response to hypoxia</a:t>
              </a:r>
            </a:p>
          </p:txBody>
        </p:sp>
        <p:sp>
          <p:nvSpPr>
            <p:cNvPr id="347" name="tx132"/>
            <p:cNvSpPr/>
            <p:nvPr/>
          </p:nvSpPr>
          <p:spPr>
            <a:xfrm>
              <a:off x="4832498" y="4179512"/>
              <a:ext cx="12171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biosynthetic process</a:t>
              </a:r>
            </a:p>
          </p:txBody>
        </p:sp>
        <p:sp>
          <p:nvSpPr>
            <p:cNvPr id="348" name="tx133"/>
            <p:cNvSpPr/>
            <p:nvPr/>
          </p:nvSpPr>
          <p:spPr>
            <a:xfrm>
              <a:off x="4482283" y="4064358"/>
              <a:ext cx="156737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protein-containing complex localization</a:t>
              </a:r>
            </a:p>
          </p:txBody>
        </p:sp>
        <p:sp>
          <p:nvSpPr>
            <p:cNvPr id="349" name="tx134"/>
            <p:cNvSpPr/>
            <p:nvPr/>
          </p:nvSpPr>
          <p:spPr>
            <a:xfrm>
              <a:off x="4446896" y="3949203"/>
              <a:ext cx="160276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regulation of glucose metabolic process</a:t>
              </a:r>
            </a:p>
          </p:txBody>
        </p:sp>
        <p:sp>
          <p:nvSpPr>
            <p:cNvPr id="350" name="tx135"/>
            <p:cNvSpPr/>
            <p:nvPr/>
          </p:nvSpPr>
          <p:spPr>
            <a:xfrm>
              <a:off x="5263455" y="3834049"/>
              <a:ext cx="78620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body fluid secretion</a:t>
              </a:r>
            </a:p>
          </p:txBody>
        </p:sp>
        <p:sp>
          <p:nvSpPr>
            <p:cNvPr id="351" name="tx136"/>
            <p:cNvSpPr/>
            <p:nvPr/>
          </p:nvSpPr>
          <p:spPr>
            <a:xfrm>
              <a:off x="4959417" y="3718894"/>
              <a:ext cx="109023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mRNA export from nucleus</a:t>
              </a:r>
            </a:p>
          </p:txBody>
        </p:sp>
        <p:sp>
          <p:nvSpPr>
            <p:cNvPr id="352" name="tx137"/>
            <p:cNvSpPr/>
            <p:nvPr/>
          </p:nvSpPr>
          <p:spPr>
            <a:xfrm>
              <a:off x="4350427" y="3603740"/>
              <a:ext cx="169922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purine ribonucleotide biosynthetic process</a:t>
              </a:r>
            </a:p>
          </p:txBody>
        </p:sp>
        <p:sp>
          <p:nvSpPr>
            <p:cNvPr id="353" name="tx138"/>
            <p:cNvSpPr/>
            <p:nvPr/>
          </p:nvSpPr>
          <p:spPr>
            <a:xfrm>
              <a:off x="4243899" y="3488585"/>
              <a:ext cx="18057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nicotinamide nucleotide biosynthetic process</a:t>
              </a:r>
            </a:p>
          </p:txBody>
        </p:sp>
        <p:sp>
          <p:nvSpPr>
            <p:cNvPr id="354" name="tx139"/>
            <p:cNvSpPr/>
            <p:nvPr/>
          </p:nvSpPr>
          <p:spPr>
            <a:xfrm>
              <a:off x="5364679" y="3373430"/>
              <a:ext cx="68497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gluconeogenesis</a:t>
              </a:r>
            </a:p>
          </p:txBody>
        </p:sp>
        <p:sp>
          <p:nvSpPr>
            <p:cNvPr id="355" name="tx140"/>
            <p:cNvSpPr/>
            <p:nvPr/>
          </p:nvSpPr>
          <p:spPr>
            <a:xfrm>
              <a:off x="4928785" y="3258276"/>
              <a:ext cx="112087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antibiotic metabolic process</a:t>
              </a:r>
            </a:p>
          </p:txBody>
        </p:sp>
        <p:sp>
          <p:nvSpPr>
            <p:cNvPr id="356" name="tx141"/>
            <p:cNvSpPr/>
            <p:nvPr/>
          </p:nvSpPr>
          <p:spPr>
            <a:xfrm>
              <a:off x="4310193" y="3143121"/>
              <a:ext cx="173946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serine family amino acid metabolic process</a:t>
              </a:r>
            </a:p>
          </p:txBody>
        </p:sp>
        <p:sp>
          <p:nvSpPr>
            <p:cNvPr id="357" name="tx142"/>
            <p:cNvSpPr/>
            <p:nvPr/>
          </p:nvSpPr>
          <p:spPr>
            <a:xfrm>
              <a:off x="4599143" y="3027967"/>
              <a:ext cx="14505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carboxylic acid biosynthetic process</a:t>
              </a:r>
            </a:p>
          </p:txBody>
        </p:sp>
        <p:sp>
          <p:nvSpPr>
            <p:cNvPr id="358" name="tx143"/>
            <p:cNvSpPr/>
            <p:nvPr/>
          </p:nvSpPr>
          <p:spPr>
            <a:xfrm>
              <a:off x="4462258" y="2912812"/>
              <a:ext cx="15873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monocarboxylic acid metabolic process</a:t>
              </a:r>
            </a:p>
          </p:txBody>
        </p:sp>
        <p:sp>
          <p:nvSpPr>
            <p:cNvPr id="359" name="tx144"/>
            <p:cNvSpPr/>
            <p:nvPr/>
          </p:nvSpPr>
          <p:spPr>
            <a:xfrm>
              <a:off x="4315039" y="2748280"/>
              <a:ext cx="173461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regulation of alternative mRNA splicing, via</a:t>
              </a:r>
            </a:p>
          </p:txBody>
        </p:sp>
        <p:sp>
          <p:nvSpPr>
            <p:cNvPr id="360" name="tx145"/>
            <p:cNvSpPr/>
            <p:nvPr/>
          </p:nvSpPr>
          <p:spPr>
            <a:xfrm>
              <a:off x="5542439" y="2847035"/>
              <a:ext cx="50721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spliceosome</a:t>
              </a:r>
            </a:p>
          </p:txBody>
        </p:sp>
        <p:sp>
          <p:nvSpPr>
            <p:cNvPr id="361" name="tx146"/>
            <p:cNvSpPr/>
            <p:nvPr/>
          </p:nvSpPr>
          <p:spPr>
            <a:xfrm>
              <a:off x="4132525" y="2682503"/>
              <a:ext cx="191713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generation of precursor metabolites and energy</a:t>
              </a:r>
            </a:p>
          </p:txBody>
        </p:sp>
        <p:sp>
          <p:nvSpPr>
            <p:cNvPr id="362" name="tx147"/>
            <p:cNvSpPr/>
            <p:nvPr/>
          </p:nvSpPr>
          <p:spPr>
            <a:xfrm>
              <a:off x="4796928" y="2567348"/>
              <a:ext cx="12527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glycoprotein metabolic process</a:t>
              </a:r>
            </a:p>
          </p:txBody>
        </p:sp>
        <p:sp>
          <p:nvSpPr>
            <p:cNvPr id="363" name="tx148"/>
            <p:cNvSpPr/>
            <p:nvPr/>
          </p:nvSpPr>
          <p:spPr>
            <a:xfrm>
              <a:off x="5096211" y="2452194"/>
              <a:ext cx="9534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NAD metabolic process</a:t>
              </a:r>
            </a:p>
          </p:txBody>
        </p:sp>
        <p:sp>
          <p:nvSpPr>
            <p:cNvPr id="364" name="tx149"/>
            <p:cNvSpPr/>
            <p:nvPr/>
          </p:nvSpPr>
          <p:spPr>
            <a:xfrm>
              <a:off x="4304798" y="2337039"/>
              <a:ext cx="17448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proteinogenic amino acid catabolic process</a:t>
              </a:r>
            </a:p>
          </p:txBody>
        </p:sp>
        <p:sp>
          <p:nvSpPr>
            <p:cNvPr id="365" name="tx150"/>
            <p:cNvSpPr/>
            <p:nvPr/>
          </p:nvSpPr>
          <p:spPr>
            <a:xfrm>
              <a:off x="5030100" y="2221885"/>
              <a:ext cx="10195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regulation of lipid storage</a:t>
              </a:r>
            </a:p>
          </p:txBody>
        </p:sp>
        <p:sp>
          <p:nvSpPr>
            <p:cNvPr id="366" name="tx151"/>
            <p:cNvSpPr/>
            <p:nvPr/>
          </p:nvSpPr>
          <p:spPr>
            <a:xfrm>
              <a:off x="4000394" y="2057353"/>
              <a:ext cx="204926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nucleobase-containing small molecule biosynthetic</a:t>
              </a:r>
            </a:p>
          </p:txBody>
        </p:sp>
        <p:sp>
          <p:nvSpPr>
            <p:cNvPr id="367" name="tx152"/>
            <p:cNvSpPr/>
            <p:nvPr/>
          </p:nvSpPr>
          <p:spPr>
            <a:xfrm>
              <a:off x="5730165" y="2156108"/>
              <a:ext cx="3194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process</a:t>
              </a:r>
            </a:p>
          </p:txBody>
        </p:sp>
        <p:sp>
          <p:nvSpPr>
            <p:cNvPr id="368" name="tx153"/>
            <p:cNvSpPr/>
            <p:nvPr/>
          </p:nvSpPr>
          <p:spPr>
            <a:xfrm>
              <a:off x="4492616" y="1991576"/>
              <a:ext cx="15570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monocarboxylic acid catabolic process</a:t>
              </a:r>
            </a:p>
          </p:txBody>
        </p:sp>
        <p:sp>
          <p:nvSpPr>
            <p:cNvPr id="369" name="tx154"/>
            <p:cNvSpPr/>
            <p:nvPr/>
          </p:nvSpPr>
          <p:spPr>
            <a:xfrm>
              <a:off x="4477437" y="1876421"/>
              <a:ext cx="157221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modified amino acid metabolic process</a:t>
              </a:r>
            </a:p>
          </p:txBody>
        </p:sp>
        <p:sp>
          <p:nvSpPr>
            <p:cNvPr id="370" name="tx155"/>
            <p:cNvSpPr/>
            <p:nvPr/>
          </p:nvSpPr>
          <p:spPr>
            <a:xfrm>
              <a:off x="4832315" y="1761267"/>
              <a:ext cx="12173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determination of adult lifespan</a:t>
              </a:r>
            </a:p>
          </p:txBody>
        </p:sp>
        <p:sp>
          <p:nvSpPr>
            <p:cNvPr id="371" name="tx156"/>
            <p:cNvSpPr/>
            <p:nvPr/>
          </p:nvSpPr>
          <p:spPr>
            <a:xfrm>
              <a:off x="4822166" y="1646112"/>
              <a:ext cx="122749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nucleobase metabolic process</a:t>
              </a:r>
            </a:p>
          </p:txBody>
        </p:sp>
        <p:sp>
          <p:nvSpPr>
            <p:cNvPr id="372" name="tx157"/>
            <p:cNvSpPr/>
            <p:nvPr/>
          </p:nvSpPr>
          <p:spPr>
            <a:xfrm>
              <a:off x="4487312" y="1530957"/>
              <a:ext cx="15623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organophosphate biosynthetic process</a:t>
              </a:r>
            </a:p>
          </p:txBody>
        </p:sp>
        <p:sp>
          <p:nvSpPr>
            <p:cNvPr id="373" name="tx158"/>
            <p:cNvSpPr/>
            <p:nvPr/>
          </p:nvSpPr>
          <p:spPr>
            <a:xfrm>
              <a:off x="4918543" y="1415803"/>
              <a:ext cx="11311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aldehyde metabolic process</a:t>
              </a:r>
            </a:p>
          </p:txBody>
        </p:sp>
        <p:sp>
          <p:nvSpPr>
            <p:cNvPr id="374" name="tx159"/>
            <p:cNvSpPr/>
            <p:nvPr/>
          </p:nvSpPr>
          <p:spPr>
            <a:xfrm>
              <a:off x="4249203" y="1300648"/>
              <a:ext cx="180045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carbohydrate derivative biosynthetic process</a:t>
              </a:r>
            </a:p>
          </p:txBody>
        </p:sp>
        <p:sp>
          <p:nvSpPr>
            <p:cNvPr id="375" name="tx160"/>
            <p:cNvSpPr/>
            <p:nvPr/>
          </p:nvSpPr>
          <p:spPr>
            <a:xfrm>
              <a:off x="4796928" y="1185494"/>
              <a:ext cx="12527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L-amino acid catabolic process</a:t>
              </a:r>
            </a:p>
          </p:txBody>
        </p:sp>
        <p:sp>
          <p:nvSpPr>
            <p:cNvPr id="376" name="tx161"/>
            <p:cNvSpPr/>
            <p:nvPr/>
          </p:nvSpPr>
          <p:spPr>
            <a:xfrm>
              <a:off x="4619443" y="1070339"/>
              <a:ext cx="143021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dicarboxylic acid metabolic process</a:t>
              </a:r>
            </a:p>
          </p:txBody>
        </p:sp>
        <p:sp>
          <p:nvSpPr>
            <p:cNvPr id="377" name="tx162"/>
            <p:cNvSpPr/>
            <p:nvPr/>
          </p:nvSpPr>
          <p:spPr>
            <a:xfrm>
              <a:off x="4431900" y="955185"/>
              <a:ext cx="16177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water-soluble vitamin metabolic process</a:t>
              </a:r>
            </a:p>
          </p:txBody>
        </p:sp>
        <p:sp>
          <p:nvSpPr>
            <p:cNvPr id="378" name="tx163"/>
            <p:cNvSpPr/>
            <p:nvPr/>
          </p:nvSpPr>
          <p:spPr>
            <a:xfrm>
              <a:off x="3995182" y="790652"/>
              <a:ext cx="205447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purine ribonucleoside monophosphate biosynthetic</a:t>
              </a:r>
            </a:p>
          </p:txBody>
        </p:sp>
        <p:sp>
          <p:nvSpPr>
            <p:cNvPr id="379" name="tx164"/>
            <p:cNvSpPr/>
            <p:nvPr/>
          </p:nvSpPr>
          <p:spPr>
            <a:xfrm>
              <a:off x="5730165" y="889408"/>
              <a:ext cx="3194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process</a:t>
              </a:r>
            </a:p>
          </p:txBody>
        </p:sp>
        <p:sp>
          <p:nvSpPr>
            <p:cNvPr id="380" name="tx165"/>
            <p:cNvSpPr/>
            <p:nvPr/>
          </p:nvSpPr>
          <p:spPr>
            <a:xfrm>
              <a:off x="4649801" y="724875"/>
              <a:ext cx="13998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monosaccharide catabolic process</a:t>
              </a:r>
            </a:p>
          </p:txBody>
        </p:sp>
        <p:sp>
          <p:nvSpPr>
            <p:cNvPr id="381" name="tx166"/>
            <p:cNvSpPr/>
            <p:nvPr/>
          </p:nvSpPr>
          <p:spPr>
            <a:xfrm>
              <a:off x="4903364" y="609721"/>
              <a:ext cx="11462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homooligomerization</a:t>
              </a:r>
            </a:p>
          </p:txBody>
        </p:sp>
        <p:sp>
          <p:nvSpPr>
            <p:cNvPr id="382" name="tx167"/>
            <p:cNvSpPr/>
            <p:nvPr/>
          </p:nvSpPr>
          <p:spPr>
            <a:xfrm>
              <a:off x="5141931" y="494566"/>
              <a:ext cx="90772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tetramerization</a:t>
              </a:r>
            </a:p>
          </p:txBody>
        </p:sp>
        <p:sp>
          <p:nvSpPr>
            <p:cNvPr id="383" name="tx168"/>
            <p:cNvSpPr/>
            <p:nvPr/>
          </p:nvSpPr>
          <p:spPr>
            <a:xfrm>
              <a:off x="4878035" y="379412"/>
              <a:ext cx="117162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xenobiotic metabolic process</a:t>
              </a:r>
            </a:p>
          </p:txBody>
        </p:sp>
        <p:sp>
          <p:nvSpPr>
            <p:cNvPr id="384" name="tx169"/>
            <p:cNvSpPr/>
            <p:nvPr/>
          </p:nvSpPr>
          <p:spPr>
            <a:xfrm>
              <a:off x="5085970" y="264257"/>
              <a:ext cx="96368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beta-oxidation</a:t>
              </a:r>
            </a:p>
          </p:txBody>
        </p:sp>
        <p:sp>
          <p:nvSpPr>
            <p:cNvPr id="385" name="tx170"/>
            <p:cNvSpPr/>
            <p:nvPr/>
          </p:nvSpPr>
          <p:spPr>
            <a:xfrm>
              <a:off x="6057829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6" name="tx171"/>
            <p:cNvSpPr/>
            <p:nvPr/>
          </p:nvSpPr>
          <p:spPr>
            <a:xfrm>
              <a:off x="6170849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87" name="tx172"/>
            <p:cNvSpPr/>
            <p:nvPr/>
          </p:nvSpPr>
          <p:spPr>
            <a:xfrm>
              <a:off x="6219404" y="6307429"/>
              <a:ext cx="79004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8" name="tx173"/>
            <p:cNvSpPr/>
            <p:nvPr/>
          </p:nvSpPr>
          <p:spPr>
            <a:xfrm>
              <a:off x="6367368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9" name="tx174"/>
            <p:cNvSpPr/>
            <p:nvPr/>
          </p:nvSpPr>
          <p:spPr>
            <a:xfrm>
              <a:off x="6480388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0" name="tx175"/>
            <p:cNvSpPr/>
            <p:nvPr/>
          </p:nvSpPr>
          <p:spPr>
            <a:xfrm>
              <a:off x="6528942" y="630742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91" name="tx176"/>
            <p:cNvSpPr/>
            <p:nvPr/>
          </p:nvSpPr>
          <p:spPr>
            <a:xfrm>
              <a:off x="6657156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92" name="tx177"/>
            <p:cNvSpPr/>
            <p:nvPr/>
          </p:nvSpPr>
          <p:spPr>
            <a:xfrm>
              <a:off x="6770176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3" name="tx178"/>
            <p:cNvSpPr/>
            <p:nvPr/>
          </p:nvSpPr>
          <p:spPr>
            <a:xfrm>
              <a:off x="6818730" y="630742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94" name="tx179"/>
            <p:cNvSpPr/>
            <p:nvPr/>
          </p:nvSpPr>
          <p:spPr>
            <a:xfrm>
              <a:off x="6946944" y="6335424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95" name="tx180"/>
            <p:cNvSpPr/>
            <p:nvPr/>
          </p:nvSpPr>
          <p:spPr>
            <a:xfrm>
              <a:off x="7059963" y="6308344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6" name="tx181"/>
            <p:cNvSpPr/>
            <p:nvPr/>
          </p:nvSpPr>
          <p:spPr>
            <a:xfrm>
              <a:off x="7108518" y="6307246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97" name="tx182"/>
            <p:cNvSpPr/>
            <p:nvPr/>
          </p:nvSpPr>
          <p:spPr>
            <a:xfrm>
              <a:off x="7236731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98" name="tx183"/>
            <p:cNvSpPr/>
            <p:nvPr/>
          </p:nvSpPr>
          <p:spPr>
            <a:xfrm>
              <a:off x="7349751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9" name="tx184"/>
            <p:cNvSpPr/>
            <p:nvPr/>
          </p:nvSpPr>
          <p:spPr>
            <a:xfrm>
              <a:off x="7398306" y="630742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00" name="tx185"/>
            <p:cNvSpPr/>
            <p:nvPr/>
          </p:nvSpPr>
          <p:spPr>
            <a:xfrm>
              <a:off x="6557212" y="6468936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401" name="tx186"/>
            <p:cNvSpPr/>
            <p:nvPr/>
          </p:nvSpPr>
          <p:spPr>
            <a:xfrm>
              <a:off x="6627895" y="6470948"/>
              <a:ext cx="34747" cy="88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 </a:t>
              </a:r>
            </a:p>
          </p:txBody>
        </p:sp>
        <p:sp>
          <p:nvSpPr>
            <p:cNvPr id="402" name="tx187"/>
            <p:cNvSpPr/>
            <p:nvPr/>
          </p:nvSpPr>
          <p:spPr>
            <a:xfrm>
              <a:off x="6662642" y="6468936"/>
              <a:ext cx="33915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value</a:t>
              </a:r>
            </a:p>
          </p:txBody>
        </p:sp>
        <p:sp>
          <p:nvSpPr>
            <p:cNvPr id="403" name="tx188"/>
            <p:cNvSpPr/>
            <p:nvPr/>
          </p:nvSpPr>
          <p:spPr>
            <a:xfrm>
              <a:off x="7668771" y="2034001"/>
              <a:ext cx="71762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Nr. of features</a:t>
              </a:r>
            </a:p>
          </p:txBody>
        </p:sp>
        <p:sp>
          <p:nvSpPr>
            <p:cNvPr id="404" name="pt189"/>
            <p:cNvSpPr/>
            <p:nvPr/>
          </p:nvSpPr>
          <p:spPr>
            <a:xfrm>
              <a:off x="7738166" y="2273128"/>
              <a:ext cx="80666" cy="80666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190"/>
            <p:cNvSpPr/>
            <p:nvPr/>
          </p:nvSpPr>
          <p:spPr>
            <a:xfrm>
              <a:off x="7724138" y="2478556"/>
              <a:ext cx="108723" cy="10872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191"/>
            <p:cNvSpPr/>
            <p:nvPr/>
          </p:nvSpPr>
          <p:spPr>
            <a:xfrm>
              <a:off x="7714479" y="2688353"/>
              <a:ext cx="128041" cy="12804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192"/>
            <p:cNvSpPr/>
            <p:nvPr/>
          </p:nvSpPr>
          <p:spPr>
            <a:xfrm>
              <a:off x="7706628" y="2899958"/>
              <a:ext cx="143743" cy="14374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tx193"/>
            <p:cNvSpPr/>
            <p:nvPr/>
          </p:nvSpPr>
          <p:spPr>
            <a:xfrm>
              <a:off x="7964143" y="227706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09" name="tx194"/>
            <p:cNvSpPr/>
            <p:nvPr/>
          </p:nvSpPr>
          <p:spPr>
            <a:xfrm>
              <a:off x="7964143" y="2496525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10" name="tx195"/>
            <p:cNvSpPr/>
            <p:nvPr/>
          </p:nvSpPr>
          <p:spPr>
            <a:xfrm>
              <a:off x="7964143" y="2715981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11" name="tx196"/>
            <p:cNvSpPr/>
            <p:nvPr/>
          </p:nvSpPr>
          <p:spPr>
            <a:xfrm>
              <a:off x="7964143" y="2935437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412" name="tx197"/>
            <p:cNvSpPr/>
            <p:nvPr/>
          </p:nvSpPr>
          <p:spPr>
            <a:xfrm>
              <a:off x="7668771" y="3397198"/>
              <a:ext cx="46369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Category</a:t>
              </a:r>
            </a:p>
          </p:txBody>
        </p:sp>
        <p:sp>
          <p:nvSpPr>
            <p:cNvPr id="413" name="pt198"/>
            <p:cNvSpPr/>
            <p:nvPr/>
          </p:nvSpPr>
          <p:spPr>
            <a:xfrm>
              <a:off x="7751417" y="3649576"/>
              <a:ext cx="54165" cy="54165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199"/>
            <p:cNvSpPr/>
            <p:nvPr/>
          </p:nvSpPr>
          <p:spPr>
            <a:xfrm>
              <a:off x="7751417" y="3869032"/>
              <a:ext cx="54165" cy="54165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200"/>
            <p:cNvSpPr/>
            <p:nvPr/>
          </p:nvSpPr>
          <p:spPr>
            <a:xfrm>
              <a:off x="7751417" y="4088488"/>
              <a:ext cx="54165" cy="54165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201"/>
            <p:cNvSpPr/>
            <p:nvPr/>
          </p:nvSpPr>
          <p:spPr>
            <a:xfrm>
              <a:off x="7751417" y="4307944"/>
              <a:ext cx="54165" cy="54165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tx202"/>
            <p:cNvSpPr/>
            <p:nvPr/>
          </p:nvSpPr>
          <p:spPr>
            <a:xfrm>
              <a:off x="7964143" y="3640265"/>
              <a:ext cx="9035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Nutrient metabolism</a:t>
              </a:r>
            </a:p>
          </p:txBody>
        </p:sp>
        <p:sp>
          <p:nvSpPr>
            <p:cNvPr id="418" name="tx203"/>
            <p:cNvSpPr/>
            <p:nvPr/>
          </p:nvSpPr>
          <p:spPr>
            <a:xfrm>
              <a:off x="7964143" y="3859721"/>
              <a:ext cx="51965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Hibernation</a:t>
              </a:r>
            </a:p>
          </p:txBody>
        </p:sp>
        <p:sp>
          <p:nvSpPr>
            <p:cNvPr id="419" name="tx204"/>
            <p:cNvSpPr/>
            <p:nvPr/>
          </p:nvSpPr>
          <p:spPr>
            <a:xfrm>
              <a:off x="7964143" y="4079177"/>
              <a:ext cx="6044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Reproduction</a:t>
              </a:r>
            </a:p>
          </p:txBody>
        </p:sp>
        <p:sp>
          <p:nvSpPr>
            <p:cNvPr id="420" name="tx205"/>
            <p:cNvSpPr/>
            <p:nvPr/>
          </p:nvSpPr>
          <p:spPr>
            <a:xfrm>
              <a:off x="7964143" y="4298633"/>
              <a:ext cx="25411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Other</a:t>
              </a:r>
            </a:p>
          </p:txBody>
        </p:sp>
      </p:grpSp>
      <p:sp>
        <p:nvSpPr>
          <p:cNvPr id="421" name=""/>
          <p:cNvSpPr>
            <a:spLocks noGrp="1"/>
          </p:cNvSpPr>
          <p:nvPr>
            <p:ph/>
          </p:nvPr>
        </p:nvSpPr>
        <p:spPr>
          <a:xfrm>
            <a:off x="201168" y="73152"/>
            <a:ext cx="502920" cy="43891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A</a:t>
            </a:r>
          </a:p>
        </p:txBody>
      </p:sp>
      <p:sp>
        <p:nvSpPr>
          <p:cNvPr id="422" name=""/>
          <p:cNvSpPr>
            <a:spLocks noGrp="1"/>
          </p:cNvSpPr>
          <p:nvPr>
            <p:ph/>
          </p:nvPr>
        </p:nvSpPr>
        <p:spPr>
          <a:xfrm>
            <a:off x="3950208" y="73152"/>
            <a:ext cx="502920" cy="43891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B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2026-09-11T19:52:03Z</dcterms:modified>
  <cp:category/>
</cp:coreProperties>
</file>