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24" y="0"/>
            <a:ext cx="15087153" cy="10698163"/>
            <a:chOff x="224" y="0"/>
            <a:chExt cx="15087153" cy="10698163"/>
          </a:xfrm>
        </p:grpSpPr>
        <p:sp>
          <p:nvSpPr>
            <p:cNvPr id="3" name="rc3"/>
            <p:cNvSpPr/>
            <p:nvPr/>
          </p:nvSpPr>
          <p:spPr>
            <a:xfrm>
              <a:off x="223" y="0"/>
              <a:ext cx="15087152" cy="106981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20254" y="2349938"/>
              <a:ext cx="14447091" cy="3675779"/>
            </a:xfrm>
            <a:prstGeom prst="rect">
              <a:avLst/>
            </a:prstGeom>
            <a:solidFill>
              <a:srgbClr val="F7E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20254" y="6012001"/>
              <a:ext cx="14447091" cy="2048195"/>
            </a:xfrm>
            <a:prstGeom prst="rect">
              <a:avLst/>
            </a:prstGeom>
            <a:solidFill>
              <a:srgbClr val="DCEC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20254" y="8046481"/>
              <a:ext cx="14447091" cy="1234403"/>
            </a:xfrm>
            <a:prstGeom prst="rect">
              <a:avLst/>
            </a:prstGeom>
            <a:solidFill>
              <a:srgbClr val="F1F1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29397" y="310886"/>
              <a:ext cx="7141252" cy="1920183"/>
            </a:xfrm>
            <a:prstGeom prst="rect">
              <a:avLst/>
            </a:prstGeom>
            <a:solidFill>
              <a:srgbClr val="FCFBFC">
                <a:alpha val="100000"/>
              </a:srgbClr>
            </a:solidFill>
            <a:ln w="9525" cap="rnd">
              <a:solidFill>
                <a:srgbClr val="8066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29397" y="310886"/>
              <a:ext cx="7141252" cy="45718"/>
            </a:xfrm>
            <a:prstGeom prst="rect">
              <a:avLst/>
            </a:prstGeom>
            <a:solidFill>
              <a:srgbClr val="8063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9"/>
            <p:cNvSpPr/>
            <p:nvPr/>
          </p:nvSpPr>
          <p:spPr>
            <a:xfrm>
              <a:off x="686003" y="573812"/>
              <a:ext cx="3600907" cy="169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60" i="0" b="1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STEM POLISTINAE + VESPINAE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686003" y="924794"/>
              <a:ext cx="3308664" cy="125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80" i="0" b="0">
                  <a:solidFill>
                    <a:srgbClr val="5E6A73">
                      <a:alpha val="100000"/>
                    </a:srgbClr>
                  </a:solidFill>
                  <a:latin typeface="Arial"/>
                  <a:cs typeface="Arial"/>
                </a:rPr>
                <a:t>Node 20 | 10 significantly expanded HOGs</a:t>
              </a:r>
            </a:p>
          </p:txBody>
        </p:sp>
        <p:sp>
          <p:nvSpPr>
            <p:cNvPr id="11" name="rc11"/>
            <p:cNvSpPr/>
            <p:nvPr/>
          </p:nvSpPr>
          <p:spPr>
            <a:xfrm>
              <a:off x="585422" y="1179541"/>
              <a:ext cx="1325840" cy="210305"/>
            </a:xfrm>
            <a:prstGeom prst="rect">
              <a:avLst/>
            </a:prstGeom>
            <a:solidFill>
              <a:srgbClr val="F2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911262" y="1179541"/>
              <a:ext cx="1325840" cy="210305"/>
            </a:xfrm>
            <a:prstGeom prst="rect">
              <a:avLst/>
            </a:prstGeom>
            <a:solidFill>
              <a:srgbClr val="0AA36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237103" y="1179541"/>
              <a:ext cx="662920" cy="210305"/>
            </a:xfrm>
            <a:prstGeom prst="rect">
              <a:avLst/>
            </a:prstGeom>
            <a:solidFill>
              <a:srgbClr val="E56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900023" y="1179541"/>
              <a:ext cx="662920" cy="210305"/>
            </a:xfrm>
            <a:prstGeom prst="rect">
              <a:avLst/>
            </a:prstGeom>
            <a:solidFill>
              <a:srgbClr val="087D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562944" y="1179541"/>
              <a:ext cx="2651681" cy="210305"/>
            </a:xfrm>
            <a:prstGeom prst="rect">
              <a:avLst/>
            </a:prstGeom>
            <a:solidFill>
              <a:srgbClr val="BAC0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85422" y="1536146"/>
              <a:ext cx="146299" cy="146299"/>
            </a:xfrm>
            <a:prstGeom prst="rect">
              <a:avLst/>
            </a:prstGeom>
            <a:solidFill>
              <a:srgbClr val="F2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14596" y="1554706"/>
              <a:ext cx="94869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Lipid / CHC  2</a:t>
              </a:r>
            </a:p>
          </p:txBody>
        </p:sp>
        <p:sp>
          <p:nvSpPr>
            <p:cNvPr id="18" name="rc18"/>
            <p:cNvSpPr/>
            <p:nvPr/>
          </p:nvSpPr>
          <p:spPr>
            <a:xfrm>
              <a:off x="2848495" y="1536146"/>
              <a:ext cx="146299" cy="146299"/>
            </a:xfrm>
            <a:prstGeom prst="rect">
              <a:avLst/>
            </a:prstGeom>
            <a:solidFill>
              <a:srgbClr val="0AA36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3177669" y="1554706"/>
              <a:ext cx="137260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Chemoperception  2</a:t>
              </a:r>
            </a:p>
          </p:txBody>
        </p:sp>
        <p:sp>
          <p:nvSpPr>
            <p:cNvPr id="20" name="rc20"/>
            <p:cNvSpPr/>
            <p:nvPr/>
          </p:nvSpPr>
          <p:spPr>
            <a:xfrm>
              <a:off x="5111568" y="1536146"/>
              <a:ext cx="146299" cy="146299"/>
            </a:xfrm>
            <a:prstGeom prst="rect">
              <a:avLst/>
            </a:prstGeom>
            <a:solidFill>
              <a:srgbClr val="E56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5440742" y="1554706"/>
              <a:ext cx="147401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Digestion / nutrition  1</a:t>
              </a:r>
            </a:p>
          </p:txBody>
        </p:sp>
        <p:sp>
          <p:nvSpPr>
            <p:cNvPr id="22" name="rc22"/>
            <p:cNvSpPr/>
            <p:nvPr/>
          </p:nvSpPr>
          <p:spPr>
            <a:xfrm>
              <a:off x="585422" y="1883608"/>
              <a:ext cx="146299" cy="146299"/>
            </a:xfrm>
            <a:prstGeom prst="rect">
              <a:avLst/>
            </a:prstGeom>
            <a:solidFill>
              <a:srgbClr val="087D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914596" y="1902168"/>
              <a:ext cx="85578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Endocrine  1</a:t>
              </a:r>
            </a:p>
          </p:txBody>
        </p:sp>
        <p:sp>
          <p:nvSpPr>
            <p:cNvPr id="24" name="rc24"/>
            <p:cNvSpPr/>
            <p:nvPr/>
          </p:nvSpPr>
          <p:spPr>
            <a:xfrm>
              <a:off x="2848495" y="1883608"/>
              <a:ext cx="146299" cy="146299"/>
            </a:xfrm>
            <a:prstGeom prst="rect">
              <a:avLst/>
            </a:prstGeom>
            <a:solidFill>
              <a:srgbClr val="BAC0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177669" y="1902168"/>
              <a:ext cx="142335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Other / unresolved  4</a:t>
              </a:r>
            </a:p>
          </p:txBody>
        </p:sp>
        <p:sp>
          <p:nvSpPr>
            <p:cNvPr id="26" name="rc26"/>
            <p:cNvSpPr/>
            <p:nvPr/>
          </p:nvSpPr>
          <p:spPr>
            <a:xfrm>
              <a:off x="7635237" y="310886"/>
              <a:ext cx="7141252" cy="1920183"/>
            </a:xfrm>
            <a:prstGeom prst="rect">
              <a:avLst/>
            </a:prstGeom>
            <a:solidFill>
              <a:srgbClr val="FCFBFC">
                <a:alpha val="100000"/>
              </a:srgbClr>
            </a:solidFill>
            <a:ln w="9525" cap="rnd">
              <a:solidFill>
                <a:srgbClr val="C567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635237" y="310886"/>
              <a:ext cx="7141252" cy="45718"/>
            </a:xfrm>
            <a:prstGeom prst="rect">
              <a:avLst/>
            </a:prstGeom>
            <a:solidFill>
              <a:srgbClr val="B861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7991842" y="573812"/>
              <a:ext cx="1915302" cy="169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60" i="0" b="1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STEM VESPINAE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991842" y="924794"/>
              <a:ext cx="3211189" cy="125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80" i="0" b="0">
                  <a:solidFill>
                    <a:srgbClr val="5E6A73">
                      <a:alpha val="100000"/>
                    </a:srgbClr>
                  </a:solidFill>
                  <a:latin typeface="Arial"/>
                  <a:cs typeface="Arial"/>
                </a:rPr>
                <a:t>Node 25 | 8 significantly expanded HOGs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7891261" y="1179541"/>
              <a:ext cx="2485951" cy="210305"/>
            </a:xfrm>
            <a:prstGeom prst="rect">
              <a:avLst/>
            </a:prstGeom>
            <a:solidFill>
              <a:srgbClr val="F2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0377213" y="1179541"/>
              <a:ext cx="1657300" cy="210305"/>
            </a:xfrm>
            <a:prstGeom prst="rect">
              <a:avLst/>
            </a:prstGeom>
            <a:solidFill>
              <a:srgbClr val="0AA36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2034513" y="1179541"/>
              <a:ext cx="828650" cy="210305"/>
            </a:xfrm>
            <a:prstGeom prst="rect">
              <a:avLst/>
            </a:prstGeom>
            <a:solidFill>
              <a:srgbClr val="E56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2863164" y="1179541"/>
              <a:ext cx="1657300" cy="210305"/>
            </a:xfrm>
            <a:prstGeom prst="rect">
              <a:avLst/>
            </a:prstGeom>
            <a:solidFill>
              <a:srgbClr val="BAC0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7891261" y="1536146"/>
              <a:ext cx="146299" cy="146299"/>
            </a:xfrm>
            <a:prstGeom prst="rect">
              <a:avLst/>
            </a:prstGeom>
            <a:solidFill>
              <a:srgbClr val="F2AA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8220435" y="1554706"/>
              <a:ext cx="94869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Lipid / CHC  3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10154334" y="1536146"/>
              <a:ext cx="146299" cy="146299"/>
            </a:xfrm>
            <a:prstGeom prst="rect">
              <a:avLst/>
            </a:prstGeom>
            <a:solidFill>
              <a:srgbClr val="0AA36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10483508" y="1554706"/>
              <a:ext cx="137260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Chemoperception  2</a:t>
              </a:r>
            </a:p>
          </p:txBody>
        </p:sp>
        <p:sp>
          <p:nvSpPr>
            <p:cNvPr id="38" name="rc38"/>
            <p:cNvSpPr/>
            <p:nvPr/>
          </p:nvSpPr>
          <p:spPr>
            <a:xfrm>
              <a:off x="12417407" y="1536146"/>
              <a:ext cx="146299" cy="146299"/>
            </a:xfrm>
            <a:prstGeom prst="rect">
              <a:avLst/>
            </a:prstGeom>
            <a:solidFill>
              <a:srgbClr val="E566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2746581" y="1554706"/>
              <a:ext cx="147401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Digestion / nutrition  1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7891261" y="1883608"/>
              <a:ext cx="146299" cy="146299"/>
            </a:xfrm>
            <a:prstGeom prst="rect">
              <a:avLst/>
            </a:prstGeom>
            <a:solidFill>
              <a:srgbClr val="BAC0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220435" y="1902168"/>
              <a:ext cx="142335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Other / unresolved  2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2541551" y="7131465"/>
              <a:ext cx="0" cy="1735665"/>
            </a:xfrm>
            <a:custGeom>
              <a:avLst/>
              <a:pathLst>
                <a:path w="0" h="1735665">
                  <a:moveTo>
                    <a:pt x="0" y="173566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037833" y="6006144"/>
              <a:ext cx="0" cy="2250643"/>
            </a:xfrm>
            <a:custGeom>
              <a:avLst/>
              <a:pathLst>
                <a:path w="0" h="2250643">
                  <a:moveTo>
                    <a:pt x="0" y="22506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89438" y="4543861"/>
              <a:ext cx="0" cy="2924564"/>
            </a:xfrm>
            <a:custGeom>
              <a:avLst/>
              <a:pathLst>
                <a:path w="0" h="2924564">
                  <a:moveTo>
                    <a:pt x="0" y="292456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394711" y="7086961"/>
              <a:ext cx="0" cy="762929"/>
            </a:xfrm>
            <a:custGeom>
              <a:avLst/>
              <a:pathLst>
                <a:path w="0" h="762929">
                  <a:moveTo>
                    <a:pt x="0" y="76292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303069" y="6730927"/>
              <a:ext cx="0" cy="712067"/>
            </a:xfrm>
            <a:custGeom>
              <a:avLst/>
              <a:pathLst>
                <a:path w="0" h="712067">
                  <a:moveTo>
                    <a:pt x="0" y="71206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851235" y="6425755"/>
              <a:ext cx="0" cy="610343"/>
            </a:xfrm>
            <a:custGeom>
              <a:avLst/>
              <a:pathLst>
                <a:path w="0" h="610343">
                  <a:moveTo>
                    <a:pt x="0" y="6103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256292" y="6222307"/>
              <a:ext cx="0" cy="406895"/>
            </a:xfrm>
            <a:custGeom>
              <a:avLst/>
              <a:pathLst>
                <a:path w="0" h="406895">
                  <a:moveTo>
                    <a:pt x="0" y="4068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636374" y="3577483"/>
              <a:ext cx="0" cy="1932755"/>
            </a:xfrm>
            <a:custGeom>
              <a:avLst/>
              <a:pathLst>
                <a:path w="0" h="1932755">
                  <a:moveTo>
                    <a:pt x="0" y="193275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905503" y="5205067"/>
              <a:ext cx="0" cy="610343"/>
            </a:xfrm>
            <a:custGeom>
              <a:avLst/>
              <a:pathLst>
                <a:path w="0" h="610343">
                  <a:moveTo>
                    <a:pt x="0" y="6103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9615609" y="5001619"/>
              <a:ext cx="0" cy="406895"/>
            </a:xfrm>
            <a:custGeom>
              <a:avLst/>
              <a:pathLst>
                <a:path w="0" h="406895">
                  <a:moveTo>
                    <a:pt x="0" y="4068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025752" y="3068864"/>
              <a:ext cx="0" cy="1017239"/>
            </a:xfrm>
            <a:custGeom>
              <a:avLst/>
              <a:pathLst>
                <a:path w="0" h="1017239">
                  <a:moveTo>
                    <a:pt x="0" y="10172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419201" y="3780931"/>
              <a:ext cx="0" cy="610343"/>
            </a:xfrm>
            <a:custGeom>
              <a:avLst/>
              <a:pathLst>
                <a:path w="0" h="610343">
                  <a:moveTo>
                    <a:pt x="0" y="6103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601448" y="4187827"/>
              <a:ext cx="0" cy="406895"/>
            </a:xfrm>
            <a:custGeom>
              <a:avLst/>
              <a:pathLst>
                <a:path w="0" h="406895">
                  <a:moveTo>
                    <a:pt x="0" y="4068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654957" y="2763692"/>
              <a:ext cx="0" cy="610343"/>
            </a:xfrm>
            <a:custGeom>
              <a:avLst/>
              <a:pathLst>
                <a:path w="0" h="610343">
                  <a:moveTo>
                    <a:pt x="0" y="61034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979343" y="2560244"/>
              <a:ext cx="0" cy="406895"/>
            </a:xfrm>
            <a:custGeom>
              <a:avLst/>
              <a:pathLst>
                <a:path w="0" h="406895">
                  <a:moveTo>
                    <a:pt x="0" y="4068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33683" y="8663683"/>
              <a:ext cx="0" cy="406895"/>
            </a:xfrm>
            <a:custGeom>
              <a:avLst/>
              <a:pathLst>
                <a:path w="0" h="406895">
                  <a:moveTo>
                    <a:pt x="0" y="4068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541551" y="8867131"/>
              <a:ext cx="692132" cy="0"/>
            </a:xfrm>
            <a:custGeom>
              <a:avLst/>
              <a:pathLst>
                <a:path w="692132" h="0">
                  <a:moveTo>
                    <a:pt x="0" y="0"/>
                  </a:moveTo>
                  <a:lnTo>
                    <a:pt x="692132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33683" y="9070579"/>
              <a:ext cx="6623479" cy="0"/>
            </a:xfrm>
            <a:custGeom>
              <a:avLst/>
              <a:pathLst>
                <a:path w="6623479" h="0">
                  <a:moveTo>
                    <a:pt x="0" y="0"/>
                  </a:moveTo>
                  <a:lnTo>
                    <a:pt x="6623479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33683" y="8663683"/>
              <a:ext cx="6623479" cy="0"/>
            </a:xfrm>
            <a:custGeom>
              <a:avLst/>
              <a:pathLst>
                <a:path w="6623479" h="0">
                  <a:moveTo>
                    <a:pt x="0" y="0"/>
                  </a:moveTo>
                  <a:lnTo>
                    <a:pt x="6623479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541551" y="7131465"/>
              <a:ext cx="1496281" cy="0"/>
            </a:xfrm>
            <a:custGeom>
              <a:avLst/>
              <a:pathLst>
                <a:path w="1496281" h="0">
                  <a:moveTo>
                    <a:pt x="0" y="0"/>
                  </a:moveTo>
                  <a:lnTo>
                    <a:pt x="1496281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037833" y="8256787"/>
              <a:ext cx="5819330" cy="0"/>
            </a:xfrm>
            <a:custGeom>
              <a:avLst/>
              <a:pathLst>
                <a:path w="5819330" h="0">
                  <a:moveTo>
                    <a:pt x="0" y="0"/>
                  </a:moveTo>
                  <a:lnTo>
                    <a:pt x="581933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037833" y="6006144"/>
              <a:ext cx="1851605" cy="0"/>
            </a:xfrm>
            <a:custGeom>
              <a:avLst/>
              <a:pathLst>
                <a:path w="1851605" h="0">
                  <a:moveTo>
                    <a:pt x="0" y="0"/>
                  </a:moveTo>
                  <a:lnTo>
                    <a:pt x="185160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889438" y="7468426"/>
              <a:ext cx="1505273" cy="0"/>
            </a:xfrm>
            <a:custGeom>
              <a:avLst/>
              <a:pathLst>
                <a:path w="1505273" h="0">
                  <a:moveTo>
                    <a:pt x="0" y="0"/>
                  </a:moveTo>
                  <a:lnTo>
                    <a:pt x="1505273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394711" y="7849891"/>
              <a:ext cx="2462452" cy="0"/>
            </a:xfrm>
            <a:custGeom>
              <a:avLst/>
              <a:pathLst>
                <a:path w="2462452" h="0">
                  <a:moveTo>
                    <a:pt x="0" y="0"/>
                  </a:moveTo>
                  <a:lnTo>
                    <a:pt x="2462452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394711" y="7086961"/>
              <a:ext cx="908358" cy="0"/>
            </a:xfrm>
            <a:custGeom>
              <a:avLst/>
              <a:pathLst>
                <a:path w="908358" h="0">
                  <a:moveTo>
                    <a:pt x="0" y="0"/>
                  </a:moveTo>
                  <a:lnTo>
                    <a:pt x="908358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303069" y="7442995"/>
              <a:ext cx="1554093" cy="0"/>
            </a:xfrm>
            <a:custGeom>
              <a:avLst/>
              <a:pathLst>
                <a:path w="1554093" h="0">
                  <a:moveTo>
                    <a:pt x="0" y="0"/>
                  </a:moveTo>
                  <a:lnTo>
                    <a:pt x="1554093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303069" y="6730927"/>
              <a:ext cx="548165" cy="0"/>
            </a:xfrm>
            <a:custGeom>
              <a:avLst/>
              <a:pathLst>
                <a:path w="548165" h="0">
                  <a:moveTo>
                    <a:pt x="0" y="0"/>
                  </a:moveTo>
                  <a:lnTo>
                    <a:pt x="54816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851235" y="7036099"/>
              <a:ext cx="1005928" cy="0"/>
            </a:xfrm>
            <a:custGeom>
              <a:avLst/>
              <a:pathLst>
                <a:path w="1005928" h="0">
                  <a:moveTo>
                    <a:pt x="0" y="0"/>
                  </a:moveTo>
                  <a:lnTo>
                    <a:pt x="1005928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851235" y="6425755"/>
              <a:ext cx="405056" cy="0"/>
            </a:xfrm>
            <a:custGeom>
              <a:avLst/>
              <a:pathLst>
                <a:path w="405056" h="0">
                  <a:moveTo>
                    <a:pt x="0" y="0"/>
                  </a:moveTo>
                  <a:lnTo>
                    <a:pt x="405056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256292" y="6629203"/>
              <a:ext cx="600871" cy="0"/>
            </a:xfrm>
            <a:custGeom>
              <a:avLst/>
              <a:pathLst>
                <a:path w="600871" h="0">
                  <a:moveTo>
                    <a:pt x="0" y="0"/>
                  </a:moveTo>
                  <a:lnTo>
                    <a:pt x="600871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9256292" y="6222307"/>
              <a:ext cx="600871" cy="0"/>
            </a:xfrm>
            <a:custGeom>
              <a:avLst/>
              <a:pathLst>
                <a:path w="600871" h="0">
                  <a:moveTo>
                    <a:pt x="0" y="0"/>
                  </a:moveTo>
                  <a:lnTo>
                    <a:pt x="600871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89438" y="4543861"/>
              <a:ext cx="1746936" cy="0"/>
            </a:xfrm>
            <a:custGeom>
              <a:avLst/>
              <a:pathLst>
                <a:path w="1746936" h="0">
                  <a:moveTo>
                    <a:pt x="0" y="0"/>
                  </a:moveTo>
                  <a:lnTo>
                    <a:pt x="1746936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636374" y="5510239"/>
              <a:ext cx="1269128" cy="0"/>
            </a:xfrm>
            <a:custGeom>
              <a:avLst/>
              <a:pathLst>
                <a:path w="1269128" h="0">
                  <a:moveTo>
                    <a:pt x="0" y="0"/>
                  </a:moveTo>
                  <a:lnTo>
                    <a:pt x="1269128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905503" y="5815411"/>
              <a:ext cx="951659" cy="0"/>
            </a:xfrm>
            <a:custGeom>
              <a:avLst/>
              <a:pathLst>
                <a:path w="951659" h="0">
                  <a:moveTo>
                    <a:pt x="0" y="0"/>
                  </a:moveTo>
                  <a:lnTo>
                    <a:pt x="951659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905503" y="5205067"/>
              <a:ext cx="710105" cy="0"/>
            </a:xfrm>
            <a:custGeom>
              <a:avLst/>
              <a:pathLst>
                <a:path w="710105" h="0">
                  <a:moveTo>
                    <a:pt x="0" y="0"/>
                  </a:moveTo>
                  <a:lnTo>
                    <a:pt x="71010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9615609" y="5408515"/>
              <a:ext cx="241554" cy="0"/>
            </a:xfrm>
            <a:custGeom>
              <a:avLst/>
              <a:pathLst>
                <a:path w="241554" h="0">
                  <a:moveTo>
                    <a:pt x="0" y="0"/>
                  </a:moveTo>
                  <a:lnTo>
                    <a:pt x="241554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9615609" y="5001619"/>
              <a:ext cx="241554" cy="0"/>
            </a:xfrm>
            <a:custGeom>
              <a:avLst/>
              <a:pathLst>
                <a:path w="241554" h="0">
                  <a:moveTo>
                    <a:pt x="0" y="0"/>
                  </a:moveTo>
                  <a:lnTo>
                    <a:pt x="241554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636374" y="3577483"/>
              <a:ext cx="389377" cy="0"/>
            </a:xfrm>
            <a:custGeom>
              <a:avLst/>
              <a:pathLst>
                <a:path w="389377" h="0">
                  <a:moveTo>
                    <a:pt x="0" y="0"/>
                  </a:moveTo>
                  <a:lnTo>
                    <a:pt x="389377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025752" y="4086103"/>
              <a:ext cx="1393449" cy="0"/>
            </a:xfrm>
            <a:custGeom>
              <a:avLst/>
              <a:pathLst>
                <a:path w="1393449" h="0">
                  <a:moveTo>
                    <a:pt x="0" y="0"/>
                  </a:moveTo>
                  <a:lnTo>
                    <a:pt x="1393449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9419201" y="4391275"/>
              <a:ext cx="182246" cy="0"/>
            </a:xfrm>
            <a:custGeom>
              <a:avLst/>
              <a:pathLst>
                <a:path w="182246" h="0">
                  <a:moveTo>
                    <a:pt x="0" y="0"/>
                  </a:moveTo>
                  <a:lnTo>
                    <a:pt x="182246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9601448" y="4594723"/>
              <a:ext cx="255715" cy="0"/>
            </a:xfrm>
            <a:custGeom>
              <a:avLst/>
              <a:pathLst>
                <a:path w="255715" h="0">
                  <a:moveTo>
                    <a:pt x="0" y="0"/>
                  </a:moveTo>
                  <a:lnTo>
                    <a:pt x="25571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9601448" y="4187827"/>
              <a:ext cx="255715" cy="0"/>
            </a:xfrm>
            <a:custGeom>
              <a:avLst/>
              <a:pathLst>
                <a:path w="255715" h="0">
                  <a:moveTo>
                    <a:pt x="0" y="0"/>
                  </a:moveTo>
                  <a:lnTo>
                    <a:pt x="25571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9419201" y="3780931"/>
              <a:ext cx="437961" cy="0"/>
            </a:xfrm>
            <a:custGeom>
              <a:avLst/>
              <a:pathLst>
                <a:path w="437961" h="0">
                  <a:moveTo>
                    <a:pt x="0" y="0"/>
                  </a:moveTo>
                  <a:lnTo>
                    <a:pt x="437961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025752" y="3068864"/>
              <a:ext cx="629205" cy="0"/>
            </a:xfrm>
            <a:custGeom>
              <a:avLst/>
              <a:pathLst>
                <a:path w="629205" h="0">
                  <a:moveTo>
                    <a:pt x="0" y="0"/>
                  </a:moveTo>
                  <a:lnTo>
                    <a:pt x="62920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654957" y="3374036"/>
              <a:ext cx="1202205" cy="0"/>
            </a:xfrm>
            <a:custGeom>
              <a:avLst/>
              <a:pathLst>
                <a:path w="1202205" h="0">
                  <a:moveTo>
                    <a:pt x="0" y="0"/>
                  </a:moveTo>
                  <a:lnTo>
                    <a:pt x="120220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654957" y="2763692"/>
              <a:ext cx="324385" cy="0"/>
            </a:xfrm>
            <a:custGeom>
              <a:avLst/>
              <a:pathLst>
                <a:path w="324385" h="0">
                  <a:moveTo>
                    <a:pt x="0" y="0"/>
                  </a:moveTo>
                  <a:lnTo>
                    <a:pt x="324385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979343" y="2967140"/>
              <a:ext cx="877820" cy="0"/>
            </a:xfrm>
            <a:custGeom>
              <a:avLst/>
              <a:pathLst>
                <a:path w="877820" h="0">
                  <a:moveTo>
                    <a:pt x="0" y="0"/>
                  </a:moveTo>
                  <a:lnTo>
                    <a:pt x="87782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979343" y="2560244"/>
              <a:ext cx="877820" cy="0"/>
            </a:xfrm>
            <a:custGeom>
              <a:avLst/>
              <a:pathLst>
                <a:path w="877820" h="0">
                  <a:moveTo>
                    <a:pt x="0" y="0"/>
                  </a:moveTo>
                  <a:lnTo>
                    <a:pt x="877820" y="0"/>
                  </a:lnTo>
                </a:path>
              </a:pathLst>
            </a:custGeom>
            <a:ln w="9525" cap="rnd">
              <a:solidFill>
                <a:srgbClr val="7373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834575" y="5951281"/>
              <a:ext cx="109724" cy="109724"/>
            </a:xfrm>
            <a:prstGeom prst="ellipse">
              <a:avLst/>
            </a:prstGeom>
            <a:solidFill>
              <a:srgbClr val="80639A">
                <a:alpha val="100000"/>
              </a:srgbClr>
            </a:solidFill>
            <a:ln w="9525" cap="rnd">
              <a:solidFill>
                <a:srgbClr val="8063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581512" y="4488999"/>
              <a:ext cx="109724" cy="109724"/>
            </a:xfrm>
            <a:prstGeom prst="ellipse">
              <a:avLst/>
            </a:prstGeom>
            <a:solidFill>
              <a:srgbClr val="B8615E">
                <a:alpha val="100000"/>
              </a:srgbClr>
            </a:solidFill>
            <a:ln w="9525" cap="rnd">
              <a:solidFill>
                <a:srgbClr val="B86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9948600" y="8184046"/>
              <a:ext cx="2213396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505A63">
                      <a:alpha val="100000"/>
                    </a:srgbClr>
                  </a:solidFill>
                  <a:latin typeface="Arial"/>
                  <a:cs typeface="Arial"/>
                </a:rPr>
                <a:t>Ancistrocerus nigricornis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9948600" y="7777150"/>
              <a:ext cx="2382652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306B80">
                      <a:alpha val="100000"/>
                    </a:srgbClr>
                  </a:solidFill>
                  <a:latin typeface="Arial"/>
                  <a:cs typeface="Arial"/>
                </a:rPr>
                <a:t>Mischocyttarus mexicanus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9948600" y="7370254"/>
              <a:ext cx="1592610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306B8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9948600" y="6963358"/>
              <a:ext cx="152457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306B80">
                      <a:alpha val="100000"/>
                    </a:srgbClr>
                  </a:solidFill>
                  <a:latin typeface="Arial"/>
                  <a:cs typeface="Arial"/>
                </a:rPr>
                <a:t>Polistes fuscatus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948600" y="6556463"/>
              <a:ext cx="173918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306B80">
                      <a:alpha val="100000"/>
                    </a:srgbClr>
                  </a:solidFill>
                  <a:latin typeface="Arial"/>
                  <a:cs typeface="Arial"/>
                </a:rPr>
                <a:t>Polistes exclamans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9948600" y="6149567"/>
              <a:ext cx="1795973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306B80">
                      <a:alpha val="100000"/>
                    </a:srgbClr>
                  </a:solidFill>
                  <a:latin typeface="Arial"/>
                  <a:cs typeface="Arial"/>
                </a:rPr>
                <a:t>Polistes canadensis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9948600" y="5742671"/>
              <a:ext cx="1732056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Vespula germanica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9948600" y="5335775"/>
              <a:ext cx="1958096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Vespula pensylvanica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9948600" y="4928879"/>
              <a:ext cx="1483522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9948600" y="4521983"/>
              <a:ext cx="1201064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Vespa crabro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9948600" y="4115087"/>
              <a:ext cx="1630466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Vespa mandarinia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9948600" y="3708191"/>
              <a:ext cx="1325514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Vespa velutina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948600" y="3301295"/>
              <a:ext cx="198808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Dolichovespula media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948600" y="2894399"/>
              <a:ext cx="2236622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Dolichovespula saxonica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9948600" y="2487503"/>
              <a:ext cx="226999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B54737">
                      <a:alpha val="100000"/>
                    </a:srgbClr>
                  </a:solidFill>
                  <a:latin typeface="Arial"/>
                  <a:cs typeface="Arial"/>
                </a:rPr>
                <a:t>Dolichovespula sylvestris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9948600" y="8997838"/>
              <a:ext cx="1784543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505A63">
                      <a:alpha val="100000"/>
                    </a:srgbClr>
                  </a:solidFill>
                  <a:latin typeface="Arial"/>
                  <a:cs typeface="Arial"/>
                </a:rPr>
                <a:t>Anoplius nigerrimus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9948600" y="8590942"/>
              <a:ext cx="1409913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505A63">
                      <a:alpha val="100000"/>
                    </a:srgbClr>
                  </a:solidFill>
                  <a:latin typeface="Arial"/>
                  <a:cs typeface="Arial"/>
                </a:rPr>
                <a:t>Tiphia femorata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03709" y="3956637"/>
              <a:ext cx="1322953" cy="1728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90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ADVANCED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03709" y="4246197"/>
              <a:ext cx="1220358" cy="1728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90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EUSOCIAL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03709" y="6804908"/>
              <a:ext cx="1483796" cy="1728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90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PRIMITIVELY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03709" y="7094468"/>
              <a:ext cx="1220358" cy="1728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90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EUSOCIAL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03709" y="8577272"/>
              <a:ext cx="1171163" cy="1728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90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SOLITARY</a:t>
              </a:r>
            </a:p>
          </p:txBody>
        </p:sp>
        <p:sp>
          <p:nvSpPr>
            <p:cNvPr id="114" name="rc114"/>
            <p:cNvSpPr/>
            <p:nvPr/>
          </p:nvSpPr>
          <p:spPr>
            <a:xfrm>
              <a:off x="2505605" y="2916849"/>
              <a:ext cx="4663301" cy="722354"/>
            </a:xfrm>
            <a:prstGeom prst="rect">
              <a:avLst/>
            </a:prstGeom>
            <a:solidFill>
              <a:srgbClr val="EFECEC">
                <a:alpha val="100000"/>
              </a:srgbClr>
            </a:solidFill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2624473" y="2983635"/>
              <a:ext cx="3585728" cy="135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88" i="0" b="0">
                  <a:solidFill>
                    <a:srgbClr val="59656E">
                      <a:alpha val="100000"/>
                    </a:srgbClr>
                  </a:solidFill>
                  <a:latin typeface="Arial"/>
                  <a:cs typeface="Arial"/>
                </a:rPr>
                <a:t>Significant expansions (+) / contractions (-)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24473" y="3210406"/>
              <a:ext cx="3213384" cy="135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88" i="0" b="0">
                  <a:solidFill>
                    <a:srgbClr val="59656E">
                      <a:alpha val="100000"/>
                    </a:srgbClr>
                  </a:solidFill>
                  <a:latin typeface="Arial"/>
                  <a:cs typeface="Arial"/>
                </a:rPr>
                <a:t>CAFE family p &lt; 0.05; branch p &lt; 0.01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624473" y="3437178"/>
              <a:ext cx="2309865" cy="135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88" i="0" b="0">
                  <a:solidFill>
                    <a:srgbClr val="59656E">
                      <a:alpha val="100000"/>
                    </a:srgbClr>
                  </a:solidFill>
                  <a:latin typeface="Arial"/>
                  <a:cs typeface="Arial"/>
                </a:rPr>
                <a:t>TE-derived HOGs excluded</a:t>
              </a:r>
            </a:p>
          </p:txBody>
        </p:sp>
        <p:sp>
          <p:nvSpPr>
            <p:cNvPr id="118" name="rc118"/>
            <p:cNvSpPr/>
            <p:nvPr/>
          </p:nvSpPr>
          <p:spPr>
            <a:xfrm>
              <a:off x="4943062" y="5521526"/>
              <a:ext cx="813791" cy="347461"/>
            </a:xfrm>
            <a:prstGeom prst="rect">
              <a:avLst/>
            </a:prstGeom>
            <a:solidFill>
              <a:srgbClr val="DED7E5">
                <a:alpha val="100000"/>
              </a:srgbClr>
            </a:solidFill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5002623" y="5622471"/>
              <a:ext cx="69466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0">
                  <a:solidFill>
                    <a:srgbClr val="17242B">
                      <a:alpha val="100000"/>
                    </a:srgbClr>
                  </a:solidFill>
                  <a:latin typeface="Arial"/>
                  <a:cs typeface="Arial"/>
                </a:rPr>
                <a:t>+10 / -2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965818" y="6166159"/>
              <a:ext cx="76827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0">
                  <a:solidFill>
                    <a:srgbClr val="80639A">
                      <a:alpha val="100000"/>
                    </a:srgbClr>
                  </a:solidFill>
                  <a:latin typeface="Arial"/>
                  <a:cs typeface="Arial"/>
                </a:rPr>
                <a:t>Node 20</a:t>
              </a:r>
            </a:p>
          </p:txBody>
        </p:sp>
        <p:sp>
          <p:nvSpPr>
            <p:cNvPr id="121" name="rc121"/>
            <p:cNvSpPr/>
            <p:nvPr/>
          </p:nvSpPr>
          <p:spPr>
            <a:xfrm>
              <a:off x="6580273" y="4059244"/>
              <a:ext cx="914372" cy="347461"/>
            </a:xfrm>
            <a:prstGeom prst="rect">
              <a:avLst/>
            </a:prstGeom>
            <a:solidFill>
              <a:srgbClr val="F3DDD8">
                <a:alpha val="100000"/>
              </a:srgbClr>
            </a:solidFill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6746635" y="4160188"/>
              <a:ext cx="58164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0">
                  <a:solidFill>
                    <a:srgbClr val="17242B">
                      <a:alpha val="100000"/>
                    </a:srgbClr>
                  </a:solidFill>
                  <a:latin typeface="Arial"/>
                  <a:cs typeface="Arial"/>
                </a:rPr>
                <a:t>+8 / -2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653320" y="4676445"/>
              <a:ext cx="76827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0">
                  <a:solidFill>
                    <a:srgbClr val="B8615E">
                      <a:alpha val="100000"/>
                    </a:srgbClr>
                  </a:solidFill>
                  <a:latin typeface="Arial"/>
                  <a:cs typeface="Arial"/>
                </a:rPr>
                <a:t>Node 25</a:t>
              </a:r>
            </a:p>
          </p:txBody>
        </p:sp>
        <p:sp>
          <p:nvSpPr>
            <p:cNvPr id="124" name="pl124"/>
            <p:cNvSpPr/>
            <p:nvPr/>
          </p:nvSpPr>
          <p:spPr>
            <a:xfrm>
              <a:off x="2450742" y="9664921"/>
              <a:ext cx="7406420" cy="0"/>
            </a:xfrm>
            <a:custGeom>
              <a:avLst/>
              <a:pathLst>
                <a:path w="7406420" h="0">
                  <a:moveTo>
                    <a:pt x="0" y="0"/>
                  </a:moveTo>
                  <a:lnTo>
                    <a:pt x="7406420" y="0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985716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79910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74104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68298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2492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566863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508802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450742" y="9664921"/>
              <a:ext cx="0" cy="118868"/>
            </a:xfrm>
            <a:custGeom>
              <a:avLst/>
              <a:pathLst>
                <a:path w="0" h="118868">
                  <a:moveTo>
                    <a:pt x="0" y="0"/>
                  </a:moveTo>
                  <a:lnTo>
                    <a:pt x="0" y="118868"/>
                  </a:lnTo>
                </a:path>
              </a:pathLst>
            </a:custGeom>
            <a:ln w="9525" cap="rnd">
              <a:solidFill>
                <a:srgbClr val="2632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9807740" y="9893055"/>
              <a:ext cx="98846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700256" y="9893055"/>
              <a:ext cx="19769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642196" y="9893055"/>
              <a:ext cx="19769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584136" y="9893055"/>
              <a:ext cx="19769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526076" y="9893055"/>
              <a:ext cx="19769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18593" y="9893055"/>
              <a:ext cx="29653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360533" y="9893055"/>
              <a:ext cx="29653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302472" y="9893055"/>
              <a:ext cx="29653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742211" y="10202935"/>
              <a:ext cx="2823484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0">
                  <a:solidFill>
                    <a:srgbClr val="263238">
                      <a:alpha val="100000"/>
                    </a:srgbClr>
                  </a:solidFill>
                  <a:latin typeface="Arial"/>
                  <a:cs typeface="Arial"/>
                </a:rPr>
                <a:t>Millions of years before present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2026-09-08T18:51:48Z</dcterms:modified>
</cp:coreProperties>
</file>