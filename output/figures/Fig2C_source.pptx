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12188952" cy="6858000" type="screen16x9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12188952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12188951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g5"/>
            <p:cNvSpPr/>
            <p:nvPr/>
          </p:nvSpPr>
          <p:spPr>
            <a:xfrm>
              <a:off x="146267" y="240029"/>
              <a:ext cx="6374821" cy="2297430"/>
            </a:xfrm>
            <a:custGeom>
              <a:avLst/>
              <a:pathLst>
                <a:path w="6374821" h="2297430">
                  <a:moveTo>
                    <a:pt x="109728" y="2297430"/>
                  </a:moveTo>
                  <a:lnTo>
                    <a:pt x="6265093" y="2297430"/>
                  </a:lnTo>
                  <a:lnTo>
                    <a:pt x="6260675" y="2297341"/>
                  </a:lnTo>
                  <a:lnTo>
                    <a:pt x="6278320" y="2296629"/>
                  </a:lnTo>
                  <a:lnTo>
                    <a:pt x="6295622" y="2293097"/>
                  </a:lnTo>
                  <a:lnTo>
                    <a:pt x="6312133" y="2286835"/>
                  </a:lnTo>
                  <a:lnTo>
                    <a:pt x="6327426" y="2278006"/>
                  </a:lnTo>
                  <a:lnTo>
                    <a:pt x="6341105" y="2266838"/>
                  </a:lnTo>
                  <a:lnTo>
                    <a:pt x="6352815" y="2253620"/>
                  </a:lnTo>
                  <a:lnTo>
                    <a:pt x="6362253" y="2238695"/>
                  </a:lnTo>
                  <a:lnTo>
                    <a:pt x="6369174" y="2222449"/>
                  </a:lnTo>
                  <a:lnTo>
                    <a:pt x="6373400" y="2205303"/>
                  </a:lnTo>
                  <a:lnTo>
                    <a:pt x="6374821" y="2187702"/>
                  </a:lnTo>
                  <a:lnTo>
                    <a:pt x="6374821" y="109728"/>
                  </a:lnTo>
                  <a:lnTo>
                    <a:pt x="6373400" y="92126"/>
                  </a:lnTo>
                  <a:lnTo>
                    <a:pt x="6369174" y="74980"/>
                  </a:lnTo>
                  <a:lnTo>
                    <a:pt x="6362253" y="58734"/>
                  </a:lnTo>
                  <a:lnTo>
                    <a:pt x="6352815" y="43809"/>
                  </a:lnTo>
                  <a:lnTo>
                    <a:pt x="6341105" y="30591"/>
                  </a:lnTo>
                  <a:lnTo>
                    <a:pt x="6327426" y="19423"/>
                  </a:lnTo>
                  <a:lnTo>
                    <a:pt x="6312133" y="10594"/>
                  </a:lnTo>
                  <a:lnTo>
                    <a:pt x="6295622" y="4332"/>
                  </a:lnTo>
                  <a:lnTo>
                    <a:pt x="6278320" y="800"/>
                  </a:lnTo>
                  <a:lnTo>
                    <a:pt x="6265093" y="0"/>
                  </a:lnTo>
                  <a:lnTo>
                    <a:pt x="109728" y="0"/>
                  </a:lnTo>
                  <a:lnTo>
                    <a:pt x="122954" y="800"/>
                  </a:lnTo>
                  <a:lnTo>
                    <a:pt x="105309" y="88"/>
                  </a:lnTo>
                  <a:lnTo>
                    <a:pt x="87779" y="2217"/>
                  </a:lnTo>
                  <a:lnTo>
                    <a:pt x="70817" y="7130"/>
                  </a:lnTo>
                  <a:lnTo>
                    <a:pt x="54864" y="14700"/>
                  </a:lnTo>
                  <a:lnTo>
                    <a:pt x="40331" y="24732"/>
                  </a:lnTo>
                  <a:lnTo>
                    <a:pt x="27595" y="36964"/>
                  </a:lnTo>
                  <a:lnTo>
                    <a:pt x="16986" y="51082"/>
                  </a:lnTo>
                  <a:lnTo>
                    <a:pt x="8780" y="66718"/>
                  </a:lnTo>
                  <a:lnTo>
                    <a:pt x="3188" y="83468"/>
                  </a:lnTo>
                  <a:lnTo>
                    <a:pt x="355" y="100898"/>
                  </a:lnTo>
                  <a:lnTo>
                    <a:pt x="0" y="109728"/>
                  </a:lnTo>
                  <a:lnTo>
                    <a:pt x="0" y="2187702"/>
                  </a:lnTo>
                  <a:lnTo>
                    <a:pt x="355" y="2178872"/>
                  </a:lnTo>
                  <a:lnTo>
                    <a:pt x="355" y="2196531"/>
                  </a:lnTo>
                  <a:lnTo>
                    <a:pt x="3188" y="2213961"/>
                  </a:lnTo>
                  <a:lnTo>
                    <a:pt x="8780" y="2230711"/>
                  </a:lnTo>
                  <a:lnTo>
                    <a:pt x="16986" y="2246347"/>
                  </a:lnTo>
                  <a:lnTo>
                    <a:pt x="27595" y="2260465"/>
                  </a:lnTo>
                  <a:lnTo>
                    <a:pt x="40331" y="2272697"/>
                  </a:lnTo>
                  <a:lnTo>
                    <a:pt x="54863" y="2282729"/>
                  </a:lnTo>
                  <a:lnTo>
                    <a:pt x="70817" y="2290299"/>
                  </a:lnTo>
                  <a:lnTo>
                    <a:pt x="87779" y="2295212"/>
                  </a:lnTo>
                  <a:lnTo>
                    <a:pt x="105309" y="2297341"/>
                  </a:lnTo>
                  <a:close/>
                </a:path>
              </a:pathLst>
            </a:custGeom>
            <a:solidFill>
              <a:srgbClr val="EAF5FC">
                <a:alpha val="100000"/>
              </a:srgbClr>
            </a:solidFill>
            <a:ln w="13335" cap="rnd">
              <a:solidFill>
                <a:srgbClr val="CFE7F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tx6"/>
            <p:cNvSpPr/>
            <p:nvPr/>
          </p:nvSpPr>
          <p:spPr>
            <a:xfrm>
              <a:off x="316912" y="411479"/>
              <a:ext cx="1474927" cy="1546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700" i="0" b="1">
                  <a:solidFill>
                    <a:srgbClr val="355D9A">
                      <a:alpha val="100000"/>
                    </a:srgbClr>
                  </a:solidFill>
                  <a:latin typeface="Arial"/>
                  <a:cs typeface="Arial"/>
                </a:rPr>
                <a:t>Wnt signalling</a:t>
              </a:r>
            </a:p>
          </p:txBody>
        </p:sp>
        <p:sp>
          <p:nvSpPr>
            <p:cNvPr id="7" name="pg7"/>
            <p:cNvSpPr/>
            <p:nvPr/>
          </p:nvSpPr>
          <p:spPr>
            <a:xfrm>
              <a:off x="6728301" y="240029"/>
              <a:ext cx="5338760" cy="3634740"/>
            </a:xfrm>
            <a:custGeom>
              <a:avLst/>
              <a:pathLst>
                <a:path w="5338760" h="3634740">
                  <a:moveTo>
                    <a:pt x="109728" y="3634740"/>
                  </a:moveTo>
                  <a:lnTo>
                    <a:pt x="5229032" y="3634740"/>
                  </a:lnTo>
                  <a:lnTo>
                    <a:pt x="5224614" y="3634651"/>
                  </a:lnTo>
                  <a:lnTo>
                    <a:pt x="5242259" y="3633939"/>
                  </a:lnTo>
                  <a:lnTo>
                    <a:pt x="5259561" y="3630407"/>
                  </a:lnTo>
                  <a:lnTo>
                    <a:pt x="5276072" y="3624145"/>
                  </a:lnTo>
                  <a:lnTo>
                    <a:pt x="5291365" y="3615316"/>
                  </a:lnTo>
                  <a:lnTo>
                    <a:pt x="5305044" y="3604148"/>
                  </a:lnTo>
                  <a:lnTo>
                    <a:pt x="5316754" y="3590930"/>
                  </a:lnTo>
                  <a:lnTo>
                    <a:pt x="5326192" y="3576005"/>
                  </a:lnTo>
                  <a:lnTo>
                    <a:pt x="5333113" y="3559759"/>
                  </a:lnTo>
                  <a:lnTo>
                    <a:pt x="5337340" y="3542613"/>
                  </a:lnTo>
                  <a:lnTo>
                    <a:pt x="5338760" y="3525012"/>
                  </a:lnTo>
                  <a:lnTo>
                    <a:pt x="5338760" y="109728"/>
                  </a:lnTo>
                  <a:lnTo>
                    <a:pt x="5337340" y="92126"/>
                  </a:lnTo>
                  <a:lnTo>
                    <a:pt x="5333113" y="74980"/>
                  </a:lnTo>
                  <a:lnTo>
                    <a:pt x="5326192" y="58734"/>
                  </a:lnTo>
                  <a:lnTo>
                    <a:pt x="5316754" y="43809"/>
                  </a:lnTo>
                  <a:lnTo>
                    <a:pt x="5305044" y="30591"/>
                  </a:lnTo>
                  <a:lnTo>
                    <a:pt x="5291365" y="19423"/>
                  </a:lnTo>
                  <a:lnTo>
                    <a:pt x="5276072" y="10594"/>
                  </a:lnTo>
                  <a:lnTo>
                    <a:pt x="5259561" y="4332"/>
                  </a:lnTo>
                  <a:lnTo>
                    <a:pt x="5242259" y="800"/>
                  </a:lnTo>
                  <a:lnTo>
                    <a:pt x="5229032" y="0"/>
                  </a:lnTo>
                  <a:lnTo>
                    <a:pt x="109728" y="0"/>
                  </a:lnTo>
                  <a:lnTo>
                    <a:pt x="122954" y="800"/>
                  </a:lnTo>
                  <a:lnTo>
                    <a:pt x="105309" y="88"/>
                  </a:lnTo>
                  <a:lnTo>
                    <a:pt x="87779" y="2217"/>
                  </a:lnTo>
                  <a:lnTo>
                    <a:pt x="70817" y="7130"/>
                  </a:lnTo>
                  <a:lnTo>
                    <a:pt x="54864" y="14700"/>
                  </a:lnTo>
                  <a:lnTo>
                    <a:pt x="40331" y="24732"/>
                  </a:lnTo>
                  <a:lnTo>
                    <a:pt x="27595" y="36964"/>
                  </a:lnTo>
                  <a:lnTo>
                    <a:pt x="16986" y="51082"/>
                  </a:lnTo>
                  <a:lnTo>
                    <a:pt x="8780" y="66718"/>
                  </a:lnTo>
                  <a:lnTo>
                    <a:pt x="3188" y="83468"/>
                  </a:lnTo>
                  <a:lnTo>
                    <a:pt x="355" y="100898"/>
                  </a:lnTo>
                  <a:lnTo>
                    <a:pt x="0" y="109728"/>
                  </a:lnTo>
                  <a:lnTo>
                    <a:pt x="0" y="3525012"/>
                  </a:lnTo>
                  <a:lnTo>
                    <a:pt x="355" y="3516182"/>
                  </a:lnTo>
                  <a:lnTo>
                    <a:pt x="355" y="3533841"/>
                  </a:lnTo>
                  <a:lnTo>
                    <a:pt x="3188" y="3551271"/>
                  </a:lnTo>
                  <a:lnTo>
                    <a:pt x="8780" y="3568021"/>
                  </a:lnTo>
                  <a:lnTo>
                    <a:pt x="16986" y="3583657"/>
                  </a:lnTo>
                  <a:lnTo>
                    <a:pt x="27595" y="3597775"/>
                  </a:lnTo>
                  <a:lnTo>
                    <a:pt x="40331" y="3610007"/>
                  </a:lnTo>
                  <a:lnTo>
                    <a:pt x="54864" y="3620039"/>
                  </a:lnTo>
                  <a:lnTo>
                    <a:pt x="70817" y="3627609"/>
                  </a:lnTo>
                  <a:lnTo>
                    <a:pt x="87779" y="3632522"/>
                  </a:lnTo>
                  <a:lnTo>
                    <a:pt x="105309" y="3634651"/>
                  </a:lnTo>
                  <a:close/>
                </a:path>
              </a:pathLst>
            </a:custGeom>
            <a:solidFill>
              <a:srgbClr val="FFF9E9">
                <a:alpha val="100000"/>
              </a:srgbClr>
            </a:solidFill>
            <a:ln w="13335" cap="rnd">
              <a:solidFill>
                <a:srgbClr val="F2E4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6898946" y="411479"/>
              <a:ext cx="1711116" cy="1546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700" i="0" b="1">
                  <a:solidFill>
                    <a:srgbClr val="654018">
                      <a:alpha val="100000"/>
                    </a:srgbClr>
                  </a:solidFill>
                  <a:latin typeface="Arial"/>
                  <a:cs typeface="Arial"/>
                </a:rPr>
                <a:t>mTOR signalling</a:t>
              </a:r>
            </a:p>
          </p:txBody>
        </p:sp>
        <p:sp>
          <p:nvSpPr>
            <p:cNvPr id="9" name="pg9"/>
            <p:cNvSpPr/>
            <p:nvPr/>
          </p:nvSpPr>
          <p:spPr>
            <a:xfrm>
              <a:off x="146267" y="2743200"/>
              <a:ext cx="6374821" cy="2160270"/>
            </a:xfrm>
            <a:custGeom>
              <a:avLst/>
              <a:pathLst>
                <a:path w="6374821" h="2160270">
                  <a:moveTo>
                    <a:pt x="109728" y="2160270"/>
                  </a:moveTo>
                  <a:lnTo>
                    <a:pt x="6265093" y="2160270"/>
                  </a:lnTo>
                  <a:lnTo>
                    <a:pt x="6260675" y="2160181"/>
                  </a:lnTo>
                  <a:lnTo>
                    <a:pt x="6278320" y="2159469"/>
                  </a:lnTo>
                  <a:lnTo>
                    <a:pt x="6295622" y="2155937"/>
                  </a:lnTo>
                  <a:lnTo>
                    <a:pt x="6312133" y="2149675"/>
                  </a:lnTo>
                  <a:lnTo>
                    <a:pt x="6327426" y="2140846"/>
                  </a:lnTo>
                  <a:lnTo>
                    <a:pt x="6341105" y="2129678"/>
                  </a:lnTo>
                  <a:lnTo>
                    <a:pt x="6352815" y="2116460"/>
                  </a:lnTo>
                  <a:lnTo>
                    <a:pt x="6362253" y="2101535"/>
                  </a:lnTo>
                  <a:lnTo>
                    <a:pt x="6369174" y="2085289"/>
                  </a:lnTo>
                  <a:lnTo>
                    <a:pt x="6373400" y="2068143"/>
                  </a:lnTo>
                  <a:lnTo>
                    <a:pt x="6374821" y="2050542"/>
                  </a:lnTo>
                  <a:lnTo>
                    <a:pt x="6374821" y="109728"/>
                  </a:lnTo>
                  <a:lnTo>
                    <a:pt x="6373400" y="92126"/>
                  </a:lnTo>
                  <a:lnTo>
                    <a:pt x="6369174" y="74980"/>
                  </a:lnTo>
                  <a:lnTo>
                    <a:pt x="6362253" y="58734"/>
                  </a:lnTo>
                  <a:lnTo>
                    <a:pt x="6352815" y="43809"/>
                  </a:lnTo>
                  <a:lnTo>
                    <a:pt x="6341105" y="30591"/>
                  </a:lnTo>
                  <a:lnTo>
                    <a:pt x="6327426" y="19423"/>
                  </a:lnTo>
                  <a:lnTo>
                    <a:pt x="6312133" y="10594"/>
                  </a:lnTo>
                  <a:lnTo>
                    <a:pt x="6295622" y="4332"/>
                  </a:lnTo>
                  <a:lnTo>
                    <a:pt x="6278320" y="800"/>
                  </a:lnTo>
                  <a:lnTo>
                    <a:pt x="6265093" y="0"/>
                  </a:lnTo>
                  <a:lnTo>
                    <a:pt x="109728" y="0"/>
                  </a:lnTo>
                  <a:lnTo>
                    <a:pt x="122954" y="800"/>
                  </a:lnTo>
                  <a:lnTo>
                    <a:pt x="105309" y="88"/>
                  </a:lnTo>
                  <a:lnTo>
                    <a:pt x="87779" y="2217"/>
                  </a:lnTo>
                  <a:lnTo>
                    <a:pt x="70817" y="7130"/>
                  </a:lnTo>
                  <a:lnTo>
                    <a:pt x="54864" y="14700"/>
                  </a:lnTo>
                  <a:lnTo>
                    <a:pt x="40331" y="24732"/>
                  </a:lnTo>
                  <a:lnTo>
                    <a:pt x="27595" y="36964"/>
                  </a:lnTo>
                  <a:lnTo>
                    <a:pt x="16986" y="51082"/>
                  </a:lnTo>
                  <a:lnTo>
                    <a:pt x="8780" y="66718"/>
                  </a:lnTo>
                  <a:lnTo>
                    <a:pt x="3188" y="83468"/>
                  </a:lnTo>
                  <a:lnTo>
                    <a:pt x="355" y="100898"/>
                  </a:lnTo>
                  <a:lnTo>
                    <a:pt x="0" y="109728"/>
                  </a:lnTo>
                  <a:lnTo>
                    <a:pt x="0" y="2050542"/>
                  </a:lnTo>
                  <a:lnTo>
                    <a:pt x="355" y="2041712"/>
                  </a:lnTo>
                  <a:lnTo>
                    <a:pt x="355" y="2059371"/>
                  </a:lnTo>
                  <a:lnTo>
                    <a:pt x="3188" y="2076801"/>
                  </a:lnTo>
                  <a:lnTo>
                    <a:pt x="8780" y="2093551"/>
                  </a:lnTo>
                  <a:lnTo>
                    <a:pt x="16986" y="2109187"/>
                  </a:lnTo>
                  <a:lnTo>
                    <a:pt x="27595" y="2123305"/>
                  </a:lnTo>
                  <a:lnTo>
                    <a:pt x="40331" y="2135537"/>
                  </a:lnTo>
                  <a:lnTo>
                    <a:pt x="54863" y="2145569"/>
                  </a:lnTo>
                  <a:lnTo>
                    <a:pt x="70817" y="2153139"/>
                  </a:lnTo>
                  <a:lnTo>
                    <a:pt x="87779" y="2158052"/>
                  </a:lnTo>
                  <a:lnTo>
                    <a:pt x="105309" y="2160181"/>
                  </a:lnTo>
                  <a:close/>
                </a:path>
              </a:pathLst>
            </a:custGeom>
            <a:solidFill>
              <a:srgbClr val="EDF8EE">
                <a:alpha val="100000"/>
              </a:srgbClr>
            </a:solidFill>
            <a:ln w="13335" cap="rnd">
              <a:solidFill>
                <a:srgbClr val="D2EBD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316912" y="2914650"/>
              <a:ext cx="3070555" cy="1546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700" i="0" b="1">
                  <a:solidFill>
                    <a:srgbClr val="153D28">
                      <a:alpha val="100000"/>
                    </a:srgbClr>
                  </a:solidFill>
                  <a:latin typeface="Arial"/>
                  <a:cs typeface="Arial"/>
                </a:rPr>
                <a:t>Insulin / insulin-like signalling</a:t>
              </a:r>
            </a:p>
          </p:txBody>
        </p:sp>
        <p:sp>
          <p:nvSpPr>
            <p:cNvPr id="11" name="pg11"/>
            <p:cNvSpPr/>
            <p:nvPr/>
          </p:nvSpPr>
          <p:spPr>
            <a:xfrm>
              <a:off x="7069592" y="4080509"/>
              <a:ext cx="4997470" cy="2537460"/>
            </a:xfrm>
            <a:custGeom>
              <a:avLst/>
              <a:pathLst>
                <a:path w="4997470" h="2537460">
                  <a:moveTo>
                    <a:pt x="109727" y="2537460"/>
                  </a:moveTo>
                  <a:lnTo>
                    <a:pt x="4887742" y="2537460"/>
                  </a:lnTo>
                  <a:lnTo>
                    <a:pt x="4883324" y="2537371"/>
                  </a:lnTo>
                  <a:lnTo>
                    <a:pt x="4900968" y="2536659"/>
                  </a:lnTo>
                  <a:lnTo>
                    <a:pt x="4918270" y="2533127"/>
                  </a:lnTo>
                  <a:lnTo>
                    <a:pt x="4934781" y="2526865"/>
                  </a:lnTo>
                  <a:lnTo>
                    <a:pt x="4950074" y="2518036"/>
                  </a:lnTo>
                  <a:lnTo>
                    <a:pt x="4963753" y="2506868"/>
                  </a:lnTo>
                  <a:lnTo>
                    <a:pt x="4975463" y="2493650"/>
                  </a:lnTo>
                  <a:lnTo>
                    <a:pt x="4984901" y="2478725"/>
                  </a:lnTo>
                  <a:lnTo>
                    <a:pt x="4991823" y="2462479"/>
                  </a:lnTo>
                  <a:lnTo>
                    <a:pt x="4996049" y="2445333"/>
                  </a:lnTo>
                  <a:lnTo>
                    <a:pt x="4997470" y="2427731"/>
                  </a:lnTo>
                  <a:lnTo>
                    <a:pt x="4997470" y="109727"/>
                  </a:lnTo>
                  <a:lnTo>
                    <a:pt x="4996049" y="92126"/>
                  </a:lnTo>
                  <a:lnTo>
                    <a:pt x="4991823" y="74980"/>
                  </a:lnTo>
                  <a:lnTo>
                    <a:pt x="4984901" y="58734"/>
                  </a:lnTo>
                  <a:lnTo>
                    <a:pt x="4975463" y="43809"/>
                  </a:lnTo>
                  <a:lnTo>
                    <a:pt x="4963753" y="30591"/>
                  </a:lnTo>
                  <a:lnTo>
                    <a:pt x="4950074" y="19423"/>
                  </a:lnTo>
                  <a:lnTo>
                    <a:pt x="4934781" y="10594"/>
                  </a:lnTo>
                  <a:lnTo>
                    <a:pt x="4918270" y="4332"/>
                  </a:lnTo>
                  <a:lnTo>
                    <a:pt x="4900968" y="800"/>
                  </a:lnTo>
                  <a:lnTo>
                    <a:pt x="4887742" y="0"/>
                  </a:lnTo>
                  <a:lnTo>
                    <a:pt x="109727" y="0"/>
                  </a:lnTo>
                  <a:lnTo>
                    <a:pt x="122954" y="800"/>
                  </a:lnTo>
                  <a:lnTo>
                    <a:pt x="105309" y="88"/>
                  </a:lnTo>
                  <a:lnTo>
                    <a:pt x="87779" y="2217"/>
                  </a:lnTo>
                  <a:lnTo>
                    <a:pt x="70817" y="7130"/>
                  </a:lnTo>
                  <a:lnTo>
                    <a:pt x="54863" y="14700"/>
                  </a:lnTo>
                  <a:lnTo>
                    <a:pt x="40331" y="24732"/>
                  </a:lnTo>
                  <a:lnTo>
                    <a:pt x="27595" y="36964"/>
                  </a:lnTo>
                  <a:lnTo>
                    <a:pt x="16986" y="51082"/>
                  </a:lnTo>
                  <a:lnTo>
                    <a:pt x="8780" y="66718"/>
                  </a:lnTo>
                  <a:lnTo>
                    <a:pt x="3188" y="83468"/>
                  </a:lnTo>
                  <a:lnTo>
                    <a:pt x="355" y="100898"/>
                  </a:lnTo>
                  <a:lnTo>
                    <a:pt x="0" y="109727"/>
                  </a:lnTo>
                  <a:lnTo>
                    <a:pt x="0" y="2427731"/>
                  </a:lnTo>
                  <a:lnTo>
                    <a:pt x="355" y="2418902"/>
                  </a:lnTo>
                  <a:lnTo>
                    <a:pt x="355" y="2436561"/>
                  </a:lnTo>
                  <a:lnTo>
                    <a:pt x="3188" y="2453991"/>
                  </a:lnTo>
                  <a:lnTo>
                    <a:pt x="8780" y="2470741"/>
                  </a:lnTo>
                  <a:lnTo>
                    <a:pt x="16986" y="2486377"/>
                  </a:lnTo>
                  <a:lnTo>
                    <a:pt x="27595" y="2500495"/>
                  </a:lnTo>
                  <a:lnTo>
                    <a:pt x="40331" y="2512727"/>
                  </a:lnTo>
                  <a:lnTo>
                    <a:pt x="54863" y="2522759"/>
                  </a:lnTo>
                  <a:lnTo>
                    <a:pt x="70817" y="2530329"/>
                  </a:lnTo>
                  <a:lnTo>
                    <a:pt x="87779" y="2535242"/>
                  </a:lnTo>
                  <a:lnTo>
                    <a:pt x="105309" y="2537371"/>
                  </a:lnTo>
                  <a:close/>
                </a:path>
              </a:pathLst>
            </a:custGeom>
            <a:solidFill>
              <a:srgbClr val="FFF2F4">
                <a:alpha val="100000"/>
              </a:srgbClr>
            </a:solidFill>
            <a:ln w="13335" cap="rnd">
              <a:solidFill>
                <a:srgbClr val="F6DAD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tx12"/>
            <p:cNvSpPr/>
            <p:nvPr/>
          </p:nvSpPr>
          <p:spPr>
            <a:xfrm>
              <a:off x="7240237" y="4251959"/>
              <a:ext cx="4258635" cy="1546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700" i="0" b="1">
                  <a:solidFill>
                    <a:srgbClr val="654018">
                      <a:alpha val="100000"/>
                    </a:srgbClr>
                  </a:solidFill>
                  <a:latin typeface="Arial"/>
                  <a:cs typeface="Arial"/>
                </a:rPr>
                <a:t>FoxO signalling and metabolic processes</a:t>
              </a:r>
            </a:p>
          </p:txBody>
        </p:sp>
        <p:sp>
          <p:nvSpPr>
            <p:cNvPr id="13" name="tx13"/>
            <p:cNvSpPr/>
            <p:nvPr/>
          </p:nvSpPr>
          <p:spPr>
            <a:xfrm>
              <a:off x="73133" y="54863"/>
              <a:ext cx="220096" cy="2181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24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14" name="pl14"/>
            <p:cNvSpPr/>
            <p:nvPr/>
          </p:nvSpPr>
          <p:spPr>
            <a:xfrm>
              <a:off x="243779" y="4217670"/>
              <a:ext cx="670392" cy="0"/>
            </a:xfrm>
            <a:custGeom>
              <a:avLst/>
              <a:pathLst>
                <a:path w="670392" h="0">
                  <a:moveTo>
                    <a:pt x="0" y="0"/>
                  </a:moveTo>
                  <a:lnTo>
                    <a:pt x="670392" y="0"/>
                  </a:lnTo>
                </a:path>
              </a:pathLst>
            </a:custGeom>
            <a:ln w="19050" cap="rnd">
              <a:solidFill>
                <a:srgbClr val="91A2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43779" y="3943350"/>
              <a:ext cx="670392" cy="0"/>
            </a:xfrm>
            <a:custGeom>
              <a:avLst/>
              <a:pathLst>
                <a:path w="670392" h="0">
                  <a:moveTo>
                    <a:pt x="0" y="0"/>
                  </a:moveTo>
                  <a:lnTo>
                    <a:pt x="670392" y="0"/>
                  </a:lnTo>
                </a:path>
              </a:pathLst>
            </a:custGeom>
            <a:ln w="19050" cap="rnd">
              <a:solidFill>
                <a:srgbClr val="91A2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0909112" y="4629150"/>
              <a:ext cx="0" cy="411479"/>
            </a:xfrm>
            <a:custGeom>
              <a:avLst/>
              <a:pathLst>
                <a:path w="0" h="411479">
                  <a:moveTo>
                    <a:pt x="0" y="411479"/>
                  </a:moveTo>
                  <a:lnTo>
                    <a:pt x="0" y="0"/>
                  </a:lnTo>
                </a:path>
              </a:pathLst>
            </a:custGeom>
            <a:ln w="20955" cap="rnd">
              <a:solidFill>
                <a:srgbClr val="91A2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1396670" y="4629150"/>
              <a:ext cx="0" cy="411479"/>
            </a:xfrm>
            <a:custGeom>
              <a:avLst/>
              <a:pathLst>
                <a:path w="0" h="411479">
                  <a:moveTo>
                    <a:pt x="0" y="411479"/>
                  </a:moveTo>
                  <a:lnTo>
                    <a:pt x="0" y="0"/>
                  </a:lnTo>
                </a:path>
              </a:pathLst>
            </a:custGeom>
            <a:ln w="20955" cap="rnd">
              <a:solidFill>
                <a:srgbClr val="91A2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194517" y="1405889"/>
              <a:ext cx="280345" cy="171450"/>
            </a:xfrm>
            <a:custGeom>
              <a:avLst/>
              <a:pathLst>
                <a:path w="280345" h="171450">
                  <a:moveTo>
                    <a:pt x="0" y="0"/>
                  </a:moveTo>
                  <a:lnTo>
                    <a:pt x="280345" y="171450"/>
                  </a:lnTo>
                </a:path>
              </a:pathLst>
            </a:custGeom>
            <a:ln w="11906" cap="rnd">
              <a:solidFill>
                <a:srgbClr val="4545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397164" y="1509068"/>
              <a:ext cx="77699" cy="68271"/>
            </a:xfrm>
            <a:custGeom>
              <a:avLst/>
              <a:pathLst>
                <a:path w="77699" h="68271">
                  <a:moveTo>
                    <a:pt x="0" y="66307"/>
                  </a:moveTo>
                  <a:lnTo>
                    <a:pt x="77699" y="68271"/>
                  </a:lnTo>
                  <a:lnTo>
                    <a:pt x="40551" y="0"/>
                  </a:lnTo>
                  <a:close/>
                </a:path>
              </a:pathLst>
            </a:custGeom>
            <a:solidFill>
              <a:srgbClr val="454545">
                <a:alpha val="100000"/>
              </a:srgbClr>
            </a:solidFill>
            <a:ln w="11906" cap="rnd">
              <a:solidFill>
                <a:srgbClr val="4545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547490" y="1645920"/>
              <a:ext cx="487558" cy="0"/>
            </a:xfrm>
            <a:custGeom>
              <a:avLst/>
              <a:pathLst>
                <a:path w="487558" h="0">
                  <a:moveTo>
                    <a:pt x="0" y="0"/>
                  </a:moveTo>
                  <a:lnTo>
                    <a:pt x="487558" y="0"/>
                  </a:lnTo>
                </a:path>
              </a:pathLst>
            </a:custGeom>
            <a:ln w="11906" cap="rnd">
              <a:solidFill>
                <a:srgbClr val="4545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2967738" y="1607058"/>
              <a:ext cx="67310" cy="77724"/>
            </a:xfrm>
            <a:custGeom>
              <a:avLst/>
              <a:pathLst>
                <a:path w="67310" h="77724">
                  <a:moveTo>
                    <a:pt x="0" y="77724"/>
                  </a:moveTo>
                  <a:lnTo>
                    <a:pt x="67310" y="38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54545">
                <a:alpha val="100000"/>
              </a:srgbClr>
            </a:solidFill>
            <a:ln w="11906" cap="rnd">
              <a:solidFill>
                <a:srgbClr val="4545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668874" y="1645920"/>
              <a:ext cx="341290" cy="0"/>
            </a:xfrm>
            <a:custGeom>
              <a:avLst/>
              <a:pathLst>
                <a:path w="341290" h="0">
                  <a:moveTo>
                    <a:pt x="0" y="0"/>
                  </a:moveTo>
                  <a:lnTo>
                    <a:pt x="341290" y="0"/>
                  </a:lnTo>
                </a:path>
              </a:pathLst>
            </a:custGeom>
            <a:ln w="12858" cap="rnd">
              <a:solidFill>
                <a:srgbClr val="4545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083298" y="1591055"/>
              <a:ext cx="0" cy="109728"/>
            </a:xfrm>
            <a:custGeom>
              <a:avLst/>
              <a:pathLst>
                <a:path w="0" h="109728">
                  <a:moveTo>
                    <a:pt x="0" y="0"/>
                  </a:moveTo>
                  <a:lnTo>
                    <a:pt x="0" y="109728"/>
                  </a:lnTo>
                </a:path>
              </a:pathLst>
            </a:custGeom>
            <a:ln w="16192" cap="rnd">
              <a:solidFill>
                <a:srgbClr val="4545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656685" y="1495043"/>
              <a:ext cx="2047743" cy="177139"/>
            </a:xfrm>
            <a:custGeom>
              <a:avLst/>
              <a:pathLst>
                <a:path w="2047743" h="177139">
                  <a:moveTo>
                    <a:pt x="0" y="0"/>
                  </a:moveTo>
                  <a:lnTo>
                    <a:pt x="1211" y="266"/>
                  </a:lnTo>
                  <a:lnTo>
                    <a:pt x="9042" y="1989"/>
                  </a:lnTo>
                  <a:lnTo>
                    <a:pt x="28346" y="6236"/>
                  </a:lnTo>
                  <a:lnTo>
                    <a:pt x="61899" y="13617"/>
                  </a:lnTo>
                  <a:lnTo>
                    <a:pt x="110178" y="24239"/>
                  </a:lnTo>
                  <a:lnTo>
                    <a:pt x="171473" y="37724"/>
                  </a:lnTo>
                  <a:lnTo>
                    <a:pt x="242443" y="53337"/>
                  </a:lnTo>
                  <a:lnTo>
                    <a:pt x="318971" y="70173"/>
                  </a:lnTo>
                  <a:lnTo>
                    <a:pt x="397025" y="87345"/>
                  </a:lnTo>
                  <a:lnTo>
                    <a:pt x="473426" y="104107"/>
                  </a:lnTo>
                  <a:lnTo>
                    <a:pt x="547067" y="119827"/>
                  </a:lnTo>
                  <a:lnTo>
                    <a:pt x="617756" y="134020"/>
                  </a:lnTo>
                  <a:lnTo>
                    <a:pt x="685522" y="146367"/>
                  </a:lnTo>
                  <a:lnTo>
                    <a:pt x="750641" y="156693"/>
                  </a:lnTo>
                  <a:lnTo>
                    <a:pt x="813602" y="164915"/>
                  </a:lnTo>
                  <a:lnTo>
                    <a:pt x="875038" y="171014"/>
                  </a:lnTo>
                  <a:lnTo>
                    <a:pt x="935619" y="175005"/>
                  </a:lnTo>
                  <a:lnTo>
                    <a:pt x="995917" y="176929"/>
                  </a:lnTo>
                  <a:lnTo>
                    <a:pt x="1023871" y="177139"/>
                  </a:lnTo>
                  <a:lnTo>
                    <a:pt x="1084158" y="176150"/>
                  </a:lnTo>
                  <a:lnTo>
                    <a:pt x="1144550" y="173124"/>
                  </a:lnTo>
                  <a:lnTo>
                    <a:pt x="1205507" y="168006"/>
                  </a:lnTo>
                  <a:lnTo>
                    <a:pt x="1267678" y="160768"/>
                  </a:lnTo>
                  <a:lnTo>
                    <a:pt x="1331725" y="151413"/>
                  </a:lnTo>
                  <a:lnTo>
                    <a:pt x="1398215" y="139988"/>
                  </a:lnTo>
                  <a:lnTo>
                    <a:pt x="1467530" y="126620"/>
                  </a:lnTo>
                  <a:lnTo>
                    <a:pt x="1539814" y="111559"/>
                  </a:lnTo>
                  <a:lnTo>
                    <a:pt x="1614972" y="95208"/>
                  </a:lnTo>
                  <a:lnTo>
                    <a:pt x="1692549" y="78142"/>
                  </a:lnTo>
                  <a:lnTo>
                    <a:pt x="1770254" y="61047"/>
                  </a:lnTo>
                  <a:lnTo>
                    <a:pt x="1844326" y="44751"/>
                  </a:lnTo>
                  <a:lnTo>
                    <a:pt x="1910590" y="30173"/>
                  </a:lnTo>
                  <a:lnTo>
                    <a:pt x="1965233" y="18152"/>
                  </a:lnTo>
                  <a:lnTo>
                    <a:pt x="2005695" y="9250"/>
                  </a:lnTo>
                  <a:lnTo>
                    <a:pt x="2031397" y="3596"/>
                  </a:lnTo>
                  <a:lnTo>
                    <a:pt x="2044064" y="809"/>
                  </a:lnTo>
                  <a:lnTo>
                    <a:pt x="2047618" y="27"/>
                  </a:lnTo>
                  <a:lnTo>
                    <a:pt x="2047743" y="0"/>
                  </a:lnTo>
                </a:path>
              </a:pathLst>
            </a:custGeom>
            <a:ln w="9525" cap="rnd">
              <a:solidFill>
                <a:srgbClr val="454545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5639057" y="1474315"/>
              <a:ext cx="65372" cy="66978"/>
            </a:xfrm>
            <a:custGeom>
              <a:avLst/>
              <a:pathLst>
                <a:path w="65372" h="66978">
                  <a:moveTo>
                    <a:pt x="14735" y="66978"/>
                  </a:moveTo>
                  <a:lnTo>
                    <a:pt x="65372" y="20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54545">
                <a:alpha val="100000"/>
              </a:srgbClr>
            </a:solidFill>
            <a:ln w="9525" cap="rnd">
              <a:solidFill>
                <a:srgbClr val="454545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70392" y="3662172"/>
              <a:ext cx="341290" cy="233172"/>
            </a:xfrm>
            <a:custGeom>
              <a:avLst/>
              <a:pathLst>
                <a:path w="341290" h="233172">
                  <a:moveTo>
                    <a:pt x="0" y="0"/>
                  </a:moveTo>
                  <a:lnTo>
                    <a:pt x="341290" y="233172"/>
                  </a:lnTo>
                </a:path>
              </a:pathLst>
            </a:custGeom>
            <a:ln w="11906" cap="rnd">
              <a:solidFill>
                <a:srgbClr val="4545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934182" y="3825284"/>
              <a:ext cx="77501" cy="70059"/>
            </a:xfrm>
            <a:custGeom>
              <a:avLst/>
              <a:pathLst>
                <a:path w="77501" h="70059">
                  <a:moveTo>
                    <a:pt x="0" y="64176"/>
                  </a:moveTo>
                  <a:lnTo>
                    <a:pt x="77501" y="70059"/>
                  </a:lnTo>
                  <a:lnTo>
                    <a:pt x="43845" y="0"/>
                  </a:lnTo>
                  <a:close/>
                </a:path>
              </a:pathLst>
            </a:custGeom>
            <a:solidFill>
              <a:srgbClr val="454545">
                <a:alpha val="100000"/>
              </a:srgbClr>
            </a:solidFill>
            <a:ln w="11906" cap="rnd">
              <a:solidFill>
                <a:srgbClr val="4545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1438296" y="4080509"/>
              <a:ext cx="390046" cy="0"/>
            </a:xfrm>
            <a:custGeom>
              <a:avLst/>
              <a:pathLst>
                <a:path w="390046" h="0">
                  <a:moveTo>
                    <a:pt x="0" y="0"/>
                  </a:moveTo>
                  <a:lnTo>
                    <a:pt x="390046" y="0"/>
                  </a:lnTo>
                </a:path>
              </a:pathLst>
            </a:custGeom>
            <a:ln w="11906" cap="rnd">
              <a:solidFill>
                <a:srgbClr val="4545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1761031" y="4041647"/>
              <a:ext cx="67310" cy="77724"/>
            </a:xfrm>
            <a:custGeom>
              <a:avLst/>
              <a:pathLst>
                <a:path w="67310" h="77724">
                  <a:moveTo>
                    <a:pt x="0" y="77724"/>
                  </a:moveTo>
                  <a:lnTo>
                    <a:pt x="67310" y="38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54545">
                <a:alpha val="100000"/>
              </a:srgbClr>
            </a:solidFill>
            <a:ln w="11906" cap="rnd">
              <a:solidFill>
                <a:srgbClr val="4545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803458" y="4080509"/>
              <a:ext cx="304723" cy="0"/>
            </a:xfrm>
            <a:custGeom>
              <a:avLst/>
              <a:pathLst>
                <a:path w="304723" h="0">
                  <a:moveTo>
                    <a:pt x="0" y="0"/>
                  </a:moveTo>
                  <a:lnTo>
                    <a:pt x="304723" y="0"/>
                  </a:lnTo>
                </a:path>
              </a:pathLst>
            </a:custGeom>
            <a:ln w="11906" cap="rnd">
              <a:solidFill>
                <a:srgbClr val="4545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3040871" y="4041647"/>
              <a:ext cx="67310" cy="77724"/>
            </a:xfrm>
            <a:custGeom>
              <a:avLst/>
              <a:pathLst>
                <a:path w="67310" h="77724">
                  <a:moveTo>
                    <a:pt x="0" y="77724"/>
                  </a:moveTo>
                  <a:lnTo>
                    <a:pt x="67310" y="38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54545">
                <a:alpha val="100000"/>
              </a:srgbClr>
            </a:solidFill>
            <a:ln w="11906" cap="rnd">
              <a:solidFill>
                <a:srgbClr val="4545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327077" y="4080509"/>
              <a:ext cx="341290" cy="0"/>
            </a:xfrm>
            <a:custGeom>
              <a:avLst/>
              <a:pathLst>
                <a:path w="341290" h="0">
                  <a:moveTo>
                    <a:pt x="0" y="0"/>
                  </a:moveTo>
                  <a:lnTo>
                    <a:pt x="341290" y="0"/>
                  </a:lnTo>
                </a:path>
              </a:pathLst>
            </a:custGeom>
            <a:ln w="11906" cap="rnd">
              <a:solidFill>
                <a:srgbClr val="4545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4601057" y="4041647"/>
              <a:ext cx="67310" cy="77724"/>
            </a:xfrm>
            <a:custGeom>
              <a:avLst/>
              <a:pathLst>
                <a:path w="67310" h="77724">
                  <a:moveTo>
                    <a:pt x="0" y="77724"/>
                  </a:moveTo>
                  <a:lnTo>
                    <a:pt x="67310" y="38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54545">
                <a:alpha val="100000"/>
              </a:srgbClr>
            </a:solidFill>
            <a:ln w="11906" cap="rnd">
              <a:solidFill>
                <a:srgbClr val="4545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436272" y="4080509"/>
              <a:ext cx="365668" cy="0"/>
            </a:xfrm>
            <a:custGeom>
              <a:avLst/>
              <a:pathLst>
                <a:path w="365668" h="0">
                  <a:moveTo>
                    <a:pt x="0" y="0"/>
                  </a:moveTo>
                  <a:lnTo>
                    <a:pt x="365668" y="0"/>
                  </a:lnTo>
                </a:path>
              </a:pathLst>
            </a:custGeom>
            <a:ln w="11906" cap="rnd">
              <a:solidFill>
                <a:srgbClr val="4545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5734630" y="4041647"/>
              <a:ext cx="67310" cy="77724"/>
            </a:xfrm>
            <a:custGeom>
              <a:avLst/>
              <a:pathLst>
                <a:path w="67310" h="77724">
                  <a:moveTo>
                    <a:pt x="0" y="77724"/>
                  </a:moveTo>
                  <a:lnTo>
                    <a:pt x="67310" y="38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54545">
                <a:alpha val="100000"/>
              </a:srgbClr>
            </a:solidFill>
            <a:ln w="11906" cap="rnd">
              <a:solidFill>
                <a:srgbClr val="4545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6155420" y="2329507"/>
              <a:ext cx="951457" cy="1565836"/>
            </a:xfrm>
            <a:custGeom>
              <a:avLst/>
              <a:pathLst>
                <a:path w="951457" h="1565836">
                  <a:moveTo>
                    <a:pt x="0" y="1565836"/>
                  </a:moveTo>
                  <a:lnTo>
                    <a:pt x="951457" y="0"/>
                  </a:lnTo>
                </a:path>
              </a:pathLst>
            </a:custGeom>
            <a:ln w="12858" cap="rnd">
              <a:solidFill>
                <a:srgbClr val="4545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7038268" y="2272823"/>
              <a:ext cx="184536" cy="35496"/>
            </a:xfrm>
            <a:custGeom>
              <a:avLst/>
              <a:pathLst>
                <a:path w="184536" h="35496">
                  <a:moveTo>
                    <a:pt x="0" y="0"/>
                  </a:moveTo>
                  <a:lnTo>
                    <a:pt x="184536" y="35496"/>
                  </a:lnTo>
                </a:path>
              </a:pathLst>
            </a:custGeom>
            <a:ln w="16192" cap="rnd">
              <a:solidFill>
                <a:srgbClr val="4545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6508900" y="4149089"/>
              <a:ext cx="1321219" cy="988950"/>
            </a:xfrm>
            <a:custGeom>
              <a:avLst/>
              <a:pathLst>
                <a:path w="1321219" h="988950">
                  <a:moveTo>
                    <a:pt x="0" y="0"/>
                  </a:moveTo>
                  <a:lnTo>
                    <a:pt x="1321219" y="988950"/>
                  </a:lnTo>
                </a:path>
              </a:pathLst>
            </a:custGeom>
            <a:ln w="12858" cap="rnd">
              <a:solidFill>
                <a:srgbClr val="4545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7796116" y="5137966"/>
              <a:ext cx="155892" cy="65930"/>
            </a:xfrm>
            <a:custGeom>
              <a:avLst/>
              <a:pathLst>
                <a:path w="155892" h="65930">
                  <a:moveTo>
                    <a:pt x="155892" y="0"/>
                  </a:moveTo>
                  <a:lnTo>
                    <a:pt x="0" y="65930"/>
                  </a:lnTo>
                </a:path>
              </a:pathLst>
            </a:custGeom>
            <a:ln w="16192" cap="rnd">
              <a:solidFill>
                <a:srgbClr val="4545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7800929" y="2057400"/>
              <a:ext cx="36566" cy="0"/>
            </a:xfrm>
            <a:custGeom>
              <a:avLst/>
              <a:pathLst>
                <a:path w="36566" h="0">
                  <a:moveTo>
                    <a:pt x="0" y="0"/>
                  </a:moveTo>
                  <a:lnTo>
                    <a:pt x="36566" y="0"/>
                  </a:lnTo>
                </a:path>
              </a:pathLst>
            </a:custGeom>
            <a:ln w="12858" cap="rnd">
              <a:solidFill>
                <a:srgbClr val="4545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7910629" y="2002536"/>
              <a:ext cx="0" cy="109727"/>
            </a:xfrm>
            <a:custGeom>
              <a:avLst/>
              <a:pathLst>
                <a:path w="0" h="109727">
                  <a:moveTo>
                    <a:pt x="0" y="0"/>
                  </a:moveTo>
                  <a:lnTo>
                    <a:pt x="0" y="109727"/>
                  </a:lnTo>
                </a:path>
              </a:pathLst>
            </a:custGeom>
            <a:ln w="16192" cap="rnd">
              <a:solidFill>
                <a:srgbClr val="4545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8605400" y="2057400"/>
              <a:ext cx="243779" cy="0"/>
            </a:xfrm>
            <a:custGeom>
              <a:avLst/>
              <a:pathLst>
                <a:path w="243779" h="0">
                  <a:moveTo>
                    <a:pt x="0" y="0"/>
                  </a:moveTo>
                  <a:lnTo>
                    <a:pt x="243779" y="0"/>
                  </a:lnTo>
                </a:path>
              </a:pathLst>
            </a:custGeom>
            <a:ln w="11906" cap="rnd">
              <a:solidFill>
                <a:srgbClr val="4545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8781868" y="2018537"/>
              <a:ext cx="67310" cy="77724"/>
            </a:xfrm>
            <a:custGeom>
              <a:avLst/>
              <a:pathLst>
                <a:path w="67310" h="77724">
                  <a:moveTo>
                    <a:pt x="0" y="77724"/>
                  </a:moveTo>
                  <a:lnTo>
                    <a:pt x="67310" y="38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54545">
                <a:alpha val="100000"/>
              </a:srgbClr>
            </a:solidFill>
            <a:ln w="11906" cap="rnd">
              <a:solidFill>
                <a:srgbClr val="4545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9483004" y="2057400"/>
              <a:ext cx="255967" cy="0"/>
            </a:xfrm>
            <a:custGeom>
              <a:avLst/>
              <a:pathLst>
                <a:path w="255967" h="0">
                  <a:moveTo>
                    <a:pt x="0" y="0"/>
                  </a:moveTo>
                  <a:lnTo>
                    <a:pt x="255967" y="0"/>
                  </a:lnTo>
                </a:path>
              </a:pathLst>
            </a:custGeom>
            <a:ln w="11906" cap="rnd">
              <a:solidFill>
                <a:srgbClr val="4545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9671661" y="2018537"/>
              <a:ext cx="67310" cy="77724"/>
            </a:xfrm>
            <a:custGeom>
              <a:avLst/>
              <a:pathLst>
                <a:path w="67310" h="77724">
                  <a:moveTo>
                    <a:pt x="0" y="77724"/>
                  </a:moveTo>
                  <a:lnTo>
                    <a:pt x="67310" y="38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54545">
                <a:alpha val="100000"/>
              </a:srgbClr>
            </a:solidFill>
            <a:ln w="11906" cap="rnd">
              <a:solidFill>
                <a:srgbClr val="4545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0372798" y="2057400"/>
              <a:ext cx="646014" cy="0"/>
            </a:xfrm>
            <a:custGeom>
              <a:avLst/>
              <a:pathLst>
                <a:path w="646014" h="0">
                  <a:moveTo>
                    <a:pt x="0" y="0"/>
                  </a:moveTo>
                  <a:lnTo>
                    <a:pt x="646014" y="0"/>
                  </a:lnTo>
                </a:path>
              </a:pathLst>
            </a:custGeom>
            <a:ln w="11906" cap="rnd">
              <a:solidFill>
                <a:srgbClr val="4545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10951501" y="2018537"/>
              <a:ext cx="67310" cy="77724"/>
            </a:xfrm>
            <a:custGeom>
              <a:avLst/>
              <a:pathLst>
                <a:path w="67310" h="77724">
                  <a:moveTo>
                    <a:pt x="0" y="77724"/>
                  </a:moveTo>
                  <a:lnTo>
                    <a:pt x="67310" y="38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54545">
                <a:alpha val="100000"/>
              </a:srgbClr>
            </a:solidFill>
            <a:ln w="11906" cap="rnd">
              <a:solidFill>
                <a:srgbClr val="4545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9166091" y="2221991"/>
              <a:ext cx="65608" cy="356834"/>
            </a:xfrm>
            <a:custGeom>
              <a:avLst/>
              <a:pathLst>
                <a:path w="65608" h="356834">
                  <a:moveTo>
                    <a:pt x="0" y="0"/>
                  </a:moveTo>
                  <a:lnTo>
                    <a:pt x="65608" y="356834"/>
                  </a:lnTo>
                </a:path>
              </a:pathLst>
            </a:custGeom>
            <a:ln w="12858" cap="rnd">
              <a:solidFill>
                <a:srgbClr val="4545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9142231" y="2614110"/>
              <a:ext cx="193988" cy="11290"/>
            </a:xfrm>
            <a:custGeom>
              <a:avLst/>
              <a:pathLst>
                <a:path w="193988" h="11290">
                  <a:moveTo>
                    <a:pt x="193988" y="0"/>
                  </a:moveTo>
                  <a:lnTo>
                    <a:pt x="0" y="11290"/>
                  </a:lnTo>
                </a:path>
              </a:pathLst>
            </a:custGeom>
            <a:ln w="16192" cap="rnd">
              <a:solidFill>
                <a:srgbClr val="4545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9385493" y="3017519"/>
              <a:ext cx="0" cy="109727"/>
            </a:xfrm>
            <a:custGeom>
              <a:avLst/>
              <a:pathLst>
                <a:path w="0" h="109727">
                  <a:moveTo>
                    <a:pt x="0" y="0"/>
                  </a:moveTo>
                  <a:lnTo>
                    <a:pt x="0" y="109727"/>
                  </a:lnTo>
                </a:path>
              </a:pathLst>
            </a:custGeom>
            <a:ln w="12858" cap="rnd">
              <a:solidFill>
                <a:srgbClr val="4545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9287981" y="3168395"/>
              <a:ext cx="195023" cy="0"/>
            </a:xfrm>
            <a:custGeom>
              <a:avLst/>
              <a:pathLst>
                <a:path w="195023" h="0">
                  <a:moveTo>
                    <a:pt x="195023" y="0"/>
                  </a:moveTo>
                  <a:lnTo>
                    <a:pt x="0" y="0"/>
                  </a:lnTo>
                </a:path>
              </a:pathLst>
            </a:custGeom>
            <a:ln w="16192" cap="rnd">
              <a:solidFill>
                <a:srgbClr val="4545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9751161" y="2228850"/>
              <a:ext cx="1267651" cy="1165859"/>
            </a:xfrm>
            <a:custGeom>
              <a:avLst/>
              <a:pathLst>
                <a:path w="1267651" h="1165859">
                  <a:moveTo>
                    <a:pt x="0" y="1165859"/>
                  </a:moveTo>
                  <a:lnTo>
                    <a:pt x="791" y="1164773"/>
                  </a:lnTo>
                  <a:lnTo>
                    <a:pt x="5867" y="1157809"/>
                  </a:lnTo>
                  <a:lnTo>
                    <a:pt x="18237" y="1140836"/>
                  </a:lnTo>
                  <a:lnTo>
                    <a:pt x="39384" y="1111821"/>
                  </a:lnTo>
                  <a:lnTo>
                    <a:pt x="69141" y="1070991"/>
                  </a:lnTo>
                  <a:lnTo>
                    <a:pt x="105894" y="1020564"/>
                  </a:lnTo>
                  <a:lnTo>
                    <a:pt x="147127" y="963988"/>
                  </a:lnTo>
                  <a:lnTo>
                    <a:pt x="190120" y="904999"/>
                  </a:lnTo>
                  <a:lnTo>
                    <a:pt x="232560" y="846795"/>
                  </a:lnTo>
                  <a:lnTo>
                    <a:pt x="273605" y="791035"/>
                  </a:lnTo>
                  <a:lnTo>
                    <a:pt x="313401" y="738272"/>
                  </a:lnTo>
                  <a:lnTo>
                    <a:pt x="352182" y="688725"/>
                  </a:lnTo>
                  <a:lnTo>
                    <a:pt x="390297" y="642309"/>
                  </a:lnTo>
                  <a:lnTo>
                    <a:pt x="428208" y="598694"/>
                  </a:lnTo>
                  <a:lnTo>
                    <a:pt x="466442" y="557406"/>
                  </a:lnTo>
                  <a:lnTo>
                    <a:pt x="505512" y="517946"/>
                  </a:lnTo>
                  <a:lnTo>
                    <a:pt x="542141" y="483240"/>
                  </a:lnTo>
                  <a:lnTo>
                    <a:pt x="583498" y="446431"/>
                  </a:lnTo>
                  <a:lnTo>
                    <a:pt x="626219" y="410896"/>
                  </a:lnTo>
                  <a:lnTo>
                    <a:pt x="670736" y="376309"/>
                  </a:lnTo>
                  <a:lnTo>
                    <a:pt x="717594" y="342195"/>
                  </a:lnTo>
                  <a:lnTo>
                    <a:pt x="767301" y="308070"/>
                  </a:lnTo>
                  <a:lnTo>
                    <a:pt x="820204" y="273509"/>
                  </a:lnTo>
                  <a:lnTo>
                    <a:pt x="876394" y="238179"/>
                  </a:lnTo>
                  <a:lnTo>
                    <a:pt x="935640" y="201835"/>
                  </a:lnTo>
                  <a:lnTo>
                    <a:pt x="997359" y="164306"/>
                  </a:lnTo>
                  <a:lnTo>
                    <a:pt x="1059657" y="126436"/>
                  </a:lnTo>
                  <a:lnTo>
                    <a:pt x="1119064" y="90323"/>
                  </a:lnTo>
                  <a:lnTo>
                    <a:pt x="1171620" y="58375"/>
                  </a:lnTo>
                  <a:lnTo>
                    <a:pt x="1213754" y="32762"/>
                  </a:lnTo>
                  <a:lnTo>
                    <a:pt x="1243281" y="14814"/>
                  </a:lnTo>
                  <a:lnTo>
                    <a:pt x="1260168" y="4548"/>
                  </a:lnTo>
                  <a:lnTo>
                    <a:pt x="1266775" y="532"/>
                  </a:lnTo>
                  <a:lnTo>
                    <a:pt x="1267651" y="0"/>
                  </a:lnTo>
                </a:path>
              </a:pathLst>
            </a:custGeom>
            <a:ln w="9525" cap="rnd">
              <a:solidFill>
                <a:srgbClr val="4545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10950250" y="2228850"/>
              <a:ext cx="68562" cy="60151"/>
            </a:xfrm>
            <a:custGeom>
              <a:avLst/>
              <a:pathLst>
                <a:path w="68562" h="60151">
                  <a:moveTo>
                    <a:pt x="35623" y="60151"/>
                  </a:moveTo>
                  <a:lnTo>
                    <a:pt x="68562" y="0"/>
                  </a:lnTo>
                  <a:lnTo>
                    <a:pt x="0" y="1549"/>
                  </a:lnTo>
                  <a:close/>
                </a:path>
              </a:pathLst>
            </a:custGeom>
            <a:solidFill>
              <a:srgbClr val="454545">
                <a:alpha val="100000"/>
              </a:srgbClr>
            </a:solidFill>
            <a:ln w="9525" cap="rnd">
              <a:solidFill>
                <a:srgbClr val="4545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8532266" y="1186434"/>
              <a:ext cx="585069" cy="706374"/>
            </a:xfrm>
            <a:custGeom>
              <a:avLst/>
              <a:pathLst>
                <a:path w="585069" h="706374">
                  <a:moveTo>
                    <a:pt x="0" y="0"/>
                  </a:moveTo>
                  <a:lnTo>
                    <a:pt x="1027" y="1463"/>
                  </a:lnTo>
                  <a:lnTo>
                    <a:pt x="7367" y="10498"/>
                  </a:lnTo>
                  <a:lnTo>
                    <a:pt x="21889" y="31191"/>
                  </a:lnTo>
                  <a:lnTo>
                    <a:pt x="44519" y="63439"/>
                  </a:lnTo>
                  <a:lnTo>
                    <a:pt x="72715" y="103617"/>
                  </a:lnTo>
                  <a:lnTo>
                    <a:pt x="102930" y="146672"/>
                  </a:lnTo>
                  <a:lnTo>
                    <a:pt x="132323" y="188496"/>
                  </a:lnTo>
                  <a:lnTo>
                    <a:pt x="160234" y="227778"/>
                  </a:lnTo>
                  <a:lnTo>
                    <a:pt x="186797" y="264373"/>
                  </a:lnTo>
                  <a:lnTo>
                    <a:pt x="212403" y="298619"/>
                  </a:lnTo>
                  <a:lnTo>
                    <a:pt x="237643" y="331200"/>
                  </a:lnTo>
                  <a:lnTo>
                    <a:pt x="263125" y="362867"/>
                  </a:lnTo>
                  <a:lnTo>
                    <a:pt x="270314" y="371591"/>
                  </a:lnTo>
                  <a:lnTo>
                    <a:pt x="296504" y="402635"/>
                  </a:lnTo>
                  <a:lnTo>
                    <a:pt x="323494" y="433452"/>
                  </a:lnTo>
                  <a:lnTo>
                    <a:pt x="351872" y="464723"/>
                  </a:lnTo>
                  <a:lnTo>
                    <a:pt x="382245" y="497194"/>
                  </a:lnTo>
                  <a:lnTo>
                    <a:pt x="414976" y="531399"/>
                  </a:lnTo>
                  <a:lnTo>
                    <a:pt x="450018" y="567535"/>
                  </a:lnTo>
                  <a:lnTo>
                    <a:pt x="486660" y="605205"/>
                  </a:lnTo>
                  <a:lnTo>
                    <a:pt x="522002" y="641538"/>
                  </a:lnTo>
                  <a:lnTo>
                    <a:pt x="551753" y="672123"/>
                  </a:lnTo>
                  <a:lnTo>
                    <a:pt x="572280" y="693226"/>
                  </a:lnTo>
                  <a:lnTo>
                    <a:pt x="582540" y="703773"/>
                  </a:lnTo>
                  <a:lnTo>
                    <a:pt x="585040" y="706344"/>
                  </a:lnTo>
                  <a:lnTo>
                    <a:pt x="585069" y="706374"/>
                  </a:lnTo>
                </a:path>
              </a:pathLst>
            </a:custGeom>
            <a:ln w="9525" cap="rnd">
              <a:solidFill>
                <a:srgbClr val="454545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9051344" y="1826325"/>
              <a:ext cx="65991" cy="66482"/>
            </a:xfrm>
            <a:custGeom>
              <a:avLst/>
              <a:pathLst>
                <a:path w="65991" h="66482">
                  <a:moveTo>
                    <a:pt x="0" y="47818"/>
                  </a:moveTo>
                  <a:lnTo>
                    <a:pt x="65991" y="66482"/>
                  </a:lnTo>
                  <a:lnTo>
                    <a:pt x="49159" y="0"/>
                  </a:lnTo>
                  <a:close/>
                </a:path>
              </a:pathLst>
            </a:custGeom>
            <a:solidFill>
              <a:srgbClr val="454545">
                <a:alpha val="100000"/>
              </a:srgbClr>
            </a:solidFill>
            <a:ln w="9525" cap="rnd">
              <a:solidFill>
                <a:srgbClr val="454545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363138" y="1755647"/>
              <a:ext cx="1584563" cy="370332"/>
            </a:xfrm>
            <a:custGeom>
              <a:avLst/>
              <a:pathLst>
                <a:path w="1584563" h="370332">
                  <a:moveTo>
                    <a:pt x="0" y="0"/>
                  </a:moveTo>
                  <a:lnTo>
                    <a:pt x="1369" y="151"/>
                  </a:lnTo>
                  <a:lnTo>
                    <a:pt x="10126" y="1120"/>
                  </a:lnTo>
                  <a:lnTo>
                    <a:pt x="31365" y="3469"/>
                  </a:lnTo>
                  <a:lnTo>
                    <a:pt x="67426" y="7458"/>
                  </a:lnTo>
                  <a:lnTo>
                    <a:pt x="117704" y="13019"/>
                  </a:lnTo>
                  <a:lnTo>
                    <a:pt x="179105" y="19810"/>
                  </a:lnTo>
                  <a:lnTo>
                    <a:pt x="247124" y="27334"/>
                  </a:lnTo>
                  <a:lnTo>
                    <a:pt x="317113" y="35076"/>
                  </a:lnTo>
                  <a:lnTo>
                    <a:pt x="385436" y="42666"/>
                  </a:lnTo>
                  <a:lnTo>
                    <a:pt x="450867" y="50216"/>
                  </a:lnTo>
                  <a:lnTo>
                    <a:pt x="513178" y="57957"/>
                  </a:lnTo>
                  <a:lnTo>
                    <a:pt x="572459" y="66081"/>
                  </a:lnTo>
                  <a:lnTo>
                    <a:pt x="629112" y="74765"/>
                  </a:lnTo>
                  <a:lnTo>
                    <a:pt x="683778" y="84184"/>
                  </a:lnTo>
                  <a:lnTo>
                    <a:pt x="737198" y="94508"/>
                  </a:lnTo>
                  <a:lnTo>
                    <a:pt x="790034" y="105867"/>
                  </a:lnTo>
                  <a:lnTo>
                    <a:pt x="809755" y="110399"/>
                  </a:lnTo>
                  <a:lnTo>
                    <a:pt x="862234" y="123225"/>
                  </a:lnTo>
                  <a:lnTo>
                    <a:pt x="914608" y="137183"/>
                  </a:lnTo>
                  <a:lnTo>
                    <a:pt x="967431" y="152436"/>
                  </a:lnTo>
                  <a:lnTo>
                    <a:pt x="1021436" y="169166"/>
                  </a:lnTo>
                  <a:lnTo>
                    <a:pt x="1077322" y="187525"/>
                  </a:lnTo>
                  <a:lnTo>
                    <a:pt x="1135621" y="207577"/>
                  </a:lnTo>
                  <a:lnTo>
                    <a:pt x="1196604" y="229254"/>
                  </a:lnTo>
                  <a:lnTo>
                    <a:pt x="1260262" y="252313"/>
                  </a:lnTo>
                  <a:lnTo>
                    <a:pt x="1326138" y="276286"/>
                  </a:lnTo>
                  <a:lnTo>
                    <a:pt x="1391632" y="300120"/>
                  </a:lnTo>
                  <a:lnTo>
                    <a:pt x="1452558" y="322292"/>
                  </a:lnTo>
                  <a:lnTo>
                    <a:pt x="1504472" y="341185"/>
                  </a:lnTo>
                  <a:lnTo>
                    <a:pt x="1543810" y="355501"/>
                  </a:lnTo>
                  <a:lnTo>
                    <a:pt x="1569030" y="364679"/>
                  </a:lnTo>
                  <a:lnTo>
                    <a:pt x="1581297" y="369143"/>
                  </a:lnTo>
                  <a:lnTo>
                    <a:pt x="1584492" y="370305"/>
                  </a:lnTo>
                  <a:lnTo>
                    <a:pt x="1584563" y="370332"/>
                  </a:lnTo>
                </a:path>
              </a:pathLst>
            </a:custGeom>
            <a:ln w="9525" cap="rnd">
              <a:solidFill>
                <a:srgbClr val="454545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880165" y="2073446"/>
              <a:ext cx="67537" cy="64445"/>
            </a:xfrm>
            <a:custGeom>
              <a:avLst/>
              <a:pathLst>
                <a:path w="67537" h="64445">
                  <a:moveTo>
                    <a:pt x="0" y="64445"/>
                  </a:moveTo>
                  <a:lnTo>
                    <a:pt x="67537" y="52533"/>
                  </a:lnTo>
                  <a:lnTo>
                    <a:pt x="23452" y="0"/>
                  </a:lnTo>
                  <a:close/>
                </a:path>
              </a:pathLst>
            </a:custGeom>
            <a:solidFill>
              <a:srgbClr val="454545">
                <a:alpha val="100000"/>
              </a:srgbClr>
            </a:solidFill>
            <a:ln w="9525" cap="rnd">
              <a:solidFill>
                <a:srgbClr val="454545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241249" y="1817370"/>
              <a:ext cx="2827836" cy="3257549"/>
            </a:xfrm>
            <a:custGeom>
              <a:avLst/>
              <a:pathLst>
                <a:path w="2827836" h="3257549">
                  <a:moveTo>
                    <a:pt x="0" y="0"/>
                  </a:moveTo>
                  <a:lnTo>
                    <a:pt x="446" y="750"/>
                  </a:lnTo>
                  <a:lnTo>
                    <a:pt x="3404" y="5721"/>
                  </a:lnTo>
                  <a:lnTo>
                    <a:pt x="10948" y="18398"/>
                  </a:lnTo>
                  <a:lnTo>
                    <a:pt x="24673" y="41461"/>
                  </a:lnTo>
                  <a:lnTo>
                    <a:pt x="45652" y="76713"/>
                  </a:lnTo>
                  <a:lnTo>
                    <a:pt x="74387" y="125000"/>
                  </a:lnTo>
                  <a:lnTo>
                    <a:pt x="110799" y="186186"/>
                  </a:lnTo>
                  <a:lnTo>
                    <a:pt x="154265" y="259226"/>
                  </a:lnTo>
                  <a:lnTo>
                    <a:pt x="203718" y="342326"/>
                  </a:lnTo>
                  <a:lnTo>
                    <a:pt x="257789" y="433186"/>
                  </a:lnTo>
                  <a:lnTo>
                    <a:pt x="314966" y="529267"/>
                  </a:lnTo>
                  <a:lnTo>
                    <a:pt x="373748" y="628043"/>
                  </a:lnTo>
                  <a:lnTo>
                    <a:pt x="432758" y="727203"/>
                  </a:lnTo>
                  <a:lnTo>
                    <a:pt x="490875" y="824834"/>
                  </a:lnTo>
                  <a:lnTo>
                    <a:pt x="547767" y="919989"/>
                  </a:lnTo>
                  <a:lnTo>
                    <a:pt x="603549" y="1012303"/>
                  </a:lnTo>
                  <a:lnTo>
                    <a:pt x="658342" y="1101528"/>
                  </a:lnTo>
                  <a:lnTo>
                    <a:pt x="712289" y="1187541"/>
                  </a:lnTo>
                  <a:lnTo>
                    <a:pt x="765568" y="1270350"/>
                  </a:lnTo>
                  <a:lnTo>
                    <a:pt x="818397" y="1350081"/>
                  </a:lnTo>
                  <a:lnTo>
                    <a:pt x="871034" y="1426960"/>
                  </a:lnTo>
                  <a:lnTo>
                    <a:pt x="923764" y="1501289"/>
                  </a:lnTo>
                  <a:lnTo>
                    <a:pt x="976893" y="1573413"/>
                  </a:lnTo>
                  <a:lnTo>
                    <a:pt x="1030723" y="1643696"/>
                  </a:lnTo>
                  <a:lnTo>
                    <a:pt x="1085525" y="1712478"/>
                  </a:lnTo>
                  <a:lnTo>
                    <a:pt x="1141499" y="1780037"/>
                  </a:lnTo>
                  <a:lnTo>
                    <a:pt x="1183359" y="1828919"/>
                  </a:lnTo>
                  <a:lnTo>
                    <a:pt x="1241471" y="1894629"/>
                  </a:lnTo>
                  <a:lnTo>
                    <a:pt x="1300841" y="1959261"/>
                  </a:lnTo>
                  <a:lnTo>
                    <a:pt x="1361645" y="2022957"/>
                  </a:lnTo>
                  <a:lnTo>
                    <a:pt x="1424147" y="2085981"/>
                  </a:lnTo>
                  <a:lnTo>
                    <a:pt x="1488655" y="2148661"/>
                  </a:lnTo>
                  <a:lnTo>
                    <a:pt x="1555484" y="2211350"/>
                  </a:lnTo>
                  <a:lnTo>
                    <a:pt x="1624926" y="2274395"/>
                  </a:lnTo>
                  <a:lnTo>
                    <a:pt x="1697222" y="2338113"/>
                  </a:lnTo>
                  <a:lnTo>
                    <a:pt x="1772536" y="2402776"/>
                  </a:lnTo>
                  <a:lnTo>
                    <a:pt x="1850937" y="2468603"/>
                  </a:lnTo>
                  <a:lnTo>
                    <a:pt x="1932373" y="2535756"/>
                  </a:lnTo>
                  <a:lnTo>
                    <a:pt x="2016670" y="2604349"/>
                  </a:lnTo>
                  <a:lnTo>
                    <a:pt x="2103535" y="2674459"/>
                  </a:lnTo>
                  <a:lnTo>
                    <a:pt x="2192531" y="2746108"/>
                  </a:lnTo>
                  <a:lnTo>
                    <a:pt x="2282511" y="2818544"/>
                  </a:lnTo>
                  <a:lnTo>
                    <a:pt x="2371610" y="2890273"/>
                  </a:lnTo>
                  <a:lnTo>
                    <a:pt x="2457670" y="2959554"/>
                  </a:lnTo>
                  <a:lnTo>
                    <a:pt x="2538377" y="3024526"/>
                  </a:lnTo>
                  <a:lnTo>
                    <a:pt x="2611463" y="3083362"/>
                  </a:lnTo>
                  <a:lnTo>
                    <a:pt x="2674943" y="3134465"/>
                  </a:lnTo>
                  <a:lnTo>
                    <a:pt x="2727351" y="3176656"/>
                  </a:lnTo>
                  <a:lnTo>
                    <a:pt x="2767949" y="3209338"/>
                  </a:lnTo>
                  <a:lnTo>
                    <a:pt x="2796849" y="3232604"/>
                  </a:lnTo>
                  <a:lnTo>
                    <a:pt x="2815053" y="3247259"/>
                  </a:lnTo>
                  <a:lnTo>
                    <a:pt x="2824415" y="3254795"/>
                  </a:lnTo>
                  <a:lnTo>
                    <a:pt x="2827564" y="3257330"/>
                  </a:lnTo>
                  <a:lnTo>
                    <a:pt x="2827836" y="3257549"/>
                  </a:lnTo>
                </a:path>
              </a:pathLst>
            </a:custGeom>
            <a:ln w="9525" cap="rnd">
              <a:solidFill>
                <a:srgbClr val="454545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8001319" y="5010966"/>
              <a:ext cx="67766" cy="63953"/>
            </a:xfrm>
            <a:custGeom>
              <a:avLst/>
              <a:pathLst>
                <a:path w="67766" h="63953">
                  <a:moveTo>
                    <a:pt x="0" y="53420"/>
                  </a:moveTo>
                  <a:lnTo>
                    <a:pt x="67766" y="63953"/>
                  </a:lnTo>
                  <a:lnTo>
                    <a:pt x="43005" y="0"/>
                  </a:lnTo>
                  <a:close/>
                </a:path>
              </a:pathLst>
            </a:custGeom>
            <a:solidFill>
              <a:srgbClr val="454545">
                <a:alpha val="100000"/>
              </a:srgbClr>
            </a:solidFill>
            <a:ln w="9525" cap="rnd">
              <a:solidFill>
                <a:srgbClr val="454545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6155420" y="1824227"/>
              <a:ext cx="2254956" cy="3250691"/>
            </a:xfrm>
            <a:custGeom>
              <a:avLst/>
              <a:pathLst>
                <a:path w="2254956" h="3250691">
                  <a:moveTo>
                    <a:pt x="0" y="0"/>
                  </a:moveTo>
                  <a:lnTo>
                    <a:pt x="616" y="668"/>
                  </a:lnTo>
                  <a:lnTo>
                    <a:pt x="4693" y="5083"/>
                  </a:lnTo>
                  <a:lnTo>
                    <a:pt x="15056" y="16306"/>
                  </a:lnTo>
                  <a:lnTo>
                    <a:pt x="33834" y="36642"/>
                  </a:lnTo>
                  <a:lnTo>
                    <a:pt x="62386" y="67565"/>
                  </a:lnTo>
                  <a:lnTo>
                    <a:pt x="101242" y="109646"/>
                  </a:lnTo>
                  <a:lnTo>
                    <a:pt x="150091" y="162549"/>
                  </a:lnTo>
                  <a:lnTo>
                    <a:pt x="207870" y="225124"/>
                  </a:lnTo>
                  <a:lnTo>
                    <a:pt x="272935" y="295590"/>
                  </a:lnTo>
                  <a:lnTo>
                    <a:pt x="343290" y="371785"/>
                  </a:lnTo>
                  <a:lnTo>
                    <a:pt x="416825" y="451423"/>
                  </a:lnTo>
                  <a:lnTo>
                    <a:pt x="491530" y="532329"/>
                  </a:lnTo>
                  <a:lnTo>
                    <a:pt x="565646" y="612598"/>
                  </a:lnTo>
                  <a:lnTo>
                    <a:pt x="637999" y="691082"/>
                  </a:lnTo>
                  <a:lnTo>
                    <a:pt x="708155" y="767653"/>
                  </a:lnTo>
                  <a:lnTo>
                    <a:pt x="775843" y="842321"/>
                  </a:lnTo>
                  <a:lnTo>
                    <a:pt x="840907" y="915156"/>
                  </a:lnTo>
                  <a:lnTo>
                    <a:pt x="903306" y="986304"/>
                  </a:lnTo>
                  <a:lnTo>
                    <a:pt x="963112" y="1055996"/>
                  </a:lnTo>
                  <a:lnTo>
                    <a:pt x="1020483" y="1124534"/>
                  </a:lnTo>
                  <a:lnTo>
                    <a:pt x="1075651" y="1192283"/>
                  </a:lnTo>
                  <a:lnTo>
                    <a:pt x="1128888" y="1259641"/>
                  </a:lnTo>
                  <a:lnTo>
                    <a:pt x="1180483" y="1327009"/>
                  </a:lnTo>
                  <a:lnTo>
                    <a:pt x="1230707" y="1394751"/>
                  </a:lnTo>
                  <a:lnTo>
                    <a:pt x="1279777" y="1463137"/>
                  </a:lnTo>
                  <a:lnTo>
                    <a:pt x="1306423" y="1501213"/>
                  </a:lnTo>
                  <a:lnTo>
                    <a:pt x="1353877" y="1570729"/>
                  </a:lnTo>
                  <a:lnTo>
                    <a:pt x="1400277" y="1640998"/>
                  </a:lnTo>
                  <a:lnTo>
                    <a:pt x="1445738" y="1712241"/>
                  </a:lnTo>
                  <a:lnTo>
                    <a:pt x="1490472" y="1784801"/>
                  </a:lnTo>
                  <a:lnTo>
                    <a:pt x="1534742" y="1859079"/>
                  </a:lnTo>
                  <a:lnTo>
                    <a:pt x="1578829" y="1935483"/>
                  </a:lnTo>
                  <a:lnTo>
                    <a:pt x="1623002" y="2014391"/>
                  </a:lnTo>
                  <a:lnTo>
                    <a:pt x="1667510" y="2096109"/>
                  </a:lnTo>
                  <a:lnTo>
                    <a:pt x="1712564" y="2180847"/>
                  </a:lnTo>
                  <a:lnTo>
                    <a:pt x="1758336" y="2268695"/>
                  </a:lnTo>
                  <a:lnTo>
                    <a:pt x="1804964" y="2359606"/>
                  </a:lnTo>
                  <a:lnTo>
                    <a:pt x="1852557" y="2453396"/>
                  </a:lnTo>
                  <a:lnTo>
                    <a:pt x="1901219" y="2549768"/>
                  </a:lnTo>
                  <a:lnTo>
                    <a:pt x="1950748" y="2647910"/>
                  </a:lnTo>
                  <a:lnTo>
                    <a:pt x="2000171" y="2745840"/>
                  </a:lnTo>
                  <a:lnTo>
                    <a:pt x="2048234" y="2841077"/>
                  </a:lnTo>
                  <a:lnTo>
                    <a:pt x="2093559" y="2930887"/>
                  </a:lnTo>
                  <a:lnTo>
                    <a:pt x="2134758" y="3012521"/>
                  </a:lnTo>
                  <a:lnTo>
                    <a:pt x="2170590" y="3083522"/>
                  </a:lnTo>
                  <a:lnTo>
                    <a:pt x="2200119" y="3142035"/>
                  </a:lnTo>
                  <a:lnTo>
                    <a:pt x="2222853" y="3187081"/>
                  </a:lnTo>
                  <a:lnTo>
                    <a:pt x="2238832" y="3218742"/>
                  </a:lnTo>
                  <a:lnTo>
                    <a:pt x="2248656" y="3238209"/>
                  </a:lnTo>
                  <a:lnTo>
                    <a:pt x="2253466" y="3247739"/>
                  </a:lnTo>
                  <a:lnTo>
                    <a:pt x="2254885" y="3250552"/>
                  </a:lnTo>
                  <a:lnTo>
                    <a:pt x="2254956" y="3250691"/>
                  </a:lnTo>
                </a:path>
              </a:pathLst>
            </a:custGeom>
            <a:ln w="9525" cap="rnd">
              <a:solidFill>
                <a:srgbClr val="454545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8353005" y="5006448"/>
              <a:ext cx="61224" cy="68471"/>
            </a:xfrm>
            <a:custGeom>
              <a:avLst/>
              <a:pathLst>
                <a:path w="61224" h="68471">
                  <a:moveTo>
                    <a:pt x="0" y="30898"/>
                  </a:moveTo>
                  <a:lnTo>
                    <a:pt x="57371" y="68471"/>
                  </a:lnTo>
                  <a:lnTo>
                    <a:pt x="61224" y="0"/>
                  </a:lnTo>
                  <a:close/>
                </a:path>
              </a:pathLst>
            </a:custGeom>
            <a:solidFill>
              <a:srgbClr val="454545">
                <a:alpha val="100000"/>
              </a:srgbClr>
            </a:solidFill>
            <a:ln w="9525" cap="rnd">
              <a:solidFill>
                <a:srgbClr val="454545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7715606" y="5452109"/>
              <a:ext cx="207212" cy="192024"/>
            </a:xfrm>
            <a:custGeom>
              <a:avLst/>
              <a:pathLst>
                <a:path w="207212" h="192024">
                  <a:moveTo>
                    <a:pt x="0" y="192024"/>
                  </a:moveTo>
                  <a:lnTo>
                    <a:pt x="207212" y="0"/>
                  </a:lnTo>
                </a:path>
              </a:pathLst>
            </a:custGeom>
            <a:ln w="11906" cap="rnd">
              <a:solidFill>
                <a:srgbClr val="4545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7847032" y="5452109"/>
              <a:ext cx="75786" cy="74256"/>
            </a:xfrm>
            <a:custGeom>
              <a:avLst/>
              <a:pathLst>
                <a:path w="75786" h="74256">
                  <a:moveTo>
                    <a:pt x="52830" y="74256"/>
                  </a:moveTo>
                  <a:lnTo>
                    <a:pt x="75786" y="0"/>
                  </a:lnTo>
                  <a:lnTo>
                    <a:pt x="0" y="17247"/>
                  </a:lnTo>
                  <a:close/>
                </a:path>
              </a:pathLst>
            </a:custGeom>
            <a:solidFill>
              <a:srgbClr val="454545">
                <a:alpha val="100000"/>
              </a:srgbClr>
            </a:solidFill>
            <a:ln w="11906" cap="rnd">
              <a:solidFill>
                <a:srgbClr val="4545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7898440" y="5452109"/>
              <a:ext cx="231590" cy="582930"/>
            </a:xfrm>
            <a:custGeom>
              <a:avLst/>
              <a:pathLst>
                <a:path w="231590" h="582930">
                  <a:moveTo>
                    <a:pt x="0" y="582930"/>
                  </a:moveTo>
                  <a:lnTo>
                    <a:pt x="621" y="580908"/>
                  </a:lnTo>
                  <a:lnTo>
                    <a:pt x="4334" y="568835"/>
                  </a:lnTo>
                  <a:lnTo>
                    <a:pt x="12341" y="542796"/>
                  </a:lnTo>
                  <a:lnTo>
                    <a:pt x="23755" y="505679"/>
                  </a:lnTo>
                  <a:lnTo>
                    <a:pt x="36504" y="464220"/>
                  </a:lnTo>
                  <a:lnTo>
                    <a:pt x="48874" y="424167"/>
                  </a:lnTo>
                  <a:lnTo>
                    <a:pt x="60657" y="387044"/>
                  </a:lnTo>
                  <a:lnTo>
                    <a:pt x="72103" y="352731"/>
                  </a:lnTo>
                  <a:lnTo>
                    <a:pt x="83596" y="320405"/>
                  </a:lnTo>
                  <a:lnTo>
                    <a:pt x="95559" y="288981"/>
                  </a:lnTo>
                  <a:lnTo>
                    <a:pt x="97458" y="284180"/>
                  </a:lnTo>
                  <a:lnTo>
                    <a:pt x="110205" y="253091"/>
                  </a:lnTo>
                  <a:lnTo>
                    <a:pt x="123854" y="221810"/>
                  </a:lnTo>
                  <a:lnTo>
                    <a:pt x="138836" y="189282"/>
                  </a:lnTo>
                  <a:lnTo>
                    <a:pt x="155477" y="154578"/>
                  </a:lnTo>
                  <a:lnTo>
                    <a:pt x="173748" y="117337"/>
                  </a:lnTo>
                  <a:lnTo>
                    <a:pt x="192954" y="78376"/>
                  </a:lnTo>
                  <a:lnTo>
                    <a:pt x="210650" y="42478"/>
                  </a:lnTo>
                  <a:lnTo>
                    <a:pt x="223638" y="16129"/>
                  </a:lnTo>
                  <a:lnTo>
                    <a:pt x="230181" y="2856"/>
                  </a:lnTo>
                  <a:lnTo>
                    <a:pt x="231586" y="7"/>
                  </a:lnTo>
                  <a:lnTo>
                    <a:pt x="231590" y="0"/>
                  </a:lnTo>
                </a:path>
              </a:pathLst>
            </a:custGeom>
            <a:ln w="9525" cap="rnd">
              <a:solidFill>
                <a:srgbClr val="454545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8073014" y="5452109"/>
              <a:ext cx="61512" cy="68432"/>
            </a:xfrm>
            <a:custGeom>
              <a:avLst/>
              <a:pathLst>
                <a:path w="61512" h="68432">
                  <a:moveTo>
                    <a:pt x="61512" y="68432"/>
                  </a:moveTo>
                  <a:lnTo>
                    <a:pt x="57016" y="0"/>
                  </a:lnTo>
                  <a:lnTo>
                    <a:pt x="0" y="38109"/>
                  </a:lnTo>
                  <a:close/>
                </a:path>
              </a:pathLst>
            </a:custGeom>
            <a:solidFill>
              <a:srgbClr val="454545">
                <a:alpha val="100000"/>
              </a:srgbClr>
            </a:solidFill>
            <a:ln w="9525" cap="rnd">
              <a:solidFill>
                <a:srgbClr val="454545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8520077" y="5493258"/>
              <a:ext cx="195023" cy="459486"/>
            </a:xfrm>
            <a:custGeom>
              <a:avLst/>
              <a:pathLst>
                <a:path w="195023" h="459486">
                  <a:moveTo>
                    <a:pt x="195023" y="459486"/>
                  </a:moveTo>
                  <a:lnTo>
                    <a:pt x="194285" y="457271"/>
                  </a:lnTo>
                  <a:lnTo>
                    <a:pt x="189992" y="444383"/>
                  </a:lnTo>
                  <a:lnTo>
                    <a:pt x="181170" y="417903"/>
                  </a:lnTo>
                  <a:lnTo>
                    <a:pt x="169444" y="382702"/>
                  </a:lnTo>
                  <a:lnTo>
                    <a:pt x="157315" y="346318"/>
                  </a:lnTo>
                  <a:lnTo>
                    <a:pt x="145859" y="312563"/>
                  </a:lnTo>
                  <a:lnTo>
                    <a:pt x="134886" y="281701"/>
                  </a:lnTo>
                  <a:lnTo>
                    <a:pt x="123979" y="252976"/>
                  </a:lnTo>
                  <a:lnTo>
                    <a:pt x="112641" y="225205"/>
                  </a:lnTo>
                  <a:lnTo>
                    <a:pt x="111965" y="223608"/>
                  </a:lnTo>
                  <a:lnTo>
                    <a:pt x="99910" y="196152"/>
                  </a:lnTo>
                  <a:lnTo>
                    <a:pt x="86895" y="168403"/>
                  </a:lnTo>
                  <a:lnTo>
                    <a:pt x="72417" y="139188"/>
                  </a:lnTo>
                  <a:lnTo>
                    <a:pt x="56195" y="107643"/>
                  </a:lnTo>
                  <a:lnTo>
                    <a:pt x="38504" y="73739"/>
                  </a:lnTo>
                  <a:lnTo>
                    <a:pt x="21200" y="40601"/>
                  </a:lnTo>
                  <a:lnTo>
                    <a:pt x="7942" y="15211"/>
                  </a:lnTo>
                  <a:lnTo>
                    <a:pt x="1268" y="2429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525" cap="rnd">
              <a:solidFill>
                <a:srgbClr val="454545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8517172" y="5493258"/>
              <a:ext cx="60791" cy="68518"/>
            </a:xfrm>
            <a:custGeom>
              <a:avLst/>
              <a:pathLst>
                <a:path w="60791" h="68518">
                  <a:moveTo>
                    <a:pt x="60791" y="36775"/>
                  </a:moveTo>
                  <a:lnTo>
                    <a:pt x="2905" y="0"/>
                  </a:lnTo>
                  <a:lnTo>
                    <a:pt x="0" y="68518"/>
                  </a:lnTo>
                  <a:close/>
                </a:path>
              </a:pathLst>
            </a:custGeom>
            <a:solidFill>
              <a:srgbClr val="454545">
                <a:alpha val="100000"/>
              </a:srgbClr>
            </a:solidFill>
            <a:ln w="9525" cap="rnd">
              <a:solidFill>
                <a:srgbClr val="454545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8910123" y="4910328"/>
              <a:ext cx="475369" cy="260603"/>
            </a:xfrm>
            <a:custGeom>
              <a:avLst/>
              <a:pathLst>
                <a:path w="475369" h="260603">
                  <a:moveTo>
                    <a:pt x="0" y="260603"/>
                  </a:moveTo>
                  <a:lnTo>
                    <a:pt x="475369" y="0"/>
                  </a:lnTo>
                </a:path>
              </a:pathLst>
            </a:custGeom>
            <a:ln w="11906" cap="rnd">
              <a:solidFill>
                <a:srgbClr val="4545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9307788" y="4908608"/>
              <a:ext cx="77704" cy="68154"/>
            </a:xfrm>
            <a:custGeom>
              <a:avLst/>
              <a:pathLst>
                <a:path w="77704" h="68154">
                  <a:moveTo>
                    <a:pt x="37363" y="68154"/>
                  </a:moveTo>
                  <a:lnTo>
                    <a:pt x="77704" y="17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54545">
                <a:alpha val="100000"/>
              </a:srgbClr>
            </a:solidFill>
            <a:ln w="11906" cap="rnd">
              <a:solidFill>
                <a:srgbClr val="4545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8934501" y="5280660"/>
              <a:ext cx="450991" cy="102869"/>
            </a:xfrm>
            <a:custGeom>
              <a:avLst/>
              <a:pathLst>
                <a:path w="450991" h="102869">
                  <a:moveTo>
                    <a:pt x="0" y="0"/>
                  </a:moveTo>
                  <a:lnTo>
                    <a:pt x="450991" y="102869"/>
                  </a:lnTo>
                </a:path>
              </a:pathLst>
            </a:custGeom>
            <a:ln w="11906" cap="rnd">
              <a:solidFill>
                <a:srgbClr val="4545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9311225" y="5330672"/>
              <a:ext cx="74267" cy="75777"/>
            </a:xfrm>
            <a:custGeom>
              <a:avLst/>
              <a:pathLst>
                <a:path w="74267" h="75777">
                  <a:moveTo>
                    <a:pt x="0" y="75777"/>
                  </a:moveTo>
                  <a:lnTo>
                    <a:pt x="74267" y="52857"/>
                  </a:lnTo>
                  <a:lnTo>
                    <a:pt x="17284" y="0"/>
                  </a:lnTo>
                  <a:close/>
                </a:path>
              </a:pathLst>
            </a:custGeom>
            <a:solidFill>
              <a:srgbClr val="454545">
                <a:alpha val="100000"/>
              </a:srgbClr>
            </a:solidFill>
            <a:ln w="11906" cap="rnd">
              <a:solidFill>
                <a:srgbClr val="4545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tx72"/>
            <p:cNvSpPr/>
            <p:nvPr/>
          </p:nvSpPr>
          <p:spPr>
            <a:xfrm>
              <a:off x="10711693" y="4384730"/>
              <a:ext cx="88239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454545">
                      <a:alpha val="100000"/>
                    </a:srgbClr>
                  </a:solidFill>
                  <a:latin typeface="Arial"/>
                  <a:cs typeface="Arial"/>
                </a:rPr>
                <a:t>extracellular sugar</a:t>
              </a:r>
            </a:p>
          </p:txBody>
        </p:sp>
        <p:sp>
          <p:nvSpPr>
            <p:cNvPr id="73" name="pl73"/>
            <p:cNvSpPr/>
            <p:nvPr/>
          </p:nvSpPr>
          <p:spPr>
            <a:xfrm>
              <a:off x="11152891" y="4512564"/>
              <a:ext cx="0" cy="96012"/>
            </a:xfrm>
            <a:custGeom>
              <a:avLst/>
              <a:pathLst>
                <a:path w="0" h="96012">
                  <a:moveTo>
                    <a:pt x="0" y="0"/>
                  </a:moveTo>
                  <a:lnTo>
                    <a:pt x="0" y="96012"/>
                  </a:lnTo>
                </a:path>
              </a:pathLst>
            </a:custGeom>
            <a:ln w="11906" cap="rnd">
              <a:solidFill>
                <a:srgbClr val="4545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11114029" y="4541265"/>
              <a:ext cx="77724" cy="67310"/>
            </a:xfrm>
            <a:custGeom>
              <a:avLst/>
              <a:pathLst>
                <a:path w="77724" h="67310">
                  <a:moveTo>
                    <a:pt x="0" y="0"/>
                  </a:moveTo>
                  <a:lnTo>
                    <a:pt x="38861" y="67310"/>
                  </a:lnTo>
                  <a:lnTo>
                    <a:pt x="77724" y="0"/>
                  </a:lnTo>
                  <a:close/>
                </a:path>
              </a:pathLst>
            </a:custGeom>
            <a:solidFill>
              <a:srgbClr val="454545">
                <a:alpha val="100000"/>
              </a:srgbClr>
            </a:solidFill>
            <a:ln w="11906" cap="rnd">
              <a:solidFill>
                <a:srgbClr val="4545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11152891" y="5040630"/>
              <a:ext cx="182834" cy="514350"/>
            </a:xfrm>
            <a:custGeom>
              <a:avLst/>
              <a:pathLst>
                <a:path w="182834" h="514350">
                  <a:moveTo>
                    <a:pt x="0" y="0"/>
                  </a:moveTo>
                  <a:lnTo>
                    <a:pt x="182834" y="514350"/>
                  </a:lnTo>
                </a:path>
              </a:pathLst>
            </a:custGeom>
            <a:ln w="11906" cap="rnd">
              <a:solidFill>
                <a:srgbClr val="4545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11276563" y="5478540"/>
              <a:ext cx="73234" cy="76439"/>
            </a:xfrm>
            <a:custGeom>
              <a:avLst/>
              <a:pathLst>
                <a:path w="73234" h="76439">
                  <a:moveTo>
                    <a:pt x="0" y="26032"/>
                  </a:moveTo>
                  <a:lnTo>
                    <a:pt x="59162" y="76439"/>
                  </a:lnTo>
                  <a:lnTo>
                    <a:pt x="73234" y="0"/>
                  </a:lnTo>
                  <a:close/>
                </a:path>
              </a:pathLst>
            </a:custGeom>
            <a:solidFill>
              <a:srgbClr val="454545">
                <a:alpha val="100000"/>
              </a:srgbClr>
            </a:solidFill>
            <a:ln w="11906" cap="rnd">
              <a:solidFill>
                <a:srgbClr val="4545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10275286" y="5863590"/>
              <a:ext cx="536313" cy="0"/>
            </a:xfrm>
            <a:custGeom>
              <a:avLst/>
              <a:pathLst>
                <a:path w="536313" h="0">
                  <a:moveTo>
                    <a:pt x="0" y="0"/>
                  </a:moveTo>
                  <a:lnTo>
                    <a:pt x="536313" y="0"/>
                  </a:lnTo>
                </a:path>
              </a:pathLst>
            </a:custGeom>
            <a:ln w="11906" cap="rnd">
              <a:solidFill>
                <a:srgbClr val="4545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10744289" y="5824728"/>
              <a:ext cx="67310" cy="77724"/>
            </a:xfrm>
            <a:custGeom>
              <a:avLst/>
              <a:pathLst>
                <a:path w="67310" h="77724">
                  <a:moveTo>
                    <a:pt x="0" y="77724"/>
                  </a:moveTo>
                  <a:lnTo>
                    <a:pt x="67310" y="38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54545">
                <a:alpha val="100000"/>
              </a:srgbClr>
            </a:solidFill>
            <a:ln w="11906" cap="rnd">
              <a:solidFill>
                <a:srgbClr val="4545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10031507" y="4972050"/>
              <a:ext cx="938549" cy="665226"/>
            </a:xfrm>
            <a:custGeom>
              <a:avLst/>
              <a:pathLst>
                <a:path w="938549" h="665226">
                  <a:moveTo>
                    <a:pt x="0" y="0"/>
                  </a:moveTo>
                  <a:lnTo>
                    <a:pt x="1419" y="770"/>
                  </a:lnTo>
                  <a:lnTo>
                    <a:pt x="10321" y="5600"/>
                  </a:lnTo>
                  <a:lnTo>
                    <a:pt x="31259" y="16962"/>
                  </a:lnTo>
                  <a:lnTo>
                    <a:pt x="65223" y="35392"/>
                  </a:lnTo>
                  <a:lnTo>
                    <a:pt x="109791" y="59576"/>
                  </a:lnTo>
                  <a:lnTo>
                    <a:pt x="160431" y="87054"/>
                  </a:lnTo>
                  <a:lnTo>
                    <a:pt x="212325" y="115213"/>
                  </a:lnTo>
                  <a:lnTo>
                    <a:pt x="262212" y="142396"/>
                  </a:lnTo>
                  <a:lnTo>
                    <a:pt x="309257" y="168512"/>
                  </a:lnTo>
                  <a:lnTo>
                    <a:pt x="353326" y="193768"/>
                  </a:lnTo>
                  <a:lnTo>
                    <a:pt x="394714" y="218516"/>
                  </a:lnTo>
                  <a:lnTo>
                    <a:pt x="434036" y="243232"/>
                  </a:lnTo>
                  <a:lnTo>
                    <a:pt x="472027" y="268425"/>
                  </a:lnTo>
                  <a:lnTo>
                    <a:pt x="500662" y="288328"/>
                  </a:lnTo>
                  <a:lnTo>
                    <a:pt x="537405" y="315042"/>
                  </a:lnTo>
                  <a:lnTo>
                    <a:pt x="573697" y="342827"/>
                  </a:lnTo>
                  <a:lnTo>
                    <a:pt x="610143" y="372147"/>
                  </a:lnTo>
                  <a:lnTo>
                    <a:pt x="647469" y="403519"/>
                  </a:lnTo>
                  <a:lnTo>
                    <a:pt x="686286" y="437318"/>
                  </a:lnTo>
                  <a:lnTo>
                    <a:pt x="726958" y="473629"/>
                  </a:lnTo>
                  <a:lnTo>
                    <a:pt x="769581" y="512171"/>
                  </a:lnTo>
                  <a:lnTo>
                    <a:pt x="813420" y="551881"/>
                  </a:lnTo>
                  <a:lnTo>
                    <a:pt x="855309" y="589825"/>
                  </a:lnTo>
                  <a:lnTo>
                    <a:pt x="891113" y="622257"/>
                  </a:lnTo>
                  <a:lnTo>
                    <a:pt x="917290" y="645969"/>
                  </a:lnTo>
                  <a:lnTo>
                    <a:pt x="932399" y="659655"/>
                  </a:lnTo>
                  <a:lnTo>
                    <a:pt x="937995" y="664724"/>
                  </a:lnTo>
                  <a:lnTo>
                    <a:pt x="938549" y="665226"/>
                  </a:lnTo>
                </a:path>
              </a:pathLst>
            </a:custGeom>
            <a:ln w="9525" cap="rnd">
              <a:solidFill>
                <a:srgbClr val="4545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10903018" y="5571989"/>
              <a:ext cx="67038" cy="65286"/>
            </a:xfrm>
            <a:custGeom>
              <a:avLst/>
              <a:pathLst>
                <a:path w="67038" h="65286">
                  <a:moveTo>
                    <a:pt x="0" y="50827"/>
                  </a:moveTo>
                  <a:lnTo>
                    <a:pt x="67038" y="65286"/>
                  </a:lnTo>
                  <a:lnTo>
                    <a:pt x="46040" y="0"/>
                  </a:lnTo>
                  <a:close/>
                </a:path>
              </a:pathLst>
            </a:custGeom>
            <a:solidFill>
              <a:srgbClr val="454545">
                <a:alpha val="100000"/>
              </a:srgbClr>
            </a:solidFill>
            <a:ln w="9525" cap="rnd">
              <a:solidFill>
                <a:srgbClr val="4545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390046" y="1268729"/>
              <a:ext cx="804470" cy="274320"/>
            </a:xfrm>
            <a:custGeom>
              <a:avLst/>
              <a:pathLst>
                <a:path w="804470" h="274320">
                  <a:moveTo>
                    <a:pt x="201167" y="274320"/>
                  </a:moveTo>
                  <a:lnTo>
                    <a:pt x="603302" y="274320"/>
                  </a:lnTo>
                  <a:lnTo>
                    <a:pt x="595202" y="274156"/>
                  </a:lnTo>
                  <a:lnTo>
                    <a:pt x="627550" y="272853"/>
                  </a:lnTo>
                  <a:lnTo>
                    <a:pt x="659271" y="266377"/>
                  </a:lnTo>
                  <a:lnTo>
                    <a:pt x="689542" y="254897"/>
                  </a:lnTo>
                  <a:lnTo>
                    <a:pt x="717579" y="238710"/>
                  </a:lnTo>
                  <a:lnTo>
                    <a:pt x="742656" y="218234"/>
                  </a:lnTo>
                  <a:lnTo>
                    <a:pt x="764125" y="194002"/>
                  </a:lnTo>
                  <a:lnTo>
                    <a:pt x="781428" y="166639"/>
                  </a:lnTo>
                  <a:lnTo>
                    <a:pt x="794118" y="136855"/>
                  </a:lnTo>
                  <a:lnTo>
                    <a:pt x="801865" y="105421"/>
                  </a:lnTo>
                  <a:lnTo>
                    <a:pt x="804470" y="73151"/>
                  </a:lnTo>
                  <a:lnTo>
                    <a:pt x="804470" y="201167"/>
                  </a:lnTo>
                  <a:lnTo>
                    <a:pt x="801865" y="168898"/>
                  </a:lnTo>
                  <a:lnTo>
                    <a:pt x="794118" y="137464"/>
                  </a:lnTo>
                  <a:lnTo>
                    <a:pt x="781428" y="107680"/>
                  </a:lnTo>
                  <a:lnTo>
                    <a:pt x="764125" y="80317"/>
                  </a:lnTo>
                  <a:lnTo>
                    <a:pt x="742656" y="56085"/>
                  </a:lnTo>
                  <a:lnTo>
                    <a:pt x="717579" y="35609"/>
                  </a:lnTo>
                  <a:lnTo>
                    <a:pt x="689542" y="19422"/>
                  </a:lnTo>
                  <a:lnTo>
                    <a:pt x="659271" y="7942"/>
                  </a:lnTo>
                  <a:lnTo>
                    <a:pt x="627550" y="1466"/>
                  </a:lnTo>
                  <a:lnTo>
                    <a:pt x="603302" y="0"/>
                  </a:lnTo>
                  <a:lnTo>
                    <a:pt x="201167" y="0"/>
                  </a:lnTo>
                  <a:lnTo>
                    <a:pt x="225416" y="1466"/>
                  </a:lnTo>
                  <a:lnTo>
                    <a:pt x="193067" y="163"/>
                  </a:lnTo>
                  <a:lnTo>
                    <a:pt x="160929" y="4065"/>
                  </a:lnTo>
                  <a:lnTo>
                    <a:pt x="129832" y="13072"/>
                  </a:lnTo>
                  <a:lnTo>
                    <a:pt x="100584" y="26951"/>
                  </a:lnTo>
                  <a:lnTo>
                    <a:pt x="73940" y="45342"/>
                  </a:lnTo>
                  <a:lnTo>
                    <a:pt x="50591" y="67768"/>
                  </a:lnTo>
                  <a:lnTo>
                    <a:pt x="31142" y="93650"/>
                  </a:lnTo>
                  <a:lnTo>
                    <a:pt x="16097" y="122316"/>
                  </a:lnTo>
                  <a:lnTo>
                    <a:pt x="5845" y="153025"/>
                  </a:lnTo>
                  <a:lnTo>
                    <a:pt x="652" y="184980"/>
                  </a:lnTo>
                  <a:lnTo>
                    <a:pt x="0" y="201167"/>
                  </a:lnTo>
                  <a:lnTo>
                    <a:pt x="0" y="73151"/>
                  </a:lnTo>
                  <a:lnTo>
                    <a:pt x="652" y="56964"/>
                  </a:lnTo>
                  <a:lnTo>
                    <a:pt x="652" y="89339"/>
                  </a:lnTo>
                  <a:lnTo>
                    <a:pt x="5845" y="121294"/>
                  </a:lnTo>
                  <a:lnTo>
                    <a:pt x="16097" y="152003"/>
                  </a:lnTo>
                  <a:lnTo>
                    <a:pt x="31142" y="180669"/>
                  </a:lnTo>
                  <a:lnTo>
                    <a:pt x="50591" y="206551"/>
                  </a:lnTo>
                  <a:lnTo>
                    <a:pt x="73940" y="228977"/>
                  </a:lnTo>
                  <a:lnTo>
                    <a:pt x="100583" y="247368"/>
                  </a:lnTo>
                  <a:lnTo>
                    <a:pt x="129832" y="261247"/>
                  </a:lnTo>
                  <a:lnTo>
                    <a:pt x="160929" y="270254"/>
                  </a:lnTo>
                  <a:lnTo>
                    <a:pt x="193067" y="2741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0953" cap="rnd">
              <a:solidFill>
                <a:srgbClr val="20202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tx82"/>
            <p:cNvSpPr/>
            <p:nvPr/>
          </p:nvSpPr>
          <p:spPr>
            <a:xfrm>
              <a:off x="553074" y="1354546"/>
              <a:ext cx="478414" cy="1026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0" i="0" b="0">
                  <a:solidFill>
                    <a:srgbClr val="202020">
                      <a:alpha val="100000"/>
                    </a:srgbClr>
                  </a:solidFill>
                  <a:latin typeface="Arial"/>
                  <a:cs typeface="Arial"/>
                </a:rPr>
                <a:t>Wnt/wg</a:t>
              </a:r>
            </a:p>
          </p:txBody>
        </p:sp>
        <p:sp>
          <p:nvSpPr>
            <p:cNvPr id="83" name="pg83"/>
            <p:cNvSpPr/>
            <p:nvPr/>
          </p:nvSpPr>
          <p:spPr>
            <a:xfrm>
              <a:off x="1480957" y="1491614"/>
              <a:ext cx="1060438" cy="308610"/>
            </a:xfrm>
            <a:custGeom>
              <a:avLst/>
              <a:pathLst>
                <a:path w="1060438" h="308610">
                  <a:moveTo>
                    <a:pt x="64008" y="308610"/>
                  </a:moveTo>
                  <a:lnTo>
                    <a:pt x="996430" y="308610"/>
                  </a:lnTo>
                  <a:lnTo>
                    <a:pt x="993853" y="308558"/>
                  </a:lnTo>
                  <a:lnTo>
                    <a:pt x="1004146" y="308143"/>
                  </a:lnTo>
                  <a:lnTo>
                    <a:pt x="1014238" y="306082"/>
                  </a:lnTo>
                  <a:lnTo>
                    <a:pt x="1023870" y="302430"/>
                  </a:lnTo>
                  <a:lnTo>
                    <a:pt x="1032791" y="297279"/>
                  </a:lnTo>
                  <a:lnTo>
                    <a:pt x="1040770" y="290764"/>
                  </a:lnTo>
                  <a:lnTo>
                    <a:pt x="1047601" y="283054"/>
                  </a:lnTo>
                  <a:lnTo>
                    <a:pt x="1053107" y="274348"/>
                  </a:lnTo>
                  <a:lnTo>
                    <a:pt x="1057144" y="264871"/>
                  </a:lnTo>
                  <a:lnTo>
                    <a:pt x="1059609" y="254869"/>
                  </a:lnTo>
                  <a:lnTo>
                    <a:pt x="1060438" y="244602"/>
                  </a:lnTo>
                  <a:lnTo>
                    <a:pt x="1060438" y="64008"/>
                  </a:lnTo>
                  <a:lnTo>
                    <a:pt x="1059609" y="53740"/>
                  </a:lnTo>
                  <a:lnTo>
                    <a:pt x="1057144" y="43738"/>
                  </a:lnTo>
                  <a:lnTo>
                    <a:pt x="1053107" y="34261"/>
                  </a:lnTo>
                  <a:lnTo>
                    <a:pt x="1047601" y="25555"/>
                  </a:lnTo>
                  <a:lnTo>
                    <a:pt x="1040770" y="17845"/>
                  </a:lnTo>
                  <a:lnTo>
                    <a:pt x="1032791" y="11330"/>
                  </a:lnTo>
                  <a:lnTo>
                    <a:pt x="1023870" y="6179"/>
                  </a:lnTo>
                  <a:lnTo>
                    <a:pt x="1014238" y="2527"/>
                  </a:lnTo>
                  <a:lnTo>
                    <a:pt x="1004146" y="466"/>
                  </a:lnTo>
                  <a:lnTo>
                    <a:pt x="996430" y="0"/>
                  </a:lnTo>
                  <a:lnTo>
                    <a:pt x="64008" y="0"/>
                  </a:lnTo>
                  <a:lnTo>
                    <a:pt x="71723" y="466"/>
                  </a:lnTo>
                  <a:lnTo>
                    <a:pt x="61430" y="51"/>
                  </a:lnTo>
                  <a:lnTo>
                    <a:pt x="51204" y="1293"/>
                  </a:lnTo>
                  <a:lnTo>
                    <a:pt x="41310" y="4159"/>
                  </a:lnTo>
                  <a:lnTo>
                    <a:pt x="32003" y="8575"/>
                  </a:lnTo>
                  <a:lnTo>
                    <a:pt x="23526" y="14427"/>
                  </a:lnTo>
                  <a:lnTo>
                    <a:pt x="16097" y="21562"/>
                  </a:lnTo>
                  <a:lnTo>
                    <a:pt x="9909" y="29797"/>
                  </a:lnTo>
                  <a:lnTo>
                    <a:pt x="5121" y="38919"/>
                  </a:lnTo>
                  <a:lnTo>
                    <a:pt x="1859" y="48689"/>
                  </a:lnTo>
                  <a:lnTo>
                    <a:pt x="207" y="58857"/>
                  </a:lnTo>
                  <a:lnTo>
                    <a:pt x="0" y="64008"/>
                  </a:lnTo>
                  <a:lnTo>
                    <a:pt x="0" y="244602"/>
                  </a:lnTo>
                  <a:lnTo>
                    <a:pt x="207" y="239451"/>
                  </a:lnTo>
                  <a:lnTo>
                    <a:pt x="207" y="249752"/>
                  </a:lnTo>
                  <a:lnTo>
                    <a:pt x="1859" y="259920"/>
                  </a:lnTo>
                  <a:lnTo>
                    <a:pt x="5121" y="269690"/>
                  </a:lnTo>
                  <a:lnTo>
                    <a:pt x="9909" y="278812"/>
                  </a:lnTo>
                  <a:lnTo>
                    <a:pt x="16097" y="287047"/>
                  </a:lnTo>
                  <a:lnTo>
                    <a:pt x="23526" y="294182"/>
                  </a:lnTo>
                  <a:lnTo>
                    <a:pt x="32003" y="300034"/>
                  </a:lnTo>
                  <a:lnTo>
                    <a:pt x="41310" y="304450"/>
                  </a:lnTo>
                  <a:lnTo>
                    <a:pt x="51204" y="307316"/>
                  </a:lnTo>
                  <a:lnTo>
                    <a:pt x="61430" y="3085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0953" cap="rnd">
              <a:solidFill>
                <a:srgbClr val="20202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tx84"/>
            <p:cNvSpPr/>
            <p:nvPr/>
          </p:nvSpPr>
          <p:spPr>
            <a:xfrm>
              <a:off x="1670288" y="1594576"/>
              <a:ext cx="681776" cy="1026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0" i="0" b="0">
                  <a:solidFill>
                    <a:srgbClr val="202020">
                      <a:alpha val="100000"/>
                    </a:srgbClr>
                  </a:solidFill>
                  <a:latin typeface="Arial"/>
                  <a:cs typeface="Arial"/>
                </a:rPr>
                <a:t>fz/fz2 + arr</a:t>
              </a:r>
            </a:p>
          </p:txBody>
        </p:sp>
        <p:sp>
          <p:nvSpPr>
            <p:cNvPr id="85" name="pg85"/>
            <p:cNvSpPr/>
            <p:nvPr/>
          </p:nvSpPr>
          <p:spPr>
            <a:xfrm>
              <a:off x="3035049" y="1491614"/>
              <a:ext cx="633825" cy="308610"/>
            </a:xfrm>
            <a:custGeom>
              <a:avLst/>
              <a:pathLst>
                <a:path w="633825" h="308610">
                  <a:moveTo>
                    <a:pt x="64007" y="308610"/>
                  </a:moveTo>
                  <a:lnTo>
                    <a:pt x="569817" y="308610"/>
                  </a:lnTo>
                  <a:lnTo>
                    <a:pt x="567240" y="308558"/>
                  </a:lnTo>
                  <a:lnTo>
                    <a:pt x="577532" y="308143"/>
                  </a:lnTo>
                  <a:lnTo>
                    <a:pt x="587625" y="306082"/>
                  </a:lnTo>
                  <a:lnTo>
                    <a:pt x="597257" y="302430"/>
                  </a:lnTo>
                  <a:lnTo>
                    <a:pt x="606178" y="297279"/>
                  </a:lnTo>
                  <a:lnTo>
                    <a:pt x="614157" y="290764"/>
                  </a:lnTo>
                  <a:lnTo>
                    <a:pt x="620988" y="283054"/>
                  </a:lnTo>
                  <a:lnTo>
                    <a:pt x="626493" y="274348"/>
                  </a:lnTo>
                  <a:lnTo>
                    <a:pt x="630531" y="264871"/>
                  </a:lnTo>
                  <a:lnTo>
                    <a:pt x="632996" y="254869"/>
                  </a:lnTo>
                  <a:lnTo>
                    <a:pt x="633825" y="244602"/>
                  </a:lnTo>
                  <a:lnTo>
                    <a:pt x="633825" y="64008"/>
                  </a:lnTo>
                  <a:lnTo>
                    <a:pt x="632996" y="53740"/>
                  </a:lnTo>
                  <a:lnTo>
                    <a:pt x="630531" y="43738"/>
                  </a:lnTo>
                  <a:lnTo>
                    <a:pt x="626493" y="34261"/>
                  </a:lnTo>
                  <a:lnTo>
                    <a:pt x="620988" y="25555"/>
                  </a:lnTo>
                  <a:lnTo>
                    <a:pt x="614157" y="17845"/>
                  </a:lnTo>
                  <a:lnTo>
                    <a:pt x="606178" y="11330"/>
                  </a:lnTo>
                  <a:lnTo>
                    <a:pt x="597257" y="6179"/>
                  </a:lnTo>
                  <a:lnTo>
                    <a:pt x="587625" y="2527"/>
                  </a:lnTo>
                  <a:lnTo>
                    <a:pt x="577532" y="466"/>
                  </a:lnTo>
                  <a:lnTo>
                    <a:pt x="569817" y="0"/>
                  </a:lnTo>
                  <a:lnTo>
                    <a:pt x="64007" y="0"/>
                  </a:lnTo>
                  <a:lnTo>
                    <a:pt x="71723" y="466"/>
                  </a:lnTo>
                  <a:lnTo>
                    <a:pt x="61430" y="51"/>
                  </a:lnTo>
                  <a:lnTo>
                    <a:pt x="51204" y="1293"/>
                  </a:lnTo>
                  <a:lnTo>
                    <a:pt x="41310" y="4159"/>
                  </a:lnTo>
                  <a:lnTo>
                    <a:pt x="32003" y="8575"/>
                  </a:lnTo>
                  <a:lnTo>
                    <a:pt x="23526" y="14427"/>
                  </a:lnTo>
                  <a:lnTo>
                    <a:pt x="16097" y="21562"/>
                  </a:lnTo>
                  <a:lnTo>
                    <a:pt x="9909" y="29797"/>
                  </a:lnTo>
                  <a:lnTo>
                    <a:pt x="5121" y="38919"/>
                  </a:lnTo>
                  <a:lnTo>
                    <a:pt x="1859" y="48689"/>
                  </a:lnTo>
                  <a:lnTo>
                    <a:pt x="207" y="58857"/>
                  </a:lnTo>
                  <a:lnTo>
                    <a:pt x="0" y="64008"/>
                  </a:lnTo>
                  <a:lnTo>
                    <a:pt x="0" y="244602"/>
                  </a:lnTo>
                  <a:lnTo>
                    <a:pt x="207" y="239451"/>
                  </a:lnTo>
                  <a:lnTo>
                    <a:pt x="207" y="249752"/>
                  </a:lnTo>
                  <a:lnTo>
                    <a:pt x="1859" y="259920"/>
                  </a:lnTo>
                  <a:lnTo>
                    <a:pt x="5121" y="269690"/>
                  </a:lnTo>
                  <a:lnTo>
                    <a:pt x="9909" y="278812"/>
                  </a:lnTo>
                  <a:lnTo>
                    <a:pt x="16097" y="287047"/>
                  </a:lnTo>
                  <a:lnTo>
                    <a:pt x="23526" y="294182"/>
                  </a:lnTo>
                  <a:lnTo>
                    <a:pt x="32003" y="300034"/>
                  </a:lnTo>
                  <a:lnTo>
                    <a:pt x="41310" y="304450"/>
                  </a:lnTo>
                  <a:lnTo>
                    <a:pt x="51204" y="307316"/>
                  </a:lnTo>
                  <a:lnTo>
                    <a:pt x="61430" y="3085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0953" cap="rnd">
              <a:solidFill>
                <a:srgbClr val="20202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tx86"/>
            <p:cNvSpPr/>
            <p:nvPr/>
          </p:nvSpPr>
          <p:spPr>
            <a:xfrm>
              <a:off x="3236244" y="1594576"/>
              <a:ext cx="231434" cy="1026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0" i="0" b="0">
                  <a:solidFill>
                    <a:srgbClr val="202020">
                      <a:alpha val="100000"/>
                    </a:srgbClr>
                  </a:solidFill>
                  <a:latin typeface="Arial"/>
                  <a:cs typeface="Arial"/>
                </a:rPr>
                <a:t>dsh</a:t>
              </a:r>
            </a:p>
          </p:txBody>
        </p:sp>
        <p:sp>
          <p:nvSpPr>
            <p:cNvPr id="87" name="pg87"/>
            <p:cNvSpPr/>
            <p:nvPr/>
          </p:nvSpPr>
          <p:spPr>
            <a:xfrm>
              <a:off x="4113771" y="1467612"/>
              <a:ext cx="1279839" cy="356615"/>
            </a:xfrm>
            <a:custGeom>
              <a:avLst/>
              <a:pathLst>
                <a:path w="1279839" h="356615">
                  <a:moveTo>
                    <a:pt x="64008" y="356615"/>
                  </a:moveTo>
                  <a:lnTo>
                    <a:pt x="1215831" y="356615"/>
                  </a:lnTo>
                  <a:lnTo>
                    <a:pt x="1213254" y="356564"/>
                  </a:lnTo>
                  <a:lnTo>
                    <a:pt x="1223547" y="356149"/>
                  </a:lnTo>
                  <a:lnTo>
                    <a:pt x="1233640" y="354088"/>
                  </a:lnTo>
                  <a:lnTo>
                    <a:pt x="1243271" y="350436"/>
                  </a:lnTo>
                  <a:lnTo>
                    <a:pt x="1252192" y="345285"/>
                  </a:lnTo>
                  <a:lnTo>
                    <a:pt x="1260171" y="338770"/>
                  </a:lnTo>
                  <a:lnTo>
                    <a:pt x="1267002" y="331060"/>
                  </a:lnTo>
                  <a:lnTo>
                    <a:pt x="1272508" y="322354"/>
                  </a:lnTo>
                  <a:lnTo>
                    <a:pt x="1276545" y="312877"/>
                  </a:lnTo>
                  <a:lnTo>
                    <a:pt x="1279011" y="302875"/>
                  </a:lnTo>
                  <a:lnTo>
                    <a:pt x="1279839" y="292607"/>
                  </a:lnTo>
                  <a:lnTo>
                    <a:pt x="1279839" y="64007"/>
                  </a:lnTo>
                  <a:lnTo>
                    <a:pt x="1279011" y="53740"/>
                  </a:lnTo>
                  <a:lnTo>
                    <a:pt x="1276545" y="43738"/>
                  </a:lnTo>
                  <a:lnTo>
                    <a:pt x="1272508" y="34261"/>
                  </a:lnTo>
                  <a:lnTo>
                    <a:pt x="1267002" y="25555"/>
                  </a:lnTo>
                  <a:lnTo>
                    <a:pt x="1260171" y="17845"/>
                  </a:lnTo>
                  <a:lnTo>
                    <a:pt x="1252192" y="11330"/>
                  </a:lnTo>
                  <a:lnTo>
                    <a:pt x="1243271" y="6179"/>
                  </a:lnTo>
                  <a:lnTo>
                    <a:pt x="1233640" y="2527"/>
                  </a:lnTo>
                  <a:lnTo>
                    <a:pt x="1223547" y="466"/>
                  </a:lnTo>
                  <a:lnTo>
                    <a:pt x="1215831" y="0"/>
                  </a:lnTo>
                  <a:lnTo>
                    <a:pt x="64008" y="0"/>
                  </a:lnTo>
                  <a:lnTo>
                    <a:pt x="71723" y="466"/>
                  </a:lnTo>
                  <a:lnTo>
                    <a:pt x="61430" y="51"/>
                  </a:lnTo>
                  <a:lnTo>
                    <a:pt x="51204" y="1293"/>
                  </a:lnTo>
                  <a:lnTo>
                    <a:pt x="41310" y="4159"/>
                  </a:lnTo>
                  <a:lnTo>
                    <a:pt x="32003" y="8575"/>
                  </a:lnTo>
                  <a:lnTo>
                    <a:pt x="23526" y="14427"/>
                  </a:lnTo>
                  <a:lnTo>
                    <a:pt x="16097" y="21562"/>
                  </a:lnTo>
                  <a:lnTo>
                    <a:pt x="9909" y="29797"/>
                  </a:lnTo>
                  <a:lnTo>
                    <a:pt x="5121" y="38919"/>
                  </a:lnTo>
                  <a:lnTo>
                    <a:pt x="1859" y="48689"/>
                  </a:lnTo>
                  <a:lnTo>
                    <a:pt x="207" y="58857"/>
                  </a:lnTo>
                  <a:lnTo>
                    <a:pt x="0" y="64007"/>
                  </a:lnTo>
                  <a:lnTo>
                    <a:pt x="0" y="292607"/>
                  </a:lnTo>
                  <a:lnTo>
                    <a:pt x="207" y="287457"/>
                  </a:lnTo>
                  <a:lnTo>
                    <a:pt x="207" y="297758"/>
                  </a:lnTo>
                  <a:lnTo>
                    <a:pt x="1859" y="307926"/>
                  </a:lnTo>
                  <a:lnTo>
                    <a:pt x="5121" y="317696"/>
                  </a:lnTo>
                  <a:lnTo>
                    <a:pt x="9909" y="326818"/>
                  </a:lnTo>
                  <a:lnTo>
                    <a:pt x="16097" y="335053"/>
                  </a:lnTo>
                  <a:lnTo>
                    <a:pt x="23526" y="342188"/>
                  </a:lnTo>
                  <a:lnTo>
                    <a:pt x="32003" y="348040"/>
                  </a:lnTo>
                  <a:lnTo>
                    <a:pt x="41310" y="352456"/>
                  </a:lnTo>
                  <a:lnTo>
                    <a:pt x="51204" y="355322"/>
                  </a:lnTo>
                  <a:lnTo>
                    <a:pt x="61430" y="356564"/>
                  </a:lnTo>
                  <a:close/>
                </a:path>
              </a:pathLst>
            </a:custGeom>
            <a:solidFill>
              <a:srgbClr val="D62828">
                <a:alpha val="100000"/>
              </a:srgbClr>
            </a:solidFill>
            <a:ln w="12382" cap="rnd">
              <a:solidFill>
                <a:srgbClr val="B71C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tx88"/>
            <p:cNvSpPr/>
            <p:nvPr/>
          </p:nvSpPr>
          <p:spPr>
            <a:xfrm>
              <a:off x="4263390" y="1594576"/>
              <a:ext cx="980602" cy="1026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0" i="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sgg/GSK3beta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4289404" y="1947672"/>
              <a:ext cx="92857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1">
                  <a:solidFill>
                    <a:srgbClr val="C82127">
                      <a:alpha val="100000"/>
                    </a:srgbClr>
                  </a:solidFill>
                  <a:latin typeface="Arial"/>
                  <a:cs typeface="Arial"/>
                </a:rPr>
                <a:t>Pd L4/L5 -&gt; Vv L2</a:t>
              </a:r>
            </a:p>
          </p:txBody>
        </p:sp>
        <p:sp>
          <p:nvSpPr>
            <p:cNvPr id="90" name="pg90"/>
            <p:cNvSpPr/>
            <p:nvPr/>
          </p:nvSpPr>
          <p:spPr>
            <a:xfrm>
              <a:off x="5698335" y="1467612"/>
              <a:ext cx="914171" cy="356615"/>
            </a:xfrm>
            <a:custGeom>
              <a:avLst/>
              <a:pathLst>
                <a:path w="914171" h="356615">
                  <a:moveTo>
                    <a:pt x="64008" y="356615"/>
                  </a:moveTo>
                  <a:lnTo>
                    <a:pt x="850163" y="356615"/>
                  </a:lnTo>
                  <a:lnTo>
                    <a:pt x="847586" y="356564"/>
                  </a:lnTo>
                  <a:lnTo>
                    <a:pt x="857878" y="356149"/>
                  </a:lnTo>
                  <a:lnTo>
                    <a:pt x="867971" y="354088"/>
                  </a:lnTo>
                  <a:lnTo>
                    <a:pt x="877603" y="350436"/>
                  </a:lnTo>
                  <a:lnTo>
                    <a:pt x="886524" y="345285"/>
                  </a:lnTo>
                  <a:lnTo>
                    <a:pt x="894503" y="338770"/>
                  </a:lnTo>
                  <a:lnTo>
                    <a:pt x="901334" y="331060"/>
                  </a:lnTo>
                  <a:lnTo>
                    <a:pt x="906839" y="322354"/>
                  </a:lnTo>
                  <a:lnTo>
                    <a:pt x="910877" y="312877"/>
                  </a:lnTo>
                  <a:lnTo>
                    <a:pt x="913342" y="302875"/>
                  </a:lnTo>
                  <a:lnTo>
                    <a:pt x="914171" y="292607"/>
                  </a:lnTo>
                  <a:lnTo>
                    <a:pt x="914171" y="64007"/>
                  </a:lnTo>
                  <a:lnTo>
                    <a:pt x="913342" y="53740"/>
                  </a:lnTo>
                  <a:lnTo>
                    <a:pt x="910877" y="43738"/>
                  </a:lnTo>
                  <a:lnTo>
                    <a:pt x="906839" y="34261"/>
                  </a:lnTo>
                  <a:lnTo>
                    <a:pt x="901334" y="25555"/>
                  </a:lnTo>
                  <a:lnTo>
                    <a:pt x="894503" y="17845"/>
                  </a:lnTo>
                  <a:lnTo>
                    <a:pt x="886524" y="11330"/>
                  </a:lnTo>
                  <a:lnTo>
                    <a:pt x="877603" y="6179"/>
                  </a:lnTo>
                  <a:lnTo>
                    <a:pt x="867971" y="2527"/>
                  </a:lnTo>
                  <a:lnTo>
                    <a:pt x="857878" y="466"/>
                  </a:lnTo>
                  <a:lnTo>
                    <a:pt x="850163" y="0"/>
                  </a:lnTo>
                  <a:lnTo>
                    <a:pt x="64008" y="0"/>
                  </a:lnTo>
                  <a:lnTo>
                    <a:pt x="71723" y="466"/>
                  </a:lnTo>
                  <a:lnTo>
                    <a:pt x="61430" y="51"/>
                  </a:lnTo>
                  <a:lnTo>
                    <a:pt x="51204" y="1293"/>
                  </a:lnTo>
                  <a:lnTo>
                    <a:pt x="41310" y="4159"/>
                  </a:lnTo>
                  <a:lnTo>
                    <a:pt x="32003" y="8575"/>
                  </a:lnTo>
                  <a:lnTo>
                    <a:pt x="23526" y="14427"/>
                  </a:lnTo>
                  <a:lnTo>
                    <a:pt x="16097" y="21562"/>
                  </a:lnTo>
                  <a:lnTo>
                    <a:pt x="9909" y="29797"/>
                  </a:lnTo>
                  <a:lnTo>
                    <a:pt x="5121" y="38919"/>
                  </a:lnTo>
                  <a:lnTo>
                    <a:pt x="1859" y="48689"/>
                  </a:lnTo>
                  <a:lnTo>
                    <a:pt x="207" y="58857"/>
                  </a:lnTo>
                  <a:lnTo>
                    <a:pt x="0" y="64007"/>
                  </a:lnTo>
                  <a:lnTo>
                    <a:pt x="0" y="292607"/>
                  </a:lnTo>
                  <a:lnTo>
                    <a:pt x="207" y="287457"/>
                  </a:lnTo>
                  <a:lnTo>
                    <a:pt x="207" y="297758"/>
                  </a:lnTo>
                  <a:lnTo>
                    <a:pt x="1859" y="307926"/>
                  </a:lnTo>
                  <a:lnTo>
                    <a:pt x="5121" y="317696"/>
                  </a:lnTo>
                  <a:lnTo>
                    <a:pt x="9909" y="326818"/>
                  </a:lnTo>
                  <a:lnTo>
                    <a:pt x="16097" y="335053"/>
                  </a:lnTo>
                  <a:lnTo>
                    <a:pt x="23526" y="342188"/>
                  </a:lnTo>
                  <a:lnTo>
                    <a:pt x="32003" y="348040"/>
                  </a:lnTo>
                  <a:lnTo>
                    <a:pt x="41310" y="352456"/>
                  </a:lnTo>
                  <a:lnTo>
                    <a:pt x="51204" y="355322"/>
                  </a:lnTo>
                  <a:lnTo>
                    <a:pt x="61430" y="356564"/>
                  </a:lnTo>
                  <a:close/>
                </a:path>
              </a:pathLst>
            </a:custGeom>
            <a:solidFill>
              <a:srgbClr val="D62828">
                <a:alpha val="100000"/>
              </a:srgbClr>
            </a:solidFill>
            <a:ln w="12382" cap="rnd">
              <a:solidFill>
                <a:srgbClr val="B71C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tx91"/>
            <p:cNvSpPr/>
            <p:nvPr/>
          </p:nvSpPr>
          <p:spPr>
            <a:xfrm>
              <a:off x="5836706" y="1594576"/>
              <a:ext cx="637428" cy="1026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0" i="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nmo/NLK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5771875" y="1947672"/>
              <a:ext cx="76709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1">
                  <a:solidFill>
                    <a:srgbClr val="C82127">
                      <a:alpha val="100000"/>
                    </a:srgbClr>
                  </a:solidFill>
                  <a:latin typeface="Arial"/>
                  <a:cs typeface="Arial"/>
                </a:rPr>
                <a:t>Pd L4 -&gt; Vv L2</a:t>
              </a:r>
            </a:p>
          </p:txBody>
        </p:sp>
        <p:sp>
          <p:nvSpPr>
            <p:cNvPr id="93" name="pg93"/>
            <p:cNvSpPr/>
            <p:nvPr/>
          </p:nvSpPr>
          <p:spPr>
            <a:xfrm>
              <a:off x="396140" y="3401567"/>
              <a:ext cx="548502" cy="260604"/>
            </a:xfrm>
            <a:custGeom>
              <a:avLst/>
              <a:pathLst>
                <a:path w="548502" h="260604">
                  <a:moveTo>
                    <a:pt x="201168" y="260604"/>
                  </a:moveTo>
                  <a:lnTo>
                    <a:pt x="347334" y="260604"/>
                  </a:lnTo>
                  <a:lnTo>
                    <a:pt x="339234" y="260440"/>
                  </a:lnTo>
                  <a:lnTo>
                    <a:pt x="371582" y="259137"/>
                  </a:lnTo>
                  <a:lnTo>
                    <a:pt x="403303" y="252661"/>
                  </a:lnTo>
                  <a:lnTo>
                    <a:pt x="433574" y="241181"/>
                  </a:lnTo>
                  <a:lnTo>
                    <a:pt x="461611" y="224994"/>
                  </a:lnTo>
                  <a:lnTo>
                    <a:pt x="486688" y="204518"/>
                  </a:lnTo>
                  <a:lnTo>
                    <a:pt x="508157" y="180286"/>
                  </a:lnTo>
                  <a:lnTo>
                    <a:pt x="525460" y="152923"/>
                  </a:lnTo>
                  <a:lnTo>
                    <a:pt x="538150" y="123139"/>
                  </a:lnTo>
                  <a:lnTo>
                    <a:pt x="545897" y="91705"/>
                  </a:lnTo>
                  <a:lnTo>
                    <a:pt x="548502" y="59436"/>
                  </a:lnTo>
                  <a:lnTo>
                    <a:pt x="548502" y="201168"/>
                  </a:lnTo>
                  <a:lnTo>
                    <a:pt x="545897" y="168898"/>
                  </a:lnTo>
                  <a:lnTo>
                    <a:pt x="538150" y="137464"/>
                  </a:lnTo>
                  <a:lnTo>
                    <a:pt x="525460" y="107680"/>
                  </a:lnTo>
                  <a:lnTo>
                    <a:pt x="508157" y="80317"/>
                  </a:lnTo>
                  <a:lnTo>
                    <a:pt x="486688" y="56085"/>
                  </a:lnTo>
                  <a:lnTo>
                    <a:pt x="461611" y="35609"/>
                  </a:lnTo>
                  <a:lnTo>
                    <a:pt x="433574" y="19422"/>
                  </a:lnTo>
                  <a:lnTo>
                    <a:pt x="403303" y="7942"/>
                  </a:lnTo>
                  <a:lnTo>
                    <a:pt x="371582" y="1466"/>
                  </a:lnTo>
                  <a:lnTo>
                    <a:pt x="347334" y="0"/>
                  </a:lnTo>
                  <a:lnTo>
                    <a:pt x="201168" y="0"/>
                  </a:lnTo>
                  <a:lnTo>
                    <a:pt x="225416" y="1466"/>
                  </a:lnTo>
                  <a:lnTo>
                    <a:pt x="193067" y="163"/>
                  </a:lnTo>
                  <a:lnTo>
                    <a:pt x="160929" y="4065"/>
                  </a:lnTo>
                  <a:lnTo>
                    <a:pt x="129832" y="13072"/>
                  </a:lnTo>
                  <a:lnTo>
                    <a:pt x="100584" y="26951"/>
                  </a:lnTo>
                  <a:lnTo>
                    <a:pt x="73940" y="45342"/>
                  </a:lnTo>
                  <a:lnTo>
                    <a:pt x="50591" y="67768"/>
                  </a:lnTo>
                  <a:lnTo>
                    <a:pt x="31142" y="93650"/>
                  </a:lnTo>
                  <a:lnTo>
                    <a:pt x="16097" y="122316"/>
                  </a:lnTo>
                  <a:lnTo>
                    <a:pt x="5845" y="153025"/>
                  </a:lnTo>
                  <a:lnTo>
                    <a:pt x="652" y="184980"/>
                  </a:lnTo>
                  <a:lnTo>
                    <a:pt x="0" y="201168"/>
                  </a:lnTo>
                  <a:lnTo>
                    <a:pt x="0" y="59436"/>
                  </a:lnTo>
                  <a:lnTo>
                    <a:pt x="652" y="43248"/>
                  </a:lnTo>
                  <a:lnTo>
                    <a:pt x="652" y="75623"/>
                  </a:lnTo>
                  <a:lnTo>
                    <a:pt x="5845" y="107578"/>
                  </a:lnTo>
                  <a:lnTo>
                    <a:pt x="16097" y="138287"/>
                  </a:lnTo>
                  <a:lnTo>
                    <a:pt x="31142" y="166953"/>
                  </a:lnTo>
                  <a:lnTo>
                    <a:pt x="50591" y="192835"/>
                  </a:lnTo>
                  <a:lnTo>
                    <a:pt x="73940" y="215261"/>
                  </a:lnTo>
                  <a:lnTo>
                    <a:pt x="100584" y="233652"/>
                  </a:lnTo>
                  <a:lnTo>
                    <a:pt x="129832" y="247531"/>
                  </a:lnTo>
                  <a:lnTo>
                    <a:pt x="160929" y="256538"/>
                  </a:lnTo>
                  <a:lnTo>
                    <a:pt x="193067" y="2604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0953" cap="rnd">
              <a:solidFill>
                <a:srgbClr val="20202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tx94"/>
            <p:cNvSpPr/>
            <p:nvPr/>
          </p:nvSpPr>
          <p:spPr>
            <a:xfrm>
              <a:off x="594588" y="3480526"/>
              <a:ext cx="151607" cy="1026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0" i="0" b="0">
                  <a:solidFill>
                    <a:srgbClr val="202020">
                      <a:alpha val="100000"/>
                    </a:srgbClr>
                  </a:solidFill>
                  <a:latin typeface="Arial"/>
                  <a:cs typeface="Arial"/>
                </a:rPr>
                <a:t>Ilp</a:t>
              </a:r>
            </a:p>
          </p:txBody>
        </p:sp>
        <p:sp>
          <p:nvSpPr>
            <p:cNvPr id="95" name="pg95"/>
            <p:cNvSpPr/>
            <p:nvPr/>
          </p:nvSpPr>
          <p:spPr>
            <a:xfrm>
              <a:off x="883699" y="3902201"/>
              <a:ext cx="548502" cy="356615"/>
            </a:xfrm>
            <a:custGeom>
              <a:avLst/>
              <a:pathLst>
                <a:path w="548502" h="356615">
                  <a:moveTo>
                    <a:pt x="64008" y="356615"/>
                  </a:moveTo>
                  <a:lnTo>
                    <a:pt x="484494" y="356615"/>
                  </a:lnTo>
                  <a:lnTo>
                    <a:pt x="481917" y="356564"/>
                  </a:lnTo>
                  <a:lnTo>
                    <a:pt x="492210" y="356149"/>
                  </a:lnTo>
                  <a:lnTo>
                    <a:pt x="502302" y="354088"/>
                  </a:lnTo>
                  <a:lnTo>
                    <a:pt x="511934" y="350436"/>
                  </a:lnTo>
                  <a:lnTo>
                    <a:pt x="520855" y="345285"/>
                  </a:lnTo>
                  <a:lnTo>
                    <a:pt x="528834" y="338770"/>
                  </a:lnTo>
                  <a:lnTo>
                    <a:pt x="535665" y="331060"/>
                  </a:lnTo>
                  <a:lnTo>
                    <a:pt x="541171" y="322354"/>
                  </a:lnTo>
                  <a:lnTo>
                    <a:pt x="545208" y="312877"/>
                  </a:lnTo>
                  <a:lnTo>
                    <a:pt x="547673" y="302875"/>
                  </a:lnTo>
                  <a:lnTo>
                    <a:pt x="548502" y="292608"/>
                  </a:lnTo>
                  <a:lnTo>
                    <a:pt x="548502" y="64008"/>
                  </a:lnTo>
                  <a:lnTo>
                    <a:pt x="547673" y="53740"/>
                  </a:lnTo>
                  <a:lnTo>
                    <a:pt x="545208" y="43738"/>
                  </a:lnTo>
                  <a:lnTo>
                    <a:pt x="541171" y="34261"/>
                  </a:lnTo>
                  <a:lnTo>
                    <a:pt x="535665" y="25555"/>
                  </a:lnTo>
                  <a:lnTo>
                    <a:pt x="528834" y="17845"/>
                  </a:lnTo>
                  <a:lnTo>
                    <a:pt x="520855" y="11330"/>
                  </a:lnTo>
                  <a:lnTo>
                    <a:pt x="511934" y="6179"/>
                  </a:lnTo>
                  <a:lnTo>
                    <a:pt x="502302" y="2527"/>
                  </a:lnTo>
                  <a:lnTo>
                    <a:pt x="492210" y="466"/>
                  </a:lnTo>
                  <a:lnTo>
                    <a:pt x="484494" y="0"/>
                  </a:lnTo>
                  <a:lnTo>
                    <a:pt x="64008" y="0"/>
                  </a:lnTo>
                  <a:lnTo>
                    <a:pt x="71723" y="466"/>
                  </a:lnTo>
                  <a:lnTo>
                    <a:pt x="61430" y="51"/>
                  </a:lnTo>
                  <a:lnTo>
                    <a:pt x="51204" y="1293"/>
                  </a:lnTo>
                  <a:lnTo>
                    <a:pt x="41310" y="4159"/>
                  </a:lnTo>
                  <a:lnTo>
                    <a:pt x="32003" y="8575"/>
                  </a:lnTo>
                  <a:lnTo>
                    <a:pt x="23526" y="14427"/>
                  </a:lnTo>
                  <a:lnTo>
                    <a:pt x="16097" y="21562"/>
                  </a:lnTo>
                  <a:lnTo>
                    <a:pt x="9909" y="29797"/>
                  </a:lnTo>
                  <a:lnTo>
                    <a:pt x="5121" y="38919"/>
                  </a:lnTo>
                  <a:lnTo>
                    <a:pt x="1859" y="48689"/>
                  </a:lnTo>
                  <a:lnTo>
                    <a:pt x="207" y="58857"/>
                  </a:lnTo>
                  <a:lnTo>
                    <a:pt x="0" y="64008"/>
                  </a:lnTo>
                  <a:lnTo>
                    <a:pt x="0" y="292608"/>
                  </a:lnTo>
                  <a:lnTo>
                    <a:pt x="207" y="287457"/>
                  </a:lnTo>
                  <a:lnTo>
                    <a:pt x="207" y="297758"/>
                  </a:lnTo>
                  <a:lnTo>
                    <a:pt x="1859" y="307926"/>
                  </a:lnTo>
                  <a:lnTo>
                    <a:pt x="5121" y="317696"/>
                  </a:lnTo>
                  <a:lnTo>
                    <a:pt x="9909" y="326818"/>
                  </a:lnTo>
                  <a:lnTo>
                    <a:pt x="16097" y="335053"/>
                  </a:lnTo>
                  <a:lnTo>
                    <a:pt x="23526" y="342188"/>
                  </a:lnTo>
                  <a:lnTo>
                    <a:pt x="32003" y="348040"/>
                  </a:lnTo>
                  <a:lnTo>
                    <a:pt x="41310" y="352456"/>
                  </a:lnTo>
                  <a:lnTo>
                    <a:pt x="51204" y="355322"/>
                  </a:lnTo>
                  <a:lnTo>
                    <a:pt x="61430" y="3565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0953" cap="rnd">
              <a:solidFill>
                <a:srgbClr val="20202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tx96"/>
            <p:cNvSpPr/>
            <p:nvPr/>
          </p:nvSpPr>
          <p:spPr>
            <a:xfrm>
              <a:off x="1046302" y="4029166"/>
              <a:ext cx="223296" cy="1026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0" i="0" b="0">
                  <a:solidFill>
                    <a:srgbClr val="202020">
                      <a:alpha val="100000"/>
                    </a:srgbClr>
                  </a:solidFill>
                  <a:latin typeface="Arial"/>
                  <a:cs typeface="Arial"/>
                </a:rPr>
                <a:t>InR</a:t>
              </a:r>
            </a:p>
          </p:txBody>
        </p:sp>
        <p:sp>
          <p:nvSpPr>
            <p:cNvPr id="97" name="pg97"/>
            <p:cNvSpPr/>
            <p:nvPr/>
          </p:nvSpPr>
          <p:spPr>
            <a:xfrm>
              <a:off x="1828342" y="3902201"/>
              <a:ext cx="975116" cy="356615"/>
            </a:xfrm>
            <a:custGeom>
              <a:avLst/>
              <a:pathLst>
                <a:path w="975116" h="356615">
                  <a:moveTo>
                    <a:pt x="64007" y="356615"/>
                  </a:moveTo>
                  <a:lnTo>
                    <a:pt x="911108" y="356615"/>
                  </a:lnTo>
                  <a:lnTo>
                    <a:pt x="908530" y="356564"/>
                  </a:lnTo>
                  <a:lnTo>
                    <a:pt x="918823" y="356149"/>
                  </a:lnTo>
                  <a:lnTo>
                    <a:pt x="928916" y="354088"/>
                  </a:lnTo>
                  <a:lnTo>
                    <a:pt x="938547" y="350436"/>
                  </a:lnTo>
                  <a:lnTo>
                    <a:pt x="947468" y="345285"/>
                  </a:lnTo>
                  <a:lnTo>
                    <a:pt x="955448" y="338770"/>
                  </a:lnTo>
                  <a:lnTo>
                    <a:pt x="962278" y="331060"/>
                  </a:lnTo>
                  <a:lnTo>
                    <a:pt x="967784" y="322354"/>
                  </a:lnTo>
                  <a:lnTo>
                    <a:pt x="971822" y="312877"/>
                  </a:lnTo>
                  <a:lnTo>
                    <a:pt x="974287" y="302875"/>
                  </a:lnTo>
                  <a:lnTo>
                    <a:pt x="975116" y="292608"/>
                  </a:lnTo>
                  <a:lnTo>
                    <a:pt x="975116" y="64008"/>
                  </a:lnTo>
                  <a:lnTo>
                    <a:pt x="974287" y="53740"/>
                  </a:lnTo>
                  <a:lnTo>
                    <a:pt x="971822" y="43738"/>
                  </a:lnTo>
                  <a:lnTo>
                    <a:pt x="967784" y="34261"/>
                  </a:lnTo>
                  <a:lnTo>
                    <a:pt x="962278" y="25555"/>
                  </a:lnTo>
                  <a:lnTo>
                    <a:pt x="955448" y="17845"/>
                  </a:lnTo>
                  <a:lnTo>
                    <a:pt x="947468" y="11330"/>
                  </a:lnTo>
                  <a:lnTo>
                    <a:pt x="938547" y="6179"/>
                  </a:lnTo>
                  <a:lnTo>
                    <a:pt x="928916" y="2527"/>
                  </a:lnTo>
                  <a:lnTo>
                    <a:pt x="918823" y="466"/>
                  </a:lnTo>
                  <a:lnTo>
                    <a:pt x="911108" y="0"/>
                  </a:lnTo>
                  <a:lnTo>
                    <a:pt x="64007" y="0"/>
                  </a:lnTo>
                  <a:lnTo>
                    <a:pt x="71723" y="466"/>
                  </a:lnTo>
                  <a:lnTo>
                    <a:pt x="61430" y="51"/>
                  </a:lnTo>
                  <a:lnTo>
                    <a:pt x="51204" y="1293"/>
                  </a:lnTo>
                  <a:lnTo>
                    <a:pt x="41310" y="4159"/>
                  </a:lnTo>
                  <a:lnTo>
                    <a:pt x="32004" y="8575"/>
                  </a:lnTo>
                  <a:lnTo>
                    <a:pt x="23526" y="14427"/>
                  </a:lnTo>
                  <a:lnTo>
                    <a:pt x="16097" y="21562"/>
                  </a:lnTo>
                  <a:lnTo>
                    <a:pt x="9909" y="29797"/>
                  </a:lnTo>
                  <a:lnTo>
                    <a:pt x="5121" y="38919"/>
                  </a:lnTo>
                  <a:lnTo>
                    <a:pt x="1859" y="48689"/>
                  </a:lnTo>
                  <a:lnTo>
                    <a:pt x="207" y="58857"/>
                  </a:lnTo>
                  <a:lnTo>
                    <a:pt x="0" y="64008"/>
                  </a:lnTo>
                  <a:lnTo>
                    <a:pt x="0" y="292608"/>
                  </a:lnTo>
                  <a:lnTo>
                    <a:pt x="207" y="287457"/>
                  </a:lnTo>
                  <a:lnTo>
                    <a:pt x="207" y="297758"/>
                  </a:lnTo>
                  <a:lnTo>
                    <a:pt x="1859" y="307926"/>
                  </a:lnTo>
                  <a:lnTo>
                    <a:pt x="5121" y="317696"/>
                  </a:lnTo>
                  <a:lnTo>
                    <a:pt x="9909" y="326818"/>
                  </a:lnTo>
                  <a:lnTo>
                    <a:pt x="16097" y="335053"/>
                  </a:lnTo>
                  <a:lnTo>
                    <a:pt x="23526" y="342188"/>
                  </a:lnTo>
                  <a:lnTo>
                    <a:pt x="32004" y="348040"/>
                  </a:lnTo>
                  <a:lnTo>
                    <a:pt x="41310" y="352456"/>
                  </a:lnTo>
                  <a:lnTo>
                    <a:pt x="51204" y="355322"/>
                  </a:lnTo>
                  <a:lnTo>
                    <a:pt x="61430" y="3565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0953" cap="rnd">
              <a:solidFill>
                <a:srgbClr val="20202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tx98"/>
            <p:cNvSpPr/>
            <p:nvPr/>
          </p:nvSpPr>
          <p:spPr>
            <a:xfrm>
              <a:off x="2008799" y="4029166"/>
              <a:ext cx="614202" cy="1026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0" i="0" b="0">
                  <a:solidFill>
                    <a:srgbClr val="202020">
                      <a:alpha val="100000"/>
                    </a:srgbClr>
                  </a:solidFill>
                  <a:latin typeface="Arial"/>
                  <a:cs typeface="Arial"/>
                </a:rPr>
                <a:t>chico/IRS</a:t>
              </a:r>
            </a:p>
          </p:txBody>
        </p:sp>
        <p:sp>
          <p:nvSpPr>
            <p:cNvPr id="99" name="pg99"/>
            <p:cNvSpPr/>
            <p:nvPr/>
          </p:nvSpPr>
          <p:spPr>
            <a:xfrm>
              <a:off x="3108182" y="3902201"/>
              <a:ext cx="1218895" cy="356615"/>
            </a:xfrm>
            <a:custGeom>
              <a:avLst/>
              <a:pathLst>
                <a:path w="1218895" h="356615">
                  <a:moveTo>
                    <a:pt x="64008" y="356615"/>
                  </a:moveTo>
                  <a:lnTo>
                    <a:pt x="1154887" y="356615"/>
                  </a:lnTo>
                  <a:lnTo>
                    <a:pt x="1152309" y="356564"/>
                  </a:lnTo>
                  <a:lnTo>
                    <a:pt x="1162602" y="356149"/>
                  </a:lnTo>
                  <a:lnTo>
                    <a:pt x="1172695" y="354088"/>
                  </a:lnTo>
                  <a:lnTo>
                    <a:pt x="1182326" y="350436"/>
                  </a:lnTo>
                  <a:lnTo>
                    <a:pt x="1191247" y="345285"/>
                  </a:lnTo>
                  <a:lnTo>
                    <a:pt x="1199227" y="338770"/>
                  </a:lnTo>
                  <a:lnTo>
                    <a:pt x="1206057" y="331060"/>
                  </a:lnTo>
                  <a:lnTo>
                    <a:pt x="1211563" y="322354"/>
                  </a:lnTo>
                  <a:lnTo>
                    <a:pt x="1215601" y="312877"/>
                  </a:lnTo>
                  <a:lnTo>
                    <a:pt x="1218066" y="302875"/>
                  </a:lnTo>
                  <a:lnTo>
                    <a:pt x="1218895" y="292608"/>
                  </a:lnTo>
                  <a:lnTo>
                    <a:pt x="1218895" y="64008"/>
                  </a:lnTo>
                  <a:lnTo>
                    <a:pt x="1218066" y="53740"/>
                  </a:lnTo>
                  <a:lnTo>
                    <a:pt x="1215601" y="43738"/>
                  </a:lnTo>
                  <a:lnTo>
                    <a:pt x="1211563" y="34261"/>
                  </a:lnTo>
                  <a:lnTo>
                    <a:pt x="1206057" y="25555"/>
                  </a:lnTo>
                  <a:lnTo>
                    <a:pt x="1199227" y="17845"/>
                  </a:lnTo>
                  <a:lnTo>
                    <a:pt x="1191247" y="11330"/>
                  </a:lnTo>
                  <a:lnTo>
                    <a:pt x="1182326" y="6179"/>
                  </a:lnTo>
                  <a:lnTo>
                    <a:pt x="1172695" y="2527"/>
                  </a:lnTo>
                  <a:lnTo>
                    <a:pt x="1162602" y="466"/>
                  </a:lnTo>
                  <a:lnTo>
                    <a:pt x="1154887" y="0"/>
                  </a:lnTo>
                  <a:lnTo>
                    <a:pt x="64008" y="0"/>
                  </a:lnTo>
                  <a:lnTo>
                    <a:pt x="71723" y="466"/>
                  </a:lnTo>
                  <a:lnTo>
                    <a:pt x="61430" y="51"/>
                  </a:lnTo>
                  <a:lnTo>
                    <a:pt x="51204" y="1293"/>
                  </a:lnTo>
                  <a:lnTo>
                    <a:pt x="41310" y="4159"/>
                  </a:lnTo>
                  <a:lnTo>
                    <a:pt x="32004" y="8575"/>
                  </a:lnTo>
                  <a:lnTo>
                    <a:pt x="23526" y="14427"/>
                  </a:lnTo>
                  <a:lnTo>
                    <a:pt x="16097" y="21562"/>
                  </a:lnTo>
                  <a:lnTo>
                    <a:pt x="9909" y="29797"/>
                  </a:lnTo>
                  <a:lnTo>
                    <a:pt x="5121" y="38919"/>
                  </a:lnTo>
                  <a:lnTo>
                    <a:pt x="1859" y="48689"/>
                  </a:lnTo>
                  <a:lnTo>
                    <a:pt x="207" y="58857"/>
                  </a:lnTo>
                  <a:lnTo>
                    <a:pt x="0" y="64008"/>
                  </a:lnTo>
                  <a:lnTo>
                    <a:pt x="0" y="292608"/>
                  </a:lnTo>
                  <a:lnTo>
                    <a:pt x="207" y="287457"/>
                  </a:lnTo>
                  <a:lnTo>
                    <a:pt x="207" y="297758"/>
                  </a:lnTo>
                  <a:lnTo>
                    <a:pt x="1859" y="307926"/>
                  </a:lnTo>
                  <a:lnTo>
                    <a:pt x="5121" y="317696"/>
                  </a:lnTo>
                  <a:lnTo>
                    <a:pt x="9909" y="326818"/>
                  </a:lnTo>
                  <a:lnTo>
                    <a:pt x="16097" y="335053"/>
                  </a:lnTo>
                  <a:lnTo>
                    <a:pt x="23526" y="342188"/>
                  </a:lnTo>
                  <a:lnTo>
                    <a:pt x="32004" y="348040"/>
                  </a:lnTo>
                  <a:lnTo>
                    <a:pt x="41310" y="352456"/>
                  </a:lnTo>
                  <a:lnTo>
                    <a:pt x="51204" y="355322"/>
                  </a:lnTo>
                  <a:lnTo>
                    <a:pt x="61430" y="3565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0953" cap="rnd">
              <a:solidFill>
                <a:srgbClr val="20202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tx100"/>
            <p:cNvSpPr/>
            <p:nvPr/>
          </p:nvSpPr>
          <p:spPr>
            <a:xfrm>
              <a:off x="3290696" y="4029166"/>
              <a:ext cx="853866" cy="1026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0" i="0" b="0">
                  <a:solidFill>
                    <a:srgbClr val="202020">
                      <a:alpha val="100000"/>
                    </a:srgbClr>
                  </a:solidFill>
                  <a:latin typeface="Arial"/>
                  <a:cs typeface="Arial"/>
                </a:rPr>
                <a:t>Pi3K21B/92E</a:t>
              </a:r>
            </a:p>
          </p:txBody>
        </p:sp>
        <p:sp>
          <p:nvSpPr>
            <p:cNvPr id="101" name="pg101"/>
            <p:cNvSpPr/>
            <p:nvPr/>
          </p:nvSpPr>
          <p:spPr>
            <a:xfrm>
              <a:off x="4680557" y="3902201"/>
              <a:ext cx="755715" cy="356615"/>
            </a:xfrm>
            <a:custGeom>
              <a:avLst/>
              <a:pathLst>
                <a:path w="755715" h="356615">
                  <a:moveTo>
                    <a:pt x="64008" y="356615"/>
                  </a:moveTo>
                  <a:lnTo>
                    <a:pt x="691707" y="356615"/>
                  </a:lnTo>
                  <a:lnTo>
                    <a:pt x="689129" y="356564"/>
                  </a:lnTo>
                  <a:lnTo>
                    <a:pt x="699422" y="356149"/>
                  </a:lnTo>
                  <a:lnTo>
                    <a:pt x="709515" y="354088"/>
                  </a:lnTo>
                  <a:lnTo>
                    <a:pt x="719146" y="350436"/>
                  </a:lnTo>
                  <a:lnTo>
                    <a:pt x="728067" y="345285"/>
                  </a:lnTo>
                  <a:lnTo>
                    <a:pt x="736046" y="338770"/>
                  </a:lnTo>
                  <a:lnTo>
                    <a:pt x="742877" y="331060"/>
                  </a:lnTo>
                  <a:lnTo>
                    <a:pt x="748383" y="322354"/>
                  </a:lnTo>
                  <a:lnTo>
                    <a:pt x="752420" y="312877"/>
                  </a:lnTo>
                  <a:lnTo>
                    <a:pt x="754886" y="302875"/>
                  </a:lnTo>
                  <a:lnTo>
                    <a:pt x="755715" y="292608"/>
                  </a:lnTo>
                  <a:lnTo>
                    <a:pt x="755715" y="64008"/>
                  </a:lnTo>
                  <a:lnTo>
                    <a:pt x="754886" y="53740"/>
                  </a:lnTo>
                  <a:lnTo>
                    <a:pt x="752420" y="43738"/>
                  </a:lnTo>
                  <a:lnTo>
                    <a:pt x="748383" y="34261"/>
                  </a:lnTo>
                  <a:lnTo>
                    <a:pt x="742877" y="25555"/>
                  </a:lnTo>
                  <a:lnTo>
                    <a:pt x="736046" y="17845"/>
                  </a:lnTo>
                  <a:lnTo>
                    <a:pt x="728067" y="11330"/>
                  </a:lnTo>
                  <a:lnTo>
                    <a:pt x="719146" y="6179"/>
                  </a:lnTo>
                  <a:lnTo>
                    <a:pt x="709515" y="2527"/>
                  </a:lnTo>
                  <a:lnTo>
                    <a:pt x="699422" y="466"/>
                  </a:lnTo>
                  <a:lnTo>
                    <a:pt x="691707" y="0"/>
                  </a:lnTo>
                  <a:lnTo>
                    <a:pt x="64008" y="0"/>
                  </a:lnTo>
                  <a:lnTo>
                    <a:pt x="71723" y="466"/>
                  </a:lnTo>
                  <a:lnTo>
                    <a:pt x="61430" y="51"/>
                  </a:lnTo>
                  <a:lnTo>
                    <a:pt x="51204" y="1293"/>
                  </a:lnTo>
                  <a:lnTo>
                    <a:pt x="41310" y="4159"/>
                  </a:lnTo>
                  <a:lnTo>
                    <a:pt x="32003" y="8575"/>
                  </a:lnTo>
                  <a:lnTo>
                    <a:pt x="23526" y="14427"/>
                  </a:lnTo>
                  <a:lnTo>
                    <a:pt x="16097" y="21562"/>
                  </a:lnTo>
                  <a:lnTo>
                    <a:pt x="9909" y="29797"/>
                  </a:lnTo>
                  <a:lnTo>
                    <a:pt x="5121" y="38919"/>
                  </a:lnTo>
                  <a:lnTo>
                    <a:pt x="1859" y="48689"/>
                  </a:lnTo>
                  <a:lnTo>
                    <a:pt x="207" y="58857"/>
                  </a:lnTo>
                  <a:lnTo>
                    <a:pt x="0" y="64008"/>
                  </a:lnTo>
                  <a:lnTo>
                    <a:pt x="0" y="292608"/>
                  </a:lnTo>
                  <a:lnTo>
                    <a:pt x="207" y="287457"/>
                  </a:lnTo>
                  <a:lnTo>
                    <a:pt x="207" y="297758"/>
                  </a:lnTo>
                  <a:lnTo>
                    <a:pt x="1859" y="307926"/>
                  </a:lnTo>
                  <a:lnTo>
                    <a:pt x="5121" y="317696"/>
                  </a:lnTo>
                  <a:lnTo>
                    <a:pt x="9909" y="326818"/>
                  </a:lnTo>
                  <a:lnTo>
                    <a:pt x="16097" y="335053"/>
                  </a:lnTo>
                  <a:lnTo>
                    <a:pt x="23526" y="342188"/>
                  </a:lnTo>
                  <a:lnTo>
                    <a:pt x="32003" y="348040"/>
                  </a:lnTo>
                  <a:lnTo>
                    <a:pt x="41310" y="352456"/>
                  </a:lnTo>
                  <a:lnTo>
                    <a:pt x="51204" y="355322"/>
                  </a:lnTo>
                  <a:lnTo>
                    <a:pt x="61430" y="356564"/>
                  </a:lnTo>
                  <a:close/>
                </a:path>
              </a:pathLst>
            </a:custGeom>
            <a:solidFill>
              <a:srgbClr val="D62828">
                <a:alpha val="100000"/>
              </a:srgbClr>
            </a:solidFill>
            <a:ln w="12382" cap="rnd">
              <a:solidFill>
                <a:srgbClr val="B71C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tx102"/>
            <p:cNvSpPr/>
            <p:nvPr/>
          </p:nvSpPr>
          <p:spPr>
            <a:xfrm>
              <a:off x="4886919" y="4029166"/>
              <a:ext cx="342991" cy="1026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0" i="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Pdk1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4674870" y="4382261"/>
              <a:ext cx="76709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1">
                  <a:solidFill>
                    <a:srgbClr val="C82127">
                      <a:alpha val="100000"/>
                    </a:srgbClr>
                  </a:solidFill>
                  <a:latin typeface="Arial"/>
                  <a:cs typeface="Arial"/>
                </a:rPr>
                <a:t>Pd L4 -&gt; Vv L2</a:t>
              </a:r>
            </a:p>
          </p:txBody>
        </p:sp>
        <p:sp>
          <p:nvSpPr>
            <p:cNvPr id="104" name="pg104"/>
            <p:cNvSpPr/>
            <p:nvPr/>
          </p:nvSpPr>
          <p:spPr>
            <a:xfrm>
              <a:off x="5801941" y="3902201"/>
              <a:ext cx="706959" cy="356615"/>
            </a:xfrm>
            <a:custGeom>
              <a:avLst/>
              <a:pathLst>
                <a:path w="706959" h="356615">
                  <a:moveTo>
                    <a:pt x="64008" y="356615"/>
                  </a:moveTo>
                  <a:lnTo>
                    <a:pt x="642951" y="356615"/>
                  </a:lnTo>
                  <a:lnTo>
                    <a:pt x="640373" y="356564"/>
                  </a:lnTo>
                  <a:lnTo>
                    <a:pt x="650666" y="356149"/>
                  </a:lnTo>
                  <a:lnTo>
                    <a:pt x="660759" y="354088"/>
                  </a:lnTo>
                  <a:lnTo>
                    <a:pt x="670390" y="350436"/>
                  </a:lnTo>
                  <a:lnTo>
                    <a:pt x="679311" y="345285"/>
                  </a:lnTo>
                  <a:lnTo>
                    <a:pt x="687291" y="338770"/>
                  </a:lnTo>
                  <a:lnTo>
                    <a:pt x="694121" y="331060"/>
                  </a:lnTo>
                  <a:lnTo>
                    <a:pt x="699627" y="322354"/>
                  </a:lnTo>
                  <a:lnTo>
                    <a:pt x="703665" y="312877"/>
                  </a:lnTo>
                  <a:lnTo>
                    <a:pt x="706130" y="302875"/>
                  </a:lnTo>
                  <a:lnTo>
                    <a:pt x="706959" y="292608"/>
                  </a:lnTo>
                  <a:lnTo>
                    <a:pt x="706959" y="64008"/>
                  </a:lnTo>
                  <a:lnTo>
                    <a:pt x="706130" y="53740"/>
                  </a:lnTo>
                  <a:lnTo>
                    <a:pt x="703665" y="43738"/>
                  </a:lnTo>
                  <a:lnTo>
                    <a:pt x="699627" y="34261"/>
                  </a:lnTo>
                  <a:lnTo>
                    <a:pt x="694121" y="25555"/>
                  </a:lnTo>
                  <a:lnTo>
                    <a:pt x="687291" y="17845"/>
                  </a:lnTo>
                  <a:lnTo>
                    <a:pt x="679311" y="11330"/>
                  </a:lnTo>
                  <a:lnTo>
                    <a:pt x="670390" y="6179"/>
                  </a:lnTo>
                  <a:lnTo>
                    <a:pt x="660759" y="2527"/>
                  </a:lnTo>
                  <a:lnTo>
                    <a:pt x="650666" y="466"/>
                  </a:lnTo>
                  <a:lnTo>
                    <a:pt x="642951" y="0"/>
                  </a:lnTo>
                  <a:lnTo>
                    <a:pt x="64008" y="0"/>
                  </a:lnTo>
                  <a:lnTo>
                    <a:pt x="71723" y="466"/>
                  </a:lnTo>
                  <a:lnTo>
                    <a:pt x="61430" y="51"/>
                  </a:lnTo>
                  <a:lnTo>
                    <a:pt x="51204" y="1293"/>
                  </a:lnTo>
                  <a:lnTo>
                    <a:pt x="41310" y="4159"/>
                  </a:lnTo>
                  <a:lnTo>
                    <a:pt x="32004" y="8575"/>
                  </a:lnTo>
                  <a:lnTo>
                    <a:pt x="23526" y="14427"/>
                  </a:lnTo>
                  <a:lnTo>
                    <a:pt x="16097" y="21562"/>
                  </a:lnTo>
                  <a:lnTo>
                    <a:pt x="9909" y="29797"/>
                  </a:lnTo>
                  <a:lnTo>
                    <a:pt x="5121" y="38919"/>
                  </a:lnTo>
                  <a:lnTo>
                    <a:pt x="1859" y="48689"/>
                  </a:lnTo>
                  <a:lnTo>
                    <a:pt x="207" y="58857"/>
                  </a:lnTo>
                  <a:lnTo>
                    <a:pt x="0" y="64008"/>
                  </a:lnTo>
                  <a:lnTo>
                    <a:pt x="0" y="292608"/>
                  </a:lnTo>
                  <a:lnTo>
                    <a:pt x="207" y="287457"/>
                  </a:lnTo>
                  <a:lnTo>
                    <a:pt x="207" y="297758"/>
                  </a:lnTo>
                  <a:lnTo>
                    <a:pt x="1859" y="307926"/>
                  </a:lnTo>
                  <a:lnTo>
                    <a:pt x="5121" y="317696"/>
                  </a:lnTo>
                  <a:lnTo>
                    <a:pt x="9909" y="326818"/>
                  </a:lnTo>
                  <a:lnTo>
                    <a:pt x="16097" y="335053"/>
                  </a:lnTo>
                  <a:lnTo>
                    <a:pt x="23526" y="342188"/>
                  </a:lnTo>
                  <a:lnTo>
                    <a:pt x="32004" y="348040"/>
                  </a:lnTo>
                  <a:lnTo>
                    <a:pt x="41310" y="352456"/>
                  </a:lnTo>
                  <a:lnTo>
                    <a:pt x="51204" y="355322"/>
                  </a:lnTo>
                  <a:lnTo>
                    <a:pt x="61430" y="3565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0953" cap="rnd">
              <a:solidFill>
                <a:srgbClr val="20202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tx105"/>
            <p:cNvSpPr/>
            <p:nvPr/>
          </p:nvSpPr>
          <p:spPr>
            <a:xfrm>
              <a:off x="6011814" y="4029166"/>
              <a:ext cx="287213" cy="1026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0" i="0" b="0">
                  <a:solidFill>
                    <a:srgbClr val="202020">
                      <a:alpha val="100000"/>
                    </a:srgbClr>
                  </a:solidFill>
                  <a:latin typeface="Arial"/>
                  <a:cs typeface="Arial"/>
                </a:rPr>
                <a:t>Akt1</a:t>
              </a:r>
            </a:p>
          </p:txBody>
        </p:sp>
        <p:sp>
          <p:nvSpPr>
            <p:cNvPr id="106" name="pg106"/>
            <p:cNvSpPr/>
            <p:nvPr/>
          </p:nvSpPr>
          <p:spPr>
            <a:xfrm>
              <a:off x="6947702" y="1824227"/>
              <a:ext cx="853226" cy="466343"/>
            </a:xfrm>
            <a:custGeom>
              <a:avLst/>
              <a:pathLst>
                <a:path w="853226" h="466343">
                  <a:moveTo>
                    <a:pt x="64008" y="466343"/>
                  </a:moveTo>
                  <a:lnTo>
                    <a:pt x="789218" y="466343"/>
                  </a:lnTo>
                  <a:lnTo>
                    <a:pt x="786641" y="466292"/>
                  </a:lnTo>
                  <a:lnTo>
                    <a:pt x="796933" y="465877"/>
                  </a:lnTo>
                  <a:lnTo>
                    <a:pt x="807026" y="463816"/>
                  </a:lnTo>
                  <a:lnTo>
                    <a:pt x="816658" y="460164"/>
                  </a:lnTo>
                  <a:lnTo>
                    <a:pt x="825579" y="455013"/>
                  </a:lnTo>
                  <a:lnTo>
                    <a:pt x="833558" y="448498"/>
                  </a:lnTo>
                  <a:lnTo>
                    <a:pt x="840389" y="440788"/>
                  </a:lnTo>
                  <a:lnTo>
                    <a:pt x="845894" y="432082"/>
                  </a:lnTo>
                  <a:lnTo>
                    <a:pt x="849932" y="422605"/>
                  </a:lnTo>
                  <a:lnTo>
                    <a:pt x="852397" y="412603"/>
                  </a:lnTo>
                  <a:lnTo>
                    <a:pt x="853226" y="402335"/>
                  </a:lnTo>
                  <a:lnTo>
                    <a:pt x="853226" y="64007"/>
                  </a:lnTo>
                  <a:lnTo>
                    <a:pt x="852397" y="53740"/>
                  </a:lnTo>
                  <a:lnTo>
                    <a:pt x="849932" y="43738"/>
                  </a:lnTo>
                  <a:lnTo>
                    <a:pt x="845894" y="34261"/>
                  </a:lnTo>
                  <a:lnTo>
                    <a:pt x="840389" y="25555"/>
                  </a:lnTo>
                  <a:lnTo>
                    <a:pt x="833558" y="17845"/>
                  </a:lnTo>
                  <a:lnTo>
                    <a:pt x="825579" y="11330"/>
                  </a:lnTo>
                  <a:lnTo>
                    <a:pt x="816658" y="6179"/>
                  </a:lnTo>
                  <a:lnTo>
                    <a:pt x="807026" y="2527"/>
                  </a:lnTo>
                  <a:lnTo>
                    <a:pt x="796933" y="466"/>
                  </a:lnTo>
                  <a:lnTo>
                    <a:pt x="789218" y="0"/>
                  </a:lnTo>
                  <a:lnTo>
                    <a:pt x="64008" y="0"/>
                  </a:lnTo>
                  <a:lnTo>
                    <a:pt x="71723" y="466"/>
                  </a:lnTo>
                  <a:lnTo>
                    <a:pt x="61430" y="51"/>
                  </a:lnTo>
                  <a:lnTo>
                    <a:pt x="51204" y="1293"/>
                  </a:lnTo>
                  <a:lnTo>
                    <a:pt x="41310" y="4159"/>
                  </a:lnTo>
                  <a:lnTo>
                    <a:pt x="32003" y="8575"/>
                  </a:lnTo>
                  <a:lnTo>
                    <a:pt x="23526" y="14427"/>
                  </a:lnTo>
                  <a:lnTo>
                    <a:pt x="16097" y="21562"/>
                  </a:lnTo>
                  <a:lnTo>
                    <a:pt x="9909" y="29797"/>
                  </a:lnTo>
                  <a:lnTo>
                    <a:pt x="5121" y="38919"/>
                  </a:lnTo>
                  <a:lnTo>
                    <a:pt x="1859" y="48689"/>
                  </a:lnTo>
                  <a:lnTo>
                    <a:pt x="207" y="58857"/>
                  </a:lnTo>
                  <a:lnTo>
                    <a:pt x="0" y="64007"/>
                  </a:lnTo>
                  <a:lnTo>
                    <a:pt x="0" y="402335"/>
                  </a:lnTo>
                  <a:lnTo>
                    <a:pt x="207" y="397185"/>
                  </a:lnTo>
                  <a:lnTo>
                    <a:pt x="207" y="407486"/>
                  </a:lnTo>
                  <a:lnTo>
                    <a:pt x="1859" y="417654"/>
                  </a:lnTo>
                  <a:lnTo>
                    <a:pt x="5121" y="427424"/>
                  </a:lnTo>
                  <a:lnTo>
                    <a:pt x="9909" y="436546"/>
                  </a:lnTo>
                  <a:lnTo>
                    <a:pt x="16097" y="444781"/>
                  </a:lnTo>
                  <a:lnTo>
                    <a:pt x="23526" y="451916"/>
                  </a:lnTo>
                  <a:lnTo>
                    <a:pt x="32003" y="457768"/>
                  </a:lnTo>
                  <a:lnTo>
                    <a:pt x="41310" y="462184"/>
                  </a:lnTo>
                  <a:lnTo>
                    <a:pt x="51204" y="465050"/>
                  </a:lnTo>
                  <a:lnTo>
                    <a:pt x="61430" y="4662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0953" cap="rnd">
              <a:solidFill>
                <a:srgbClr val="20202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tx107"/>
            <p:cNvSpPr/>
            <p:nvPr/>
          </p:nvSpPr>
          <p:spPr>
            <a:xfrm>
              <a:off x="7154997" y="1917816"/>
              <a:ext cx="438637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9" i="0" b="0">
                  <a:solidFill>
                    <a:srgbClr val="202020">
                      <a:alpha val="100000"/>
                    </a:srgbClr>
                  </a:solidFill>
                  <a:latin typeface="Arial"/>
                  <a:cs typeface="Arial"/>
                </a:rPr>
                <a:t>TSC1/2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7081250" y="2104354"/>
              <a:ext cx="586130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9" i="0" b="0">
                  <a:solidFill>
                    <a:srgbClr val="202020">
                      <a:alpha val="100000"/>
                    </a:srgbClr>
                  </a:solidFill>
                  <a:latin typeface="Arial"/>
                  <a:cs typeface="Arial"/>
                </a:rPr>
                <a:t>Tsc1 + gig</a:t>
              </a:r>
            </a:p>
          </p:txBody>
        </p:sp>
        <p:sp>
          <p:nvSpPr>
            <p:cNvPr id="109" name="pg109"/>
            <p:cNvSpPr/>
            <p:nvPr/>
          </p:nvSpPr>
          <p:spPr>
            <a:xfrm>
              <a:off x="7971574" y="1892807"/>
              <a:ext cx="633825" cy="329184"/>
            </a:xfrm>
            <a:custGeom>
              <a:avLst/>
              <a:pathLst>
                <a:path w="633825" h="329184">
                  <a:moveTo>
                    <a:pt x="64008" y="329184"/>
                  </a:moveTo>
                  <a:lnTo>
                    <a:pt x="569817" y="329184"/>
                  </a:lnTo>
                  <a:lnTo>
                    <a:pt x="567240" y="329132"/>
                  </a:lnTo>
                  <a:lnTo>
                    <a:pt x="577532" y="328717"/>
                  </a:lnTo>
                  <a:lnTo>
                    <a:pt x="587625" y="326656"/>
                  </a:lnTo>
                  <a:lnTo>
                    <a:pt x="597257" y="323004"/>
                  </a:lnTo>
                  <a:lnTo>
                    <a:pt x="606178" y="317853"/>
                  </a:lnTo>
                  <a:lnTo>
                    <a:pt x="614157" y="311338"/>
                  </a:lnTo>
                  <a:lnTo>
                    <a:pt x="620988" y="303628"/>
                  </a:lnTo>
                  <a:lnTo>
                    <a:pt x="626493" y="294922"/>
                  </a:lnTo>
                  <a:lnTo>
                    <a:pt x="630531" y="285445"/>
                  </a:lnTo>
                  <a:lnTo>
                    <a:pt x="632996" y="275443"/>
                  </a:lnTo>
                  <a:lnTo>
                    <a:pt x="633825" y="265176"/>
                  </a:lnTo>
                  <a:lnTo>
                    <a:pt x="633825" y="64008"/>
                  </a:lnTo>
                  <a:lnTo>
                    <a:pt x="632996" y="53740"/>
                  </a:lnTo>
                  <a:lnTo>
                    <a:pt x="630531" y="43738"/>
                  </a:lnTo>
                  <a:lnTo>
                    <a:pt x="626493" y="34261"/>
                  </a:lnTo>
                  <a:lnTo>
                    <a:pt x="620988" y="25555"/>
                  </a:lnTo>
                  <a:lnTo>
                    <a:pt x="614157" y="17845"/>
                  </a:lnTo>
                  <a:lnTo>
                    <a:pt x="606178" y="11330"/>
                  </a:lnTo>
                  <a:lnTo>
                    <a:pt x="597257" y="6179"/>
                  </a:lnTo>
                  <a:lnTo>
                    <a:pt x="587625" y="2527"/>
                  </a:lnTo>
                  <a:lnTo>
                    <a:pt x="577532" y="466"/>
                  </a:lnTo>
                  <a:lnTo>
                    <a:pt x="569817" y="0"/>
                  </a:lnTo>
                  <a:lnTo>
                    <a:pt x="64008" y="0"/>
                  </a:lnTo>
                  <a:lnTo>
                    <a:pt x="71723" y="466"/>
                  </a:lnTo>
                  <a:lnTo>
                    <a:pt x="61430" y="51"/>
                  </a:lnTo>
                  <a:lnTo>
                    <a:pt x="51204" y="1293"/>
                  </a:lnTo>
                  <a:lnTo>
                    <a:pt x="41310" y="4159"/>
                  </a:lnTo>
                  <a:lnTo>
                    <a:pt x="32003" y="8575"/>
                  </a:lnTo>
                  <a:lnTo>
                    <a:pt x="23526" y="14427"/>
                  </a:lnTo>
                  <a:lnTo>
                    <a:pt x="16097" y="21562"/>
                  </a:lnTo>
                  <a:lnTo>
                    <a:pt x="9909" y="29797"/>
                  </a:lnTo>
                  <a:lnTo>
                    <a:pt x="5121" y="38919"/>
                  </a:lnTo>
                  <a:lnTo>
                    <a:pt x="1859" y="48689"/>
                  </a:lnTo>
                  <a:lnTo>
                    <a:pt x="207" y="58857"/>
                  </a:lnTo>
                  <a:lnTo>
                    <a:pt x="0" y="64008"/>
                  </a:lnTo>
                  <a:lnTo>
                    <a:pt x="0" y="265176"/>
                  </a:lnTo>
                  <a:lnTo>
                    <a:pt x="207" y="260025"/>
                  </a:lnTo>
                  <a:lnTo>
                    <a:pt x="207" y="270326"/>
                  </a:lnTo>
                  <a:lnTo>
                    <a:pt x="1859" y="280494"/>
                  </a:lnTo>
                  <a:lnTo>
                    <a:pt x="5121" y="290264"/>
                  </a:lnTo>
                  <a:lnTo>
                    <a:pt x="9909" y="299386"/>
                  </a:lnTo>
                  <a:lnTo>
                    <a:pt x="16097" y="307621"/>
                  </a:lnTo>
                  <a:lnTo>
                    <a:pt x="23526" y="314756"/>
                  </a:lnTo>
                  <a:lnTo>
                    <a:pt x="32003" y="320608"/>
                  </a:lnTo>
                  <a:lnTo>
                    <a:pt x="41310" y="325024"/>
                  </a:lnTo>
                  <a:lnTo>
                    <a:pt x="51204" y="327890"/>
                  </a:lnTo>
                  <a:lnTo>
                    <a:pt x="61430" y="3291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0953" cap="rnd">
              <a:solidFill>
                <a:srgbClr val="20202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tx110"/>
            <p:cNvSpPr/>
            <p:nvPr/>
          </p:nvSpPr>
          <p:spPr>
            <a:xfrm>
              <a:off x="8116945" y="2006056"/>
              <a:ext cx="343082" cy="1026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0" i="0" b="0">
                  <a:solidFill>
                    <a:srgbClr val="202020">
                      <a:alpha val="100000"/>
                    </a:srgbClr>
                  </a:solidFill>
                  <a:latin typeface="Arial"/>
                  <a:cs typeface="Arial"/>
                </a:rPr>
                <a:t>Rheb</a:t>
              </a:r>
            </a:p>
          </p:txBody>
        </p:sp>
        <p:sp>
          <p:nvSpPr>
            <p:cNvPr id="111" name="pg111"/>
            <p:cNvSpPr/>
            <p:nvPr/>
          </p:nvSpPr>
          <p:spPr>
            <a:xfrm>
              <a:off x="8849179" y="1892807"/>
              <a:ext cx="633825" cy="329184"/>
            </a:xfrm>
            <a:custGeom>
              <a:avLst/>
              <a:pathLst>
                <a:path w="633825" h="329184">
                  <a:moveTo>
                    <a:pt x="64007" y="329184"/>
                  </a:moveTo>
                  <a:lnTo>
                    <a:pt x="569817" y="329184"/>
                  </a:lnTo>
                  <a:lnTo>
                    <a:pt x="567240" y="329132"/>
                  </a:lnTo>
                  <a:lnTo>
                    <a:pt x="577532" y="328717"/>
                  </a:lnTo>
                  <a:lnTo>
                    <a:pt x="587625" y="326656"/>
                  </a:lnTo>
                  <a:lnTo>
                    <a:pt x="597257" y="323004"/>
                  </a:lnTo>
                  <a:lnTo>
                    <a:pt x="606178" y="317853"/>
                  </a:lnTo>
                  <a:lnTo>
                    <a:pt x="614157" y="311338"/>
                  </a:lnTo>
                  <a:lnTo>
                    <a:pt x="620988" y="303628"/>
                  </a:lnTo>
                  <a:lnTo>
                    <a:pt x="626493" y="294922"/>
                  </a:lnTo>
                  <a:lnTo>
                    <a:pt x="630531" y="285445"/>
                  </a:lnTo>
                  <a:lnTo>
                    <a:pt x="632996" y="275443"/>
                  </a:lnTo>
                  <a:lnTo>
                    <a:pt x="633825" y="265176"/>
                  </a:lnTo>
                  <a:lnTo>
                    <a:pt x="633825" y="64008"/>
                  </a:lnTo>
                  <a:lnTo>
                    <a:pt x="632996" y="53740"/>
                  </a:lnTo>
                  <a:lnTo>
                    <a:pt x="630531" y="43738"/>
                  </a:lnTo>
                  <a:lnTo>
                    <a:pt x="626493" y="34261"/>
                  </a:lnTo>
                  <a:lnTo>
                    <a:pt x="620988" y="25555"/>
                  </a:lnTo>
                  <a:lnTo>
                    <a:pt x="614157" y="17845"/>
                  </a:lnTo>
                  <a:lnTo>
                    <a:pt x="606178" y="11330"/>
                  </a:lnTo>
                  <a:lnTo>
                    <a:pt x="597257" y="6179"/>
                  </a:lnTo>
                  <a:lnTo>
                    <a:pt x="587625" y="2527"/>
                  </a:lnTo>
                  <a:lnTo>
                    <a:pt x="577532" y="466"/>
                  </a:lnTo>
                  <a:lnTo>
                    <a:pt x="569817" y="0"/>
                  </a:lnTo>
                  <a:lnTo>
                    <a:pt x="64007" y="0"/>
                  </a:lnTo>
                  <a:lnTo>
                    <a:pt x="71723" y="466"/>
                  </a:lnTo>
                  <a:lnTo>
                    <a:pt x="61430" y="51"/>
                  </a:lnTo>
                  <a:lnTo>
                    <a:pt x="51204" y="1293"/>
                  </a:lnTo>
                  <a:lnTo>
                    <a:pt x="41310" y="4159"/>
                  </a:lnTo>
                  <a:lnTo>
                    <a:pt x="32003" y="8575"/>
                  </a:lnTo>
                  <a:lnTo>
                    <a:pt x="23526" y="14427"/>
                  </a:lnTo>
                  <a:lnTo>
                    <a:pt x="16097" y="21562"/>
                  </a:lnTo>
                  <a:lnTo>
                    <a:pt x="9909" y="29797"/>
                  </a:lnTo>
                  <a:lnTo>
                    <a:pt x="5121" y="38919"/>
                  </a:lnTo>
                  <a:lnTo>
                    <a:pt x="1859" y="48689"/>
                  </a:lnTo>
                  <a:lnTo>
                    <a:pt x="207" y="58857"/>
                  </a:lnTo>
                  <a:lnTo>
                    <a:pt x="0" y="64008"/>
                  </a:lnTo>
                  <a:lnTo>
                    <a:pt x="0" y="265176"/>
                  </a:lnTo>
                  <a:lnTo>
                    <a:pt x="207" y="260025"/>
                  </a:lnTo>
                  <a:lnTo>
                    <a:pt x="207" y="270326"/>
                  </a:lnTo>
                  <a:lnTo>
                    <a:pt x="1859" y="280494"/>
                  </a:lnTo>
                  <a:lnTo>
                    <a:pt x="5121" y="290264"/>
                  </a:lnTo>
                  <a:lnTo>
                    <a:pt x="9909" y="299386"/>
                  </a:lnTo>
                  <a:lnTo>
                    <a:pt x="16097" y="307621"/>
                  </a:lnTo>
                  <a:lnTo>
                    <a:pt x="23526" y="314756"/>
                  </a:lnTo>
                  <a:lnTo>
                    <a:pt x="32003" y="320608"/>
                  </a:lnTo>
                  <a:lnTo>
                    <a:pt x="41310" y="325024"/>
                  </a:lnTo>
                  <a:lnTo>
                    <a:pt x="51204" y="327890"/>
                  </a:lnTo>
                  <a:lnTo>
                    <a:pt x="61430" y="3291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0953" cap="rnd">
              <a:solidFill>
                <a:srgbClr val="20202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tx112"/>
            <p:cNvSpPr/>
            <p:nvPr/>
          </p:nvSpPr>
          <p:spPr>
            <a:xfrm>
              <a:off x="9066468" y="2006056"/>
              <a:ext cx="199247" cy="1026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0" i="0" b="0">
                  <a:solidFill>
                    <a:srgbClr val="202020">
                      <a:alpha val="100000"/>
                    </a:srgbClr>
                  </a:solidFill>
                  <a:latin typeface="Arial"/>
                  <a:cs typeface="Arial"/>
                </a:rPr>
                <a:t>Tor</a:t>
              </a:r>
            </a:p>
          </p:txBody>
        </p:sp>
        <p:sp>
          <p:nvSpPr>
            <p:cNvPr id="113" name="pg113"/>
            <p:cNvSpPr/>
            <p:nvPr/>
          </p:nvSpPr>
          <p:spPr>
            <a:xfrm>
              <a:off x="9738972" y="1892807"/>
              <a:ext cx="633825" cy="329184"/>
            </a:xfrm>
            <a:custGeom>
              <a:avLst/>
              <a:pathLst>
                <a:path w="633825" h="329184">
                  <a:moveTo>
                    <a:pt x="64007" y="329184"/>
                  </a:moveTo>
                  <a:lnTo>
                    <a:pt x="569817" y="329184"/>
                  </a:lnTo>
                  <a:lnTo>
                    <a:pt x="567240" y="329132"/>
                  </a:lnTo>
                  <a:lnTo>
                    <a:pt x="577532" y="328717"/>
                  </a:lnTo>
                  <a:lnTo>
                    <a:pt x="587625" y="326656"/>
                  </a:lnTo>
                  <a:lnTo>
                    <a:pt x="597257" y="323004"/>
                  </a:lnTo>
                  <a:lnTo>
                    <a:pt x="606178" y="317853"/>
                  </a:lnTo>
                  <a:lnTo>
                    <a:pt x="614157" y="311338"/>
                  </a:lnTo>
                  <a:lnTo>
                    <a:pt x="620988" y="303628"/>
                  </a:lnTo>
                  <a:lnTo>
                    <a:pt x="626493" y="294922"/>
                  </a:lnTo>
                  <a:lnTo>
                    <a:pt x="630531" y="285445"/>
                  </a:lnTo>
                  <a:lnTo>
                    <a:pt x="632996" y="275443"/>
                  </a:lnTo>
                  <a:lnTo>
                    <a:pt x="633825" y="265176"/>
                  </a:lnTo>
                  <a:lnTo>
                    <a:pt x="633825" y="64008"/>
                  </a:lnTo>
                  <a:lnTo>
                    <a:pt x="632996" y="53740"/>
                  </a:lnTo>
                  <a:lnTo>
                    <a:pt x="630531" y="43738"/>
                  </a:lnTo>
                  <a:lnTo>
                    <a:pt x="626493" y="34261"/>
                  </a:lnTo>
                  <a:lnTo>
                    <a:pt x="620988" y="25555"/>
                  </a:lnTo>
                  <a:lnTo>
                    <a:pt x="614157" y="17845"/>
                  </a:lnTo>
                  <a:lnTo>
                    <a:pt x="606178" y="11330"/>
                  </a:lnTo>
                  <a:lnTo>
                    <a:pt x="597257" y="6179"/>
                  </a:lnTo>
                  <a:lnTo>
                    <a:pt x="587625" y="2527"/>
                  </a:lnTo>
                  <a:lnTo>
                    <a:pt x="577532" y="466"/>
                  </a:lnTo>
                  <a:lnTo>
                    <a:pt x="569817" y="0"/>
                  </a:lnTo>
                  <a:lnTo>
                    <a:pt x="64007" y="0"/>
                  </a:lnTo>
                  <a:lnTo>
                    <a:pt x="71723" y="466"/>
                  </a:lnTo>
                  <a:lnTo>
                    <a:pt x="61430" y="51"/>
                  </a:lnTo>
                  <a:lnTo>
                    <a:pt x="51204" y="1293"/>
                  </a:lnTo>
                  <a:lnTo>
                    <a:pt x="41310" y="4159"/>
                  </a:lnTo>
                  <a:lnTo>
                    <a:pt x="32003" y="8575"/>
                  </a:lnTo>
                  <a:lnTo>
                    <a:pt x="23526" y="14427"/>
                  </a:lnTo>
                  <a:lnTo>
                    <a:pt x="16097" y="21562"/>
                  </a:lnTo>
                  <a:lnTo>
                    <a:pt x="9909" y="29797"/>
                  </a:lnTo>
                  <a:lnTo>
                    <a:pt x="5121" y="38919"/>
                  </a:lnTo>
                  <a:lnTo>
                    <a:pt x="1859" y="48689"/>
                  </a:lnTo>
                  <a:lnTo>
                    <a:pt x="207" y="58857"/>
                  </a:lnTo>
                  <a:lnTo>
                    <a:pt x="0" y="64008"/>
                  </a:lnTo>
                  <a:lnTo>
                    <a:pt x="0" y="265176"/>
                  </a:lnTo>
                  <a:lnTo>
                    <a:pt x="207" y="260025"/>
                  </a:lnTo>
                  <a:lnTo>
                    <a:pt x="207" y="270326"/>
                  </a:lnTo>
                  <a:lnTo>
                    <a:pt x="1859" y="280494"/>
                  </a:lnTo>
                  <a:lnTo>
                    <a:pt x="5121" y="290264"/>
                  </a:lnTo>
                  <a:lnTo>
                    <a:pt x="9909" y="299386"/>
                  </a:lnTo>
                  <a:lnTo>
                    <a:pt x="16097" y="307621"/>
                  </a:lnTo>
                  <a:lnTo>
                    <a:pt x="23526" y="314756"/>
                  </a:lnTo>
                  <a:lnTo>
                    <a:pt x="32003" y="320608"/>
                  </a:lnTo>
                  <a:lnTo>
                    <a:pt x="41310" y="325024"/>
                  </a:lnTo>
                  <a:lnTo>
                    <a:pt x="51204" y="327890"/>
                  </a:lnTo>
                  <a:lnTo>
                    <a:pt x="61430" y="3291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0953" cap="rnd">
              <a:solidFill>
                <a:srgbClr val="20202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tx114"/>
            <p:cNvSpPr/>
            <p:nvPr/>
          </p:nvSpPr>
          <p:spPr>
            <a:xfrm>
              <a:off x="9932212" y="2006056"/>
              <a:ext cx="247345" cy="1026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0" i="0" b="0">
                  <a:solidFill>
                    <a:srgbClr val="202020">
                      <a:alpha val="100000"/>
                    </a:srgbClr>
                  </a:solidFill>
                  <a:latin typeface="Arial"/>
                  <a:cs typeface="Arial"/>
                </a:rPr>
                <a:t>S6k</a:t>
              </a:r>
            </a:p>
          </p:txBody>
        </p:sp>
        <p:sp>
          <p:nvSpPr>
            <p:cNvPr id="115" name="pg115"/>
            <p:cNvSpPr/>
            <p:nvPr/>
          </p:nvSpPr>
          <p:spPr>
            <a:xfrm>
              <a:off x="11018812" y="1800225"/>
              <a:ext cx="1048249" cy="514350"/>
            </a:xfrm>
            <a:custGeom>
              <a:avLst/>
              <a:pathLst>
                <a:path w="1048249" h="514350">
                  <a:moveTo>
                    <a:pt x="64008" y="514350"/>
                  </a:moveTo>
                  <a:lnTo>
                    <a:pt x="984241" y="514350"/>
                  </a:lnTo>
                  <a:lnTo>
                    <a:pt x="981664" y="514298"/>
                  </a:lnTo>
                  <a:lnTo>
                    <a:pt x="991957" y="513883"/>
                  </a:lnTo>
                  <a:lnTo>
                    <a:pt x="1002050" y="511822"/>
                  </a:lnTo>
                  <a:lnTo>
                    <a:pt x="1011681" y="508170"/>
                  </a:lnTo>
                  <a:lnTo>
                    <a:pt x="1020602" y="503019"/>
                  </a:lnTo>
                  <a:lnTo>
                    <a:pt x="1028581" y="496504"/>
                  </a:lnTo>
                  <a:lnTo>
                    <a:pt x="1035412" y="488794"/>
                  </a:lnTo>
                  <a:lnTo>
                    <a:pt x="1040918" y="480088"/>
                  </a:lnTo>
                  <a:lnTo>
                    <a:pt x="1044955" y="470611"/>
                  </a:lnTo>
                  <a:lnTo>
                    <a:pt x="1047420" y="460609"/>
                  </a:lnTo>
                  <a:lnTo>
                    <a:pt x="1048249" y="450341"/>
                  </a:lnTo>
                  <a:lnTo>
                    <a:pt x="1048249" y="64008"/>
                  </a:lnTo>
                  <a:lnTo>
                    <a:pt x="1047420" y="53740"/>
                  </a:lnTo>
                  <a:lnTo>
                    <a:pt x="1044955" y="43738"/>
                  </a:lnTo>
                  <a:lnTo>
                    <a:pt x="1040918" y="34261"/>
                  </a:lnTo>
                  <a:lnTo>
                    <a:pt x="1035412" y="25555"/>
                  </a:lnTo>
                  <a:lnTo>
                    <a:pt x="1028581" y="17845"/>
                  </a:lnTo>
                  <a:lnTo>
                    <a:pt x="1020602" y="11330"/>
                  </a:lnTo>
                  <a:lnTo>
                    <a:pt x="1011681" y="6179"/>
                  </a:lnTo>
                  <a:lnTo>
                    <a:pt x="1002050" y="2527"/>
                  </a:lnTo>
                  <a:lnTo>
                    <a:pt x="991957" y="466"/>
                  </a:lnTo>
                  <a:lnTo>
                    <a:pt x="984241" y="0"/>
                  </a:lnTo>
                  <a:lnTo>
                    <a:pt x="64008" y="0"/>
                  </a:lnTo>
                  <a:lnTo>
                    <a:pt x="71723" y="466"/>
                  </a:lnTo>
                  <a:lnTo>
                    <a:pt x="61430" y="51"/>
                  </a:lnTo>
                  <a:lnTo>
                    <a:pt x="51204" y="1293"/>
                  </a:lnTo>
                  <a:lnTo>
                    <a:pt x="41310" y="4159"/>
                  </a:lnTo>
                  <a:lnTo>
                    <a:pt x="32003" y="8575"/>
                  </a:lnTo>
                  <a:lnTo>
                    <a:pt x="23526" y="14427"/>
                  </a:lnTo>
                  <a:lnTo>
                    <a:pt x="16097" y="21562"/>
                  </a:lnTo>
                  <a:lnTo>
                    <a:pt x="9909" y="29797"/>
                  </a:lnTo>
                  <a:lnTo>
                    <a:pt x="5121" y="38919"/>
                  </a:lnTo>
                  <a:lnTo>
                    <a:pt x="1859" y="48689"/>
                  </a:lnTo>
                  <a:lnTo>
                    <a:pt x="207" y="58857"/>
                  </a:lnTo>
                  <a:lnTo>
                    <a:pt x="0" y="64008"/>
                  </a:lnTo>
                  <a:lnTo>
                    <a:pt x="0" y="450341"/>
                  </a:lnTo>
                  <a:lnTo>
                    <a:pt x="207" y="445191"/>
                  </a:lnTo>
                  <a:lnTo>
                    <a:pt x="207" y="455492"/>
                  </a:lnTo>
                  <a:lnTo>
                    <a:pt x="1859" y="465660"/>
                  </a:lnTo>
                  <a:lnTo>
                    <a:pt x="5121" y="475430"/>
                  </a:lnTo>
                  <a:lnTo>
                    <a:pt x="9909" y="484552"/>
                  </a:lnTo>
                  <a:lnTo>
                    <a:pt x="16097" y="492787"/>
                  </a:lnTo>
                  <a:lnTo>
                    <a:pt x="23526" y="499922"/>
                  </a:lnTo>
                  <a:lnTo>
                    <a:pt x="32003" y="505774"/>
                  </a:lnTo>
                  <a:lnTo>
                    <a:pt x="41310" y="510190"/>
                  </a:lnTo>
                  <a:lnTo>
                    <a:pt x="51204" y="513056"/>
                  </a:lnTo>
                  <a:lnTo>
                    <a:pt x="61430" y="514298"/>
                  </a:lnTo>
                  <a:close/>
                </a:path>
              </a:pathLst>
            </a:custGeom>
            <a:solidFill>
              <a:srgbClr val="EEE9FA">
                <a:alpha val="100000"/>
              </a:srgbClr>
            </a:solidFill>
            <a:ln w="10953" cap="rnd">
              <a:solidFill>
                <a:srgbClr val="9B8B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tx116"/>
            <p:cNvSpPr/>
            <p:nvPr/>
          </p:nvSpPr>
          <p:spPr>
            <a:xfrm>
              <a:off x="11225320" y="1917816"/>
              <a:ext cx="635233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9" i="0" b="0">
                  <a:solidFill>
                    <a:srgbClr val="202020">
                      <a:alpha val="100000"/>
                    </a:srgbClr>
                  </a:solidFill>
                  <a:latin typeface="Arial"/>
                  <a:cs typeface="Arial"/>
                </a:rPr>
                <a:t>Translation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11222851" y="2104354"/>
              <a:ext cx="640171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9" i="0" b="0">
                  <a:solidFill>
                    <a:srgbClr val="202020">
                      <a:alpha val="100000"/>
                    </a:srgbClr>
                  </a:solidFill>
                  <a:latin typeface="Arial"/>
                  <a:cs typeface="Arial"/>
                </a:rPr>
                <a:t>and growth</a:t>
              </a:r>
            </a:p>
          </p:txBody>
        </p:sp>
        <p:sp>
          <p:nvSpPr>
            <p:cNvPr id="118" name="pg118"/>
            <p:cNvSpPr/>
            <p:nvPr/>
          </p:nvSpPr>
          <p:spPr>
            <a:xfrm>
              <a:off x="8861368" y="2674619"/>
              <a:ext cx="1048249" cy="342900"/>
            </a:xfrm>
            <a:custGeom>
              <a:avLst/>
              <a:pathLst>
                <a:path w="1048249" h="342900">
                  <a:moveTo>
                    <a:pt x="64008" y="342900"/>
                  </a:moveTo>
                  <a:lnTo>
                    <a:pt x="984241" y="342900"/>
                  </a:lnTo>
                  <a:lnTo>
                    <a:pt x="981664" y="342848"/>
                  </a:lnTo>
                  <a:lnTo>
                    <a:pt x="991957" y="342433"/>
                  </a:lnTo>
                  <a:lnTo>
                    <a:pt x="1002050" y="340372"/>
                  </a:lnTo>
                  <a:lnTo>
                    <a:pt x="1011681" y="336720"/>
                  </a:lnTo>
                  <a:lnTo>
                    <a:pt x="1020602" y="331569"/>
                  </a:lnTo>
                  <a:lnTo>
                    <a:pt x="1028581" y="325054"/>
                  </a:lnTo>
                  <a:lnTo>
                    <a:pt x="1035412" y="317344"/>
                  </a:lnTo>
                  <a:lnTo>
                    <a:pt x="1040918" y="308638"/>
                  </a:lnTo>
                  <a:lnTo>
                    <a:pt x="1044955" y="299161"/>
                  </a:lnTo>
                  <a:lnTo>
                    <a:pt x="1047420" y="289159"/>
                  </a:lnTo>
                  <a:lnTo>
                    <a:pt x="1048249" y="278891"/>
                  </a:lnTo>
                  <a:lnTo>
                    <a:pt x="1048249" y="64008"/>
                  </a:lnTo>
                  <a:lnTo>
                    <a:pt x="1047420" y="53740"/>
                  </a:lnTo>
                  <a:lnTo>
                    <a:pt x="1044955" y="43738"/>
                  </a:lnTo>
                  <a:lnTo>
                    <a:pt x="1040918" y="34261"/>
                  </a:lnTo>
                  <a:lnTo>
                    <a:pt x="1035412" y="25555"/>
                  </a:lnTo>
                  <a:lnTo>
                    <a:pt x="1028581" y="17845"/>
                  </a:lnTo>
                  <a:lnTo>
                    <a:pt x="1020602" y="11330"/>
                  </a:lnTo>
                  <a:lnTo>
                    <a:pt x="1011681" y="6179"/>
                  </a:lnTo>
                  <a:lnTo>
                    <a:pt x="1002050" y="2527"/>
                  </a:lnTo>
                  <a:lnTo>
                    <a:pt x="991957" y="466"/>
                  </a:lnTo>
                  <a:lnTo>
                    <a:pt x="984241" y="0"/>
                  </a:lnTo>
                  <a:lnTo>
                    <a:pt x="64008" y="0"/>
                  </a:lnTo>
                  <a:lnTo>
                    <a:pt x="71723" y="466"/>
                  </a:lnTo>
                  <a:lnTo>
                    <a:pt x="61430" y="51"/>
                  </a:lnTo>
                  <a:lnTo>
                    <a:pt x="51204" y="1293"/>
                  </a:lnTo>
                  <a:lnTo>
                    <a:pt x="41310" y="4159"/>
                  </a:lnTo>
                  <a:lnTo>
                    <a:pt x="32003" y="8575"/>
                  </a:lnTo>
                  <a:lnTo>
                    <a:pt x="23526" y="14427"/>
                  </a:lnTo>
                  <a:lnTo>
                    <a:pt x="16097" y="21562"/>
                  </a:lnTo>
                  <a:lnTo>
                    <a:pt x="9909" y="29797"/>
                  </a:lnTo>
                  <a:lnTo>
                    <a:pt x="5121" y="38919"/>
                  </a:lnTo>
                  <a:lnTo>
                    <a:pt x="1859" y="48689"/>
                  </a:lnTo>
                  <a:lnTo>
                    <a:pt x="207" y="58857"/>
                  </a:lnTo>
                  <a:lnTo>
                    <a:pt x="0" y="64008"/>
                  </a:lnTo>
                  <a:lnTo>
                    <a:pt x="0" y="278891"/>
                  </a:lnTo>
                  <a:lnTo>
                    <a:pt x="207" y="273741"/>
                  </a:lnTo>
                  <a:lnTo>
                    <a:pt x="207" y="284042"/>
                  </a:lnTo>
                  <a:lnTo>
                    <a:pt x="1859" y="294210"/>
                  </a:lnTo>
                  <a:lnTo>
                    <a:pt x="5121" y="303980"/>
                  </a:lnTo>
                  <a:lnTo>
                    <a:pt x="9909" y="313102"/>
                  </a:lnTo>
                  <a:lnTo>
                    <a:pt x="16097" y="321337"/>
                  </a:lnTo>
                  <a:lnTo>
                    <a:pt x="23526" y="328472"/>
                  </a:lnTo>
                  <a:lnTo>
                    <a:pt x="32003" y="334324"/>
                  </a:lnTo>
                  <a:lnTo>
                    <a:pt x="41310" y="338740"/>
                  </a:lnTo>
                  <a:lnTo>
                    <a:pt x="51204" y="341606"/>
                  </a:lnTo>
                  <a:lnTo>
                    <a:pt x="61430" y="3428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0953" cap="rnd">
              <a:solidFill>
                <a:srgbClr val="20202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tx119"/>
            <p:cNvSpPr/>
            <p:nvPr/>
          </p:nvSpPr>
          <p:spPr>
            <a:xfrm>
              <a:off x="9010680" y="2794726"/>
              <a:ext cx="749625" cy="1026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0" i="0" b="0">
                  <a:solidFill>
                    <a:srgbClr val="202020">
                      <a:alpha val="100000"/>
                    </a:srgbClr>
                  </a:solidFill>
                  <a:latin typeface="Arial"/>
                  <a:cs typeface="Arial"/>
                </a:rPr>
                <a:t>Thor/4E-BP</a:t>
              </a:r>
            </a:p>
          </p:txBody>
        </p:sp>
        <p:sp>
          <p:nvSpPr>
            <p:cNvPr id="120" name="pg120"/>
            <p:cNvSpPr/>
            <p:nvPr/>
          </p:nvSpPr>
          <p:spPr>
            <a:xfrm>
              <a:off x="8989352" y="3223259"/>
              <a:ext cx="792281" cy="342900"/>
            </a:xfrm>
            <a:custGeom>
              <a:avLst/>
              <a:pathLst>
                <a:path w="792281" h="342900">
                  <a:moveTo>
                    <a:pt x="64007" y="342900"/>
                  </a:moveTo>
                  <a:lnTo>
                    <a:pt x="728273" y="342900"/>
                  </a:lnTo>
                  <a:lnTo>
                    <a:pt x="725696" y="342848"/>
                  </a:lnTo>
                  <a:lnTo>
                    <a:pt x="735989" y="342433"/>
                  </a:lnTo>
                  <a:lnTo>
                    <a:pt x="746082" y="340372"/>
                  </a:lnTo>
                  <a:lnTo>
                    <a:pt x="755713" y="336720"/>
                  </a:lnTo>
                  <a:lnTo>
                    <a:pt x="764634" y="331569"/>
                  </a:lnTo>
                  <a:lnTo>
                    <a:pt x="772613" y="325054"/>
                  </a:lnTo>
                  <a:lnTo>
                    <a:pt x="779444" y="317344"/>
                  </a:lnTo>
                  <a:lnTo>
                    <a:pt x="784950" y="308638"/>
                  </a:lnTo>
                  <a:lnTo>
                    <a:pt x="788987" y="299161"/>
                  </a:lnTo>
                  <a:lnTo>
                    <a:pt x="791452" y="289159"/>
                  </a:lnTo>
                  <a:lnTo>
                    <a:pt x="792281" y="278892"/>
                  </a:lnTo>
                  <a:lnTo>
                    <a:pt x="792281" y="64008"/>
                  </a:lnTo>
                  <a:lnTo>
                    <a:pt x="791452" y="53740"/>
                  </a:lnTo>
                  <a:lnTo>
                    <a:pt x="788987" y="43738"/>
                  </a:lnTo>
                  <a:lnTo>
                    <a:pt x="784950" y="34261"/>
                  </a:lnTo>
                  <a:lnTo>
                    <a:pt x="779444" y="25555"/>
                  </a:lnTo>
                  <a:lnTo>
                    <a:pt x="772613" y="17845"/>
                  </a:lnTo>
                  <a:lnTo>
                    <a:pt x="764634" y="11330"/>
                  </a:lnTo>
                  <a:lnTo>
                    <a:pt x="755713" y="6179"/>
                  </a:lnTo>
                  <a:lnTo>
                    <a:pt x="746082" y="2527"/>
                  </a:lnTo>
                  <a:lnTo>
                    <a:pt x="735989" y="466"/>
                  </a:lnTo>
                  <a:lnTo>
                    <a:pt x="728273" y="0"/>
                  </a:lnTo>
                  <a:lnTo>
                    <a:pt x="64007" y="0"/>
                  </a:lnTo>
                  <a:lnTo>
                    <a:pt x="71723" y="466"/>
                  </a:lnTo>
                  <a:lnTo>
                    <a:pt x="61430" y="51"/>
                  </a:lnTo>
                  <a:lnTo>
                    <a:pt x="51204" y="1293"/>
                  </a:lnTo>
                  <a:lnTo>
                    <a:pt x="41310" y="4159"/>
                  </a:lnTo>
                  <a:lnTo>
                    <a:pt x="32003" y="8575"/>
                  </a:lnTo>
                  <a:lnTo>
                    <a:pt x="23526" y="14427"/>
                  </a:lnTo>
                  <a:lnTo>
                    <a:pt x="16097" y="21562"/>
                  </a:lnTo>
                  <a:lnTo>
                    <a:pt x="9909" y="29797"/>
                  </a:lnTo>
                  <a:lnTo>
                    <a:pt x="5121" y="38919"/>
                  </a:lnTo>
                  <a:lnTo>
                    <a:pt x="1859" y="48689"/>
                  </a:lnTo>
                  <a:lnTo>
                    <a:pt x="207" y="58857"/>
                  </a:lnTo>
                  <a:lnTo>
                    <a:pt x="0" y="64008"/>
                  </a:lnTo>
                  <a:lnTo>
                    <a:pt x="0" y="278892"/>
                  </a:lnTo>
                  <a:lnTo>
                    <a:pt x="207" y="273741"/>
                  </a:lnTo>
                  <a:lnTo>
                    <a:pt x="207" y="284042"/>
                  </a:lnTo>
                  <a:lnTo>
                    <a:pt x="1859" y="294210"/>
                  </a:lnTo>
                  <a:lnTo>
                    <a:pt x="5121" y="303980"/>
                  </a:lnTo>
                  <a:lnTo>
                    <a:pt x="9909" y="313102"/>
                  </a:lnTo>
                  <a:lnTo>
                    <a:pt x="16097" y="321337"/>
                  </a:lnTo>
                  <a:lnTo>
                    <a:pt x="23526" y="328472"/>
                  </a:lnTo>
                  <a:lnTo>
                    <a:pt x="32003" y="334324"/>
                  </a:lnTo>
                  <a:lnTo>
                    <a:pt x="41310" y="338740"/>
                  </a:lnTo>
                  <a:lnTo>
                    <a:pt x="51204" y="341606"/>
                  </a:lnTo>
                  <a:lnTo>
                    <a:pt x="61430" y="3428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0953" cap="rnd">
              <a:solidFill>
                <a:srgbClr val="20202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tx121"/>
            <p:cNvSpPr/>
            <p:nvPr/>
          </p:nvSpPr>
          <p:spPr>
            <a:xfrm>
              <a:off x="9154149" y="3343366"/>
              <a:ext cx="462686" cy="1026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0" i="0" b="0">
                  <a:solidFill>
                    <a:srgbClr val="202020">
                      <a:alpha val="100000"/>
                    </a:srgbClr>
                  </a:solidFill>
                  <a:latin typeface="Arial"/>
                  <a:cs typeface="Arial"/>
                </a:rPr>
                <a:t>eIF4E1</a:t>
              </a:r>
            </a:p>
          </p:txBody>
        </p:sp>
        <p:sp>
          <p:nvSpPr>
            <p:cNvPr id="122" name="pg122"/>
            <p:cNvSpPr/>
            <p:nvPr/>
          </p:nvSpPr>
          <p:spPr>
            <a:xfrm>
              <a:off x="7800929" y="788670"/>
              <a:ext cx="975116" cy="411479"/>
            </a:xfrm>
            <a:custGeom>
              <a:avLst/>
              <a:pathLst>
                <a:path w="975116" h="411479">
                  <a:moveTo>
                    <a:pt x="64008" y="411479"/>
                  </a:moveTo>
                  <a:lnTo>
                    <a:pt x="911108" y="411479"/>
                  </a:lnTo>
                  <a:lnTo>
                    <a:pt x="908530" y="411428"/>
                  </a:lnTo>
                  <a:lnTo>
                    <a:pt x="918823" y="411013"/>
                  </a:lnTo>
                  <a:lnTo>
                    <a:pt x="928916" y="408952"/>
                  </a:lnTo>
                  <a:lnTo>
                    <a:pt x="938547" y="405300"/>
                  </a:lnTo>
                  <a:lnTo>
                    <a:pt x="947468" y="400149"/>
                  </a:lnTo>
                  <a:lnTo>
                    <a:pt x="955448" y="393634"/>
                  </a:lnTo>
                  <a:lnTo>
                    <a:pt x="962278" y="385924"/>
                  </a:lnTo>
                  <a:lnTo>
                    <a:pt x="967784" y="377218"/>
                  </a:lnTo>
                  <a:lnTo>
                    <a:pt x="971822" y="367741"/>
                  </a:lnTo>
                  <a:lnTo>
                    <a:pt x="974287" y="357739"/>
                  </a:lnTo>
                  <a:lnTo>
                    <a:pt x="975116" y="347471"/>
                  </a:lnTo>
                  <a:lnTo>
                    <a:pt x="975116" y="64007"/>
                  </a:lnTo>
                  <a:lnTo>
                    <a:pt x="974287" y="53740"/>
                  </a:lnTo>
                  <a:lnTo>
                    <a:pt x="971822" y="43738"/>
                  </a:lnTo>
                  <a:lnTo>
                    <a:pt x="967784" y="34261"/>
                  </a:lnTo>
                  <a:lnTo>
                    <a:pt x="962278" y="25555"/>
                  </a:lnTo>
                  <a:lnTo>
                    <a:pt x="955448" y="17845"/>
                  </a:lnTo>
                  <a:lnTo>
                    <a:pt x="947468" y="11330"/>
                  </a:lnTo>
                  <a:lnTo>
                    <a:pt x="938547" y="6179"/>
                  </a:lnTo>
                  <a:lnTo>
                    <a:pt x="928916" y="2527"/>
                  </a:lnTo>
                  <a:lnTo>
                    <a:pt x="918823" y="466"/>
                  </a:lnTo>
                  <a:lnTo>
                    <a:pt x="911108" y="0"/>
                  </a:lnTo>
                  <a:lnTo>
                    <a:pt x="64008" y="0"/>
                  </a:lnTo>
                  <a:lnTo>
                    <a:pt x="71723" y="466"/>
                  </a:lnTo>
                  <a:lnTo>
                    <a:pt x="61430" y="51"/>
                  </a:lnTo>
                  <a:lnTo>
                    <a:pt x="51204" y="1293"/>
                  </a:lnTo>
                  <a:lnTo>
                    <a:pt x="41310" y="4159"/>
                  </a:lnTo>
                  <a:lnTo>
                    <a:pt x="32004" y="8575"/>
                  </a:lnTo>
                  <a:lnTo>
                    <a:pt x="23526" y="14427"/>
                  </a:lnTo>
                  <a:lnTo>
                    <a:pt x="16097" y="21562"/>
                  </a:lnTo>
                  <a:lnTo>
                    <a:pt x="9909" y="29797"/>
                  </a:lnTo>
                  <a:lnTo>
                    <a:pt x="5121" y="38919"/>
                  </a:lnTo>
                  <a:lnTo>
                    <a:pt x="1859" y="48689"/>
                  </a:lnTo>
                  <a:lnTo>
                    <a:pt x="207" y="58857"/>
                  </a:lnTo>
                  <a:lnTo>
                    <a:pt x="0" y="64007"/>
                  </a:lnTo>
                  <a:lnTo>
                    <a:pt x="0" y="347471"/>
                  </a:lnTo>
                  <a:lnTo>
                    <a:pt x="207" y="342321"/>
                  </a:lnTo>
                  <a:lnTo>
                    <a:pt x="207" y="352622"/>
                  </a:lnTo>
                  <a:lnTo>
                    <a:pt x="1859" y="362790"/>
                  </a:lnTo>
                  <a:lnTo>
                    <a:pt x="5121" y="372560"/>
                  </a:lnTo>
                  <a:lnTo>
                    <a:pt x="9909" y="381682"/>
                  </a:lnTo>
                  <a:lnTo>
                    <a:pt x="16097" y="389917"/>
                  </a:lnTo>
                  <a:lnTo>
                    <a:pt x="23526" y="397052"/>
                  </a:lnTo>
                  <a:lnTo>
                    <a:pt x="32004" y="402904"/>
                  </a:lnTo>
                  <a:lnTo>
                    <a:pt x="41310" y="407320"/>
                  </a:lnTo>
                  <a:lnTo>
                    <a:pt x="51204" y="410186"/>
                  </a:lnTo>
                  <a:lnTo>
                    <a:pt x="61430" y="411428"/>
                  </a:lnTo>
                  <a:close/>
                </a:path>
              </a:pathLst>
            </a:custGeom>
            <a:solidFill>
              <a:srgbClr val="D62828">
                <a:alpha val="100000"/>
              </a:srgbClr>
            </a:solidFill>
            <a:ln w="12382" cap="rnd">
              <a:solidFill>
                <a:srgbClr val="B71C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tx123"/>
            <p:cNvSpPr/>
            <p:nvPr/>
          </p:nvSpPr>
          <p:spPr>
            <a:xfrm>
              <a:off x="8090748" y="854826"/>
              <a:ext cx="395478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9" i="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Wdr59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7981797" y="1041364"/>
              <a:ext cx="613379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9" i="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(GATOR2)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7904942" y="1323593"/>
              <a:ext cx="76709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1">
                  <a:solidFill>
                    <a:srgbClr val="C82127">
                      <a:alpha val="100000"/>
                    </a:srgbClr>
                  </a:solidFill>
                  <a:latin typeface="Arial"/>
                  <a:cs typeface="Arial"/>
                </a:rPr>
                <a:t>Pd L1 -&gt; Vv L2</a:t>
              </a:r>
            </a:p>
          </p:txBody>
        </p:sp>
        <p:sp>
          <p:nvSpPr>
            <p:cNvPr id="126" name="pg126"/>
            <p:cNvSpPr/>
            <p:nvPr/>
          </p:nvSpPr>
          <p:spPr>
            <a:xfrm>
              <a:off x="7892346" y="5074920"/>
              <a:ext cx="1036060" cy="411479"/>
            </a:xfrm>
            <a:custGeom>
              <a:avLst/>
              <a:pathLst>
                <a:path w="1036060" h="411479">
                  <a:moveTo>
                    <a:pt x="201168" y="411479"/>
                  </a:moveTo>
                  <a:lnTo>
                    <a:pt x="834892" y="411479"/>
                  </a:lnTo>
                  <a:lnTo>
                    <a:pt x="826792" y="411316"/>
                  </a:lnTo>
                  <a:lnTo>
                    <a:pt x="859141" y="410013"/>
                  </a:lnTo>
                  <a:lnTo>
                    <a:pt x="890861" y="403537"/>
                  </a:lnTo>
                  <a:lnTo>
                    <a:pt x="921132" y="392057"/>
                  </a:lnTo>
                  <a:lnTo>
                    <a:pt x="949169" y="375870"/>
                  </a:lnTo>
                  <a:lnTo>
                    <a:pt x="974246" y="355394"/>
                  </a:lnTo>
                  <a:lnTo>
                    <a:pt x="995715" y="331162"/>
                  </a:lnTo>
                  <a:lnTo>
                    <a:pt x="1013018" y="303799"/>
                  </a:lnTo>
                  <a:lnTo>
                    <a:pt x="1025708" y="274015"/>
                  </a:lnTo>
                  <a:lnTo>
                    <a:pt x="1033455" y="242581"/>
                  </a:lnTo>
                  <a:lnTo>
                    <a:pt x="1036060" y="210312"/>
                  </a:lnTo>
                  <a:lnTo>
                    <a:pt x="1036060" y="201168"/>
                  </a:lnTo>
                  <a:lnTo>
                    <a:pt x="1033455" y="168898"/>
                  </a:lnTo>
                  <a:lnTo>
                    <a:pt x="1025708" y="137464"/>
                  </a:lnTo>
                  <a:lnTo>
                    <a:pt x="1013018" y="107680"/>
                  </a:lnTo>
                  <a:lnTo>
                    <a:pt x="995715" y="80317"/>
                  </a:lnTo>
                  <a:lnTo>
                    <a:pt x="974246" y="56085"/>
                  </a:lnTo>
                  <a:lnTo>
                    <a:pt x="949169" y="35609"/>
                  </a:lnTo>
                  <a:lnTo>
                    <a:pt x="921132" y="19422"/>
                  </a:lnTo>
                  <a:lnTo>
                    <a:pt x="890861" y="7942"/>
                  </a:lnTo>
                  <a:lnTo>
                    <a:pt x="859141" y="1466"/>
                  </a:lnTo>
                  <a:lnTo>
                    <a:pt x="834892" y="0"/>
                  </a:lnTo>
                  <a:lnTo>
                    <a:pt x="201168" y="0"/>
                  </a:lnTo>
                  <a:lnTo>
                    <a:pt x="225416" y="1466"/>
                  </a:lnTo>
                  <a:lnTo>
                    <a:pt x="193067" y="163"/>
                  </a:lnTo>
                  <a:lnTo>
                    <a:pt x="160929" y="4065"/>
                  </a:lnTo>
                  <a:lnTo>
                    <a:pt x="129832" y="13072"/>
                  </a:lnTo>
                  <a:lnTo>
                    <a:pt x="100583" y="26951"/>
                  </a:lnTo>
                  <a:lnTo>
                    <a:pt x="73940" y="45342"/>
                  </a:lnTo>
                  <a:lnTo>
                    <a:pt x="50591" y="67768"/>
                  </a:lnTo>
                  <a:lnTo>
                    <a:pt x="31142" y="93650"/>
                  </a:lnTo>
                  <a:lnTo>
                    <a:pt x="16097" y="122316"/>
                  </a:lnTo>
                  <a:lnTo>
                    <a:pt x="5845" y="153025"/>
                  </a:lnTo>
                  <a:lnTo>
                    <a:pt x="652" y="184980"/>
                  </a:lnTo>
                  <a:lnTo>
                    <a:pt x="0" y="201168"/>
                  </a:lnTo>
                  <a:lnTo>
                    <a:pt x="0" y="210312"/>
                  </a:lnTo>
                  <a:lnTo>
                    <a:pt x="652" y="194124"/>
                  </a:lnTo>
                  <a:lnTo>
                    <a:pt x="652" y="226499"/>
                  </a:lnTo>
                  <a:lnTo>
                    <a:pt x="5845" y="258454"/>
                  </a:lnTo>
                  <a:lnTo>
                    <a:pt x="16097" y="289163"/>
                  </a:lnTo>
                  <a:lnTo>
                    <a:pt x="31142" y="317829"/>
                  </a:lnTo>
                  <a:lnTo>
                    <a:pt x="50591" y="343711"/>
                  </a:lnTo>
                  <a:lnTo>
                    <a:pt x="73940" y="366137"/>
                  </a:lnTo>
                  <a:lnTo>
                    <a:pt x="100583" y="384528"/>
                  </a:lnTo>
                  <a:lnTo>
                    <a:pt x="129832" y="398407"/>
                  </a:lnTo>
                  <a:lnTo>
                    <a:pt x="160929" y="407414"/>
                  </a:lnTo>
                  <a:lnTo>
                    <a:pt x="193067" y="411316"/>
                  </a:lnTo>
                  <a:close/>
                </a:path>
              </a:pathLst>
            </a:custGeom>
            <a:solidFill>
              <a:srgbClr val="F9C56A">
                <a:alpha val="100000"/>
              </a:srgbClr>
            </a:solidFill>
            <a:ln w="10953" cap="rnd">
              <a:solidFill>
                <a:srgbClr val="E993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tx127"/>
            <p:cNvSpPr/>
            <p:nvPr/>
          </p:nvSpPr>
          <p:spPr>
            <a:xfrm>
              <a:off x="8182554" y="5203347"/>
              <a:ext cx="455645" cy="1546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700" i="0" b="1">
                  <a:solidFill>
                    <a:srgbClr val="202020">
                      <a:alpha val="100000"/>
                    </a:srgbClr>
                  </a:solidFill>
                  <a:latin typeface="Arial"/>
                  <a:cs typeface="Arial"/>
                </a:rPr>
                <a:t>foxo</a:t>
              </a:r>
            </a:p>
          </p:txBody>
        </p:sp>
        <p:sp>
          <p:nvSpPr>
            <p:cNvPr id="128" name="pg128"/>
            <p:cNvSpPr/>
            <p:nvPr/>
          </p:nvSpPr>
          <p:spPr>
            <a:xfrm>
              <a:off x="6911135" y="5565267"/>
              <a:ext cx="804470" cy="322325"/>
            </a:xfrm>
            <a:custGeom>
              <a:avLst/>
              <a:pathLst>
                <a:path w="804470" h="322325">
                  <a:moveTo>
                    <a:pt x="64007" y="322325"/>
                  </a:moveTo>
                  <a:lnTo>
                    <a:pt x="740462" y="322325"/>
                  </a:lnTo>
                  <a:lnTo>
                    <a:pt x="737885" y="322274"/>
                  </a:lnTo>
                  <a:lnTo>
                    <a:pt x="748178" y="321859"/>
                  </a:lnTo>
                  <a:lnTo>
                    <a:pt x="758270" y="319798"/>
                  </a:lnTo>
                  <a:lnTo>
                    <a:pt x="767902" y="316146"/>
                  </a:lnTo>
                  <a:lnTo>
                    <a:pt x="776823" y="310995"/>
                  </a:lnTo>
                  <a:lnTo>
                    <a:pt x="784802" y="304480"/>
                  </a:lnTo>
                  <a:lnTo>
                    <a:pt x="791633" y="296770"/>
                  </a:lnTo>
                  <a:lnTo>
                    <a:pt x="797139" y="288064"/>
                  </a:lnTo>
                  <a:lnTo>
                    <a:pt x="801176" y="278587"/>
                  </a:lnTo>
                  <a:lnTo>
                    <a:pt x="803641" y="268585"/>
                  </a:lnTo>
                  <a:lnTo>
                    <a:pt x="804470" y="258317"/>
                  </a:lnTo>
                  <a:lnTo>
                    <a:pt x="804470" y="64008"/>
                  </a:lnTo>
                  <a:lnTo>
                    <a:pt x="803641" y="53740"/>
                  </a:lnTo>
                  <a:lnTo>
                    <a:pt x="801176" y="43738"/>
                  </a:lnTo>
                  <a:lnTo>
                    <a:pt x="797139" y="34261"/>
                  </a:lnTo>
                  <a:lnTo>
                    <a:pt x="791633" y="25555"/>
                  </a:lnTo>
                  <a:lnTo>
                    <a:pt x="784802" y="17845"/>
                  </a:lnTo>
                  <a:lnTo>
                    <a:pt x="776823" y="11330"/>
                  </a:lnTo>
                  <a:lnTo>
                    <a:pt x="767902" y="6179"/>
                  </a:lnTo>
                  <a:lnTo>
                    <a:pt x="758270" y="2527"/>
                  </a:lnTo>
                  <a:lnTo>
                    <a:pt x="748178" y="466"/>
                  </a:lnTo>
                  <a:lnTo>
                    <a:pt x="740462" y="0"/>
                  </a:lnTo>
                  <a:lnTo>
                    <a:pt x="64007" y="0"/>
                  </a:lnTo>
                  <a:lnTo>
                    <a:pt x="71723" y="466"/>
                  </a:lnTo>
                  <a:lnTo>
                    <a:pt x="61430" y="51"/>
                  </a:lnTo>
                  <a:lnTo>
                    <a:pt x="51204" y="1293"/>
                  </a:lnTo>
                  <a:lnTo>
                    <a:pt x="41310" y="4159"/>
                  </a:lnTo>
                  <a:lnTo>
                    <a:pt x="32003" y="8575"/>
                  </a:lnTo>
                  <a:lnTo>
                    <a:pt x="23526" y="14427"/>
                  </a:lnTo>
                  <a:lnTo>
                    <a:pt x="16097" y="21562"/>
                  </a:lnTo>
                  <a:lnTo>
                    <a:pt x="9909" y="29797"/>
                  </a:lnTo>
                  <a:lnTo>
                    <a:pt x="5121" y="38919"/>
                  </a:lnTo>
                  <a:lnTo>
                    <a:pt x="1859" y="48689"/>
                  </a:lnTo>
                  <a:lnTo>
                    <a:pt x="207" y="58857"/>
                  </a:lnTo>
                  <a:lnTo>
                    <a:pt x="0" y="64008"/>
                  </a:lnTo>
                  <a:lnTo>
                    <a:pt x="0" y="258317"/>
                  </a:lnTo>
                  <a:lnTo>
                    <a:pt x="207" y="253167"/>
                  </a:lnTo>
                  <a:lnTo>
                    <a:pt x="207" y="263468"/>
                  </a:lnTo>
                  <a:lnTo>
                    <a:pt x="1859" y="273636"/>
                  </a:lnTo>
                  <a:lnTo>
                    <a:pt x="5121" y="283406"/>
                  </a:lnTo>
                  <a:lnTo>
                    <a:pt x="9909" y="292528"/>
                  </a:lnTo>
                  <a:lnTo>
                    <a:pt x="16097" y="300763"/>
                  </a:lnTo>
                  <a:lnTo>
                    <a:pt x="23526" y="307898"/>
                  </a:lnTo>
                  <a:lnTo>
                    <a:pt x="32003" y="313750"/>
                  </a:lnTo>
                  <a:lnTo>
                    <a:pt x="41310" y="318166"/>
                  </a:lnTo>
                  <a:lnTo>
                    <a:pt x="51204" y="321032"/>
                  </a:lnTo>
                  <a:lnTo>
                    <a:pt x="61430" y="32227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0953" cap="rnd">
              <a:solidFill>
                <a:srgbClr val="20202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tx129"/>
            <p:cNvSpPr/>
            <p:nvPr/>
          </p:nvSpPr>
          <p:spPr>
            <a:xfrm>
              <a:off x="7046183" y="5675086"/>
              <a:ext cx="534375" cy="1026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0" i="0" b="0">
                  <a:solidFill>
                    <a:srgbClr val="202020">
                      <a:alpha val="100000"/>
                    </a:srgbClr>
                  </a:solidFill>
                  <a:latin typeface="Arial"/>
                  <a:cs typeface="Arial"/>
                </a:rPr>
                <a:t>bsk/JNK</a:t>
              </a:r>
            </a:p>
          </p:txBody>
        </p:sp>
        <p:sp>
          <p:nvSpPr>
            <p:cNvPr id="130" name="pg130"/>
            <p:cNvSpPr/>
            <p:nvPr/>
          </p:nvSpPr>
          <p:spPr>
            <a:xfrm>
              <a:off x="7282898" y="6011037"/>
              <a:ext cx="670392" cy="322325"/>
            </a:xfrm>
            <a:custGeom>
              <a:avLst/>
              <a:pathLst>
                <a:path w="670392" h="322325">
                  <a:moveTo>
                    <a:pt x="64007" y="322325"/>
                  </a:moveTo>
                  <a:lnTo>
                    <a:pt x="606384" y="322325"/>
                  </a:lnTo>
                  <a:lnTo>
                    <a:pt x="603807" y="322274"/>
                  </a:lnTo>
                  <a:lnTo>
                    <a:pt x="614099" y="321859"/>
                  </a:lnTo>
                  <a:lnTo>
                    <a:pt x="624192" y="319798"/>
                  </a:lnTo>
                  <a:lnTo>
                    <a:pt x="633824" y="316146"/>
                  </a:lnTo>
                  <a:lnTo>
                    <a:pt x="642745" y="310995"/>
                  </a:lnTo>
                  <a:lnTo>
                    <a:pt x="650724" y="304480"/>
                  </a:lnTo>
                  <a:lnTo>
                    <a:pt x="657555" y="296770"/>
                  </a:lnTo>
                  <a:lnTo>
                    <a:pt x="663060" y="288064"/>
                  </a:lnTo>
                  <a:lnTo>
                    <a:pt x="667098" y="278587"/>
                  </a:lnTo>
                  <a:lnTo>
                    <a:pt x="669563" y="268585"/>
                  </a:lnTo>
                  <a:lnTo>
                    <a:pt x="670392" y="258317"/>
                  </a:lnTo>
                  <a:lnTo>
                    <a:pt x="670392" y="64007"/>
                  </a:lnTo>
                  <a:lnTo>
                    <a:pt x="669563" y="53740"/>
                  </a:lnTo>
                  <a:lnTo>
                    <a:pt x="667098" y="43738"/>
                  </a:lnTo>
                  <a:lnTo>
                    <a:pt x="663060" y="34261"/>
                  </a:lnTo>
                  <a:lnTo>
                    <a:pt x="657555" y="25555"/>
                  </a:lnTo>
                  <a:lnTo>
                    <a:pt x="650724" y="17845"/>
                  </a:lnTo>
                  <a:lnTo>
                    <a:pt x="642745" y="11330"/>
                  </a:lnTo>
                  <a:lnTo>
                    <a:pt x="633824" y="6179"/>
                  </a:lnTo>
                  <a:lnTo>
                    <a:pt x="624192" y="2527"/>
                  </a:lnTo>
                  <a:lnTo>
                    <a:pt x="614099" y="466"/>
                  </a:lnTo>
                  <a:lnTo>
                    <a:pt x="606384" y="0"/>
                  </a:lnTo>
                  <a:lnTo>
                    <a:pt x="64007" y="0"/>
                  </a:lnTo>
                  <a:lnTo>
                    <a:pt x="71723" y="466"/>
                  </a:lnTo>
                  <a:lnTo>
                    <a:pt x="61430" y="51"/>
                  </a:lnTo>
                  <a:lnTo>
                    <a:pt x="51204" y="1293"/>
                  </a:lnTo>
                  <a:lnTo>
                    <a:pt x="41310" y="4159"/>
                  </a:lnTo>
                  <a:lnTo>
                    <a:pt x="32003" y="8575"/>
                  </a:lnTo>
                  <a:lnTo>
                    <a:pt x="23526" y="14427"/>
                  </a:lnTo>
                  <a:lnTo>
                    <a:pt x="16097" y="21562"/>
                  </a:lnTo>
                  <a:lnTo>
                    <a:pt x="9909" y="29797"/>
                  </a:lnTo>
                  <a:lnTo>
                    <a:pt x="5121" y="38919"/>
                  </a:lnTo>
                  <a:lnTo>
                    <a:pt x="1859" y="48689"/>
                  </a:lnTo>
                  <a:lnTo>
                    <a:pt x="207" y="58857"/>
                  </a:lnTo>
                  <a:lnTo>
                    <a:pt x="0" y="64007"/>
                  </a:lnTo>
                  <a:lnTo>
                    <a:pt x="0" y="258317"/>
                  </a:lnTo>
                  <a:lnTo>
                    <a:pt x="207" y="253167"/>
                  </a:lnTo>
                  <a:lnTo>
                    <a:pt x="207" y="263468"/>
                  </a:lnTo>
                  <a:lnTo>
                    <a:pt x="1859" y="273636"/>
                  </a:lnTo>
                  <a:lnTo>
                    <a:pt x="5121" y="283406"/>
                  </a:lnTo>
                  <a:lnTo>
                    <a:pt x="9909" y="292528"/>
                  </a:lnTo>
                  <a:lnTo>
                    <a:pt x="16097" y="300763"/>
                  </a:lnTo>
                  <a:lnTo>
                    <a:pt x="23526" y="307898"/>
                  </a:lnTo>
                  <a:lnTo>
                    <a:pt x="32003" y="313750"/>
                  </a:lnTo>
                  <a:lnTo>
                    <a:pt x="41310" y="318166"/>
                  </a:lnTo>
                  <a:lnTo>
                    <a:pt x="51204" y="321032"/>
                  </a:lnTo>
                  <a:lnTo>
                    <a:pt x="61430" y="32227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0953" cap="rnd">
              <a:solidFill>
                <a:srgbClr val="20202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tx131"/>
            <p:cNvSpPr/>
            <p:nvPr/>
          </p:nvSpPr>
          <p:spPr>
            <a:xfrm>
              <a:off x="7490490" y="6120856"/>
              <a:ext cx="255209" cy="1026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0" i="0" b="0">
                  <a:solidFill>
                    <a:srgbClr val="202020">
                      <a:alpha val="100000"/>
                    </a:srgbClr>
                  </a:solidFill>
                  <a:latin typeface="Arial"/>
                  <a:cs typeface="Arial"/>
                </a:rPr>
                <a:t>Sir2</a:t>
              </a:r>
            </a:p>
          </p:txBody>
        </p:sp>
        <p:sp>
          <p:nvSpPr>
            <p:cNvPr id="132" name="pg132"/>
            <p:cNvSpPr/>
            <p:nvPr/>
          </p:nvSpPr>
          <p:spPr>
            <a:xfrm>
              <a:off x="8227542" y="5959602"/>
              <a:ext cx="975116" cy="356615"/>
            </a:xfrm>
            <a:custGeom>
              <a:avLst/>
              <a:pathLst>
                <a:path w="975116" h="356615">
                  <a:moveTo>
                    <a:pt x="64008" y="356615"/>
                  </a:moveTo>
                  <a:lnTo>
                    <a:pt x="911108" y="356615"/>
                  </a:lnTo>
                  <a:lnTo>
                    <a:pt x="908530" y="356564"/>
                  </a:lnTo>
                  <a:lnTo>
                    <a:pt x="918823" y="356149"/>
                  </a:lnTo>
                  <a:lnTo>
                    <a:pt x="928916" y="354088"/>
                  </a:lnTo>
                  <a:lnTo>
                    <a:pt x="938547" y="350436"/>
                  </a:lnTo>
                  <a:lnTo>
                    <a:pt x="947468" y="345285"/>
                  </a:lnTo>
                  <a:lnTo>
                    <a:pt x="955448" y="338770"/>
                  </a:lnTo>
                  <a:lnTo>
                    <a:pt x="962278" y="331060"/>
                  </a:lnTo>
                  <a:lnTo>
                    <a:pt x="967784" y="322354"/>
                  </a:lnTo>
                  <a:lnTo>
                    <a:pt x="971822" y="312877"/>
                  </a:lnTo>
                  <a:lnTo>
                    <a:pt x="974287" y="302875"/>
                  </a:lnTo>
                  <a:lnTo>
                    <a:pt x="975116" y="292608"/>
                  </a:lnTo>
                  <a:lnTo>
                    <a:pt x="975116" y="64007"/>
                  </a:lnTo>
                  <a:lnTo>
                    <a:pt x="974287" y="53740"/>
                  </a:lnTo>
                  <a:lnTo>
                    <a:pt x="971822" y="43738"/>
                  </a:lnTo>
                  <a:lnTo>
                    <a:pt x="967784" y="34261"/>
                  </a:lnTo>
                  <a:lnTo>
                    <a:pt x="962278" y="25555"/>
                  </a:lnTo>
                  <a:lnTo>
                    <a:pt x="955448" y="17845"/>
                  </a:lnTo>
                  <a:lnTo>
                    <a:pt x="947468" y="11330"/>
                  </a:lnTo>
                  <a:lnTo>
                    <a:pt x="938547" y="6179"/>
                  </a:lnTo>
                  <a:lnTo>
                    <a:pt x="928916" y="2527"/>
                  </a:lnTo>
                  <a:lnTo>
                    <a:pt x="918823" y="466"/>
                  </a:lnTo>
                  <a:lnTo>
                    <a:pt x="911108" y="0"/>
                  </a:lnTo>
                  <a:lnTo>
                    <a:pt x="64008" y="0"/>
                  </a:lnTo>
                  <a:lnTo>
                    <a:pt x="71723" y="466"/>
                  </a:lnTo>
                  <a:lnTo>
                    <a:pt x="61430" y="51"/>
                  </a:lnTo>
                  <a:lnTo>
                    <a:pt x="51204" y="1293"/>
                  </a:lnTo>
                  <a:lnTo>
                    <a:pt x="41310" y="4159"/>
                  </a:lnTo>
                  <a:lnTo>
                    <a:pt x="32004" y="8575"/>
                  </a:lnTo>
                  <a:lnTo>
                    <a:pt x="23526" y="14427"/>
                  </a:lnTo>
                  <a:lnTo>
                    <a:pt x="16097" y="21562"/>
                  </a:lnTo>
                  <a:lnTo>
                    <a:pt x="9909" y="29797"/>
                  </a:lnTo>
                  <a:lnTo>
                    <a:pt x="5121" y="38919"/>
                  </a:lnTo>
                  <a:lnTo>
                    <a:pt x="1859" y="48689"/>
                  </a:lnTo>
                  <a:lnTo>
                    <a:pt x="207" y="58857"/>
                  </a:lnTo>
                  <a:lnTo>
                    <a:pt x="0" y="64007"/>
                  </a:lnTo>
                  <a:lnTo>
                    <a:pt x="0" y="292608"/>
                  </a:lnTo>
                  <a:lnTo>
                    <a:pt x="207" y="287457"/>
                  </a:lnTo>
                  <a:lnTo>
                    <a:pt x="207" y="297758"/>
                  </a:lnTo>
                  <a:lnTo>
                    <a:pt x="1859" y="307926"/>
                  </a:lnTo>
                  <a:lnTo>
                    <a:pt x="5121" y="317696"/>
                  </a:lnTo>
                  <a:lnTo>
                    <a:pt x="9909" y="326818"/>
                  </a:lnTo>
                  <a:lnTo>
                    <a:pt x="16097" y="335053"/>
                  </a:lnTo>
                  <a:lnTo>
                    <a:pt x="23526" y="342188"/>
                  </a:lnTo>
                  <a:lnTo>
                    <a:pt x="32004" y="348040"/>
                  </a:lnTo>
                  <a:lnTo>
                    <a:pt x="41310" y="352456"/>
                  </a:lnTo>
                  <a:lnTo>
                    <a:pt x="51204" y="355322"/>
                  </a:lnTo>
                  <a:lnTo>
                    <a:pt x="61430" y="356564"/>
                  </a:lnTo>
                  <a:close/>
                </a:path>
              </a:pathLst>
            </a:custGeom>
            <a:solidFill>
              <a:srgbClr val="D62828">
                <a:alpha val="100000"/>
              </a:srgbClr>
            </a:solidFill>
            <a:ln w="12382" cap="rnd">
              <a:solidFill>
                <a:srgbClr val="B71C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tx133"/>
            <p:cNvSpPr/>
            <p:nvPr/>
          </p:nvSpPr>
          <p:spPr>
            <a:xfrm>
              <a:off x="8440049" y="6086566"/>
              <a:ext cx="550103" cy="1026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0" i="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nej/CBP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8331555" y="6439662"/>
              <a:ext cx="76709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1">
                  <a:solidFill>
                    <a:srgbClr val="C82127">
                      <a:alpha val="100000"/>
                    </a:srgbClr>
                  </a:solidFill>
                  <a:latin typeface="Arial"/>
                  <a:cs typeface="Arial"/>
                </a:rPr>
                <a:t>Pd L1 -&gt; Vv L2</a:t>
              </a:r>
            </a:p>
          </p:txBody>
        </p:sp>
        <p:sp>
          <p:nvSpPr>
            <p:cNvPr id="135" name="pg135"/>
            <p:cNvSpPr/>
            <p:nvPr/>
          </p:nvSpPr>
          <p:spPr>
            <a:xfrm>
              <a:off x="9385493" y="4622292"/>
              <a:ext cx="853226" cy="356615"/>
            </a:xfrm>
            <a:custGeom>
              <a:avLst/>
              <a:pathLst>
                <a:path w="853226" h="356615">
                  <a:moveTo>
                    <a:pt x="64008" y="356615"/>
                  </a:moveTo>
                  <a:lnTo>
                    <a:pt x="789218" y="356615"/>
                  </a:lnTo>
                  <a:lnTo>
                    <a:pt x="786641" y="356564"/>
                  </a:lnTo>
                  <a:lnTo>
                    <a:pt x="796933" y="356149"/>
                  </a:lnTo>
                  <a:lnTo>
                    <a:pt x="807026" y="354088"/>
                  </a:lnTo>
                  <a:lnTo>
                    <a:pt x="816658" y="350436"/>
                  </a:lnTo>
                  <a:lnTo>
                    <a:pt x="825579" y="345285"/>
                  </a:lnTo>
                  <a:lnTo>
                    <a:pt x="833558" y="338770"/>
                  </a:lnTo>
                  <a:lnTo>
                    <a:pt x="840389" y="331060"/>
                  </a:lnTo>
                  <a:lnTo>
                    <a:pt x="845894" y="322354"/>
                  </a:lnTo>
                  <a:lnTo>
                    <a:pt x="849932" y="312877"/>
                  </a:lnTo>
                  <a:lnTo>
                    <a:pt x="852397" y="302875"/>
                  </a:lnTo>
                  <a:lnTo>
                    <a:pt x="853226" y="292608"/>
                  </a:lnTo>
                  <a:lnTo>
                    <a:pt x="853226" y="64008"/>
                  </a:lnTo>
                  <a:lnTo>
                    <a:pt x="852397" y="53740"/>
                  </a:lnTo>
                  <a:lnTo>
                    <a:pt x="849932" y="43738"/>
                  </a:lnTo>
                  <a:lnTo>
                    <a:pt x="845894" y="34261"/>
                  </a:lnTo>
                  <a:lnTo>
                    <a:pt x="840389" y="25555"/>
                  </a:lnTo>
                  <a:lnTo>
                    <a:pt x="833558" y="17845"/>
                  </a:lnTo>
                  <a:lnTo>
                    <a:pt x="825579" y="11330"/>
                  </a:lnTo>
                  <a:lnTo>
                    <a:pt x="816658" y="6179"/>
                  </a:lnTo>
                  <a:lnTo>
                    <a:pt x="807026" y="2527"/>
                  </a:lnTo>
                  <a:lnTo>
                    <a:pt x="796933" y="466"/>
                  </a:lnTo>
                  <a:lnTo>
                    <a:pt x="789218" y="0"/>
                  </a:lnTo>
                  <a:lnTo>
                    <a:pt x="64008" y="0"/>
                  </a:lnTo>
                  <a:lnTo>
                    <a:pt x="71723" y="466"/>
                  </a:lnTo>
                  <a:lnTo>
                    <a:pt x="61430" y="51"/>
                  </a:lnTo>
                  <a:lnTo>
                    <a:pt x="51204" y="1293"/>
                  </a:lnTo>
                  <a:lnTo>
                    <a:pt x="41310" y="4159"/>
                  </a:lnTo>
                  <a:lnTo>
                    <a:pt x="32004" y="8575"/>
                  </a:lnTo>
                  <a:lnTo>
                    <a:pt x="23526" y="14427"/>
                  </a:lnTo>
                  <a:lnTo>
                    <a:pt x="16097" y="21562"/>
                  </a:lnTo>
                  <a:lnTo>
                    <a:pt x="9909" y="29797"/>
                  </a:lnTo>
                  <a:lnTo>
                    <a:pt x="5121" y="38919"/>
                  </a:lnTo>
                  <a:lnTo>
                    <a:pt x="1859" y="48689"/>
                  </a:lnTo>
                  <a:lnTo>
                    <a:pt x="207" y="58857"/>
                  </a:lnTo>
                  <a:lnTo>
                    <a:pt x="0" y="64008"/>
                  </a:lnTo>
                  <a:lnTo>
                    <a:pt x="0" y="292608"/>
                  </a:lnTo>
                  <a:lnTo>
                    <a:pt x="207" y="287457"/>
                  </a:lnTo>
                  <a:lnTo>
                    <a:pt x="207" y="297758"/>
                  </a:lnTo>
                  <a:lnTo>
                    <a:pt x="1859" y="307926"/>
                  </a:lnTo>
                  <a:lnTo>
                    <a:pt x="5121" y="317696"/>
                  </a:lnTo>
                  <a:lnTo>
                    <a:pt x="9909" y="326818"/>
                  </a:lnTo>
                  <a:lnTo>
                    <a:pt x="16097" y="335053"/>
                  </a:lnTo>
                  <a:lnTo>
                    <a:pt x="23526" y="342188"/>
                  </a:lnTo>
                  <a:lnTo>
                    <a:pt x="32004" y="348040"/>
                  </a:lnTo>
                  <a:lnTo>
                    <a:pt x="41310" y="352456"/>
                  </a:lnTo>
                  <a:lnTo>
                    <a:pt x="51204" y="355322"/>
                  </a:lnTo>
                  <a:lnTo>
                    <a:pt x="61430" y="356564"/>
                  </a:lnTo>
                  <a:close/>
                </a:path>
              </a:pathLst>
            </a:custGeom>
            <a:solidFill>
              <a:srgbClr val="D62828">
                <a:alpha val="100000"/>
              </a:srgbClr>
            </a:solidFill>
            <a:ln w="12382" cap="rnd">
              <a:solidFill>
                <a:srgbClr val="B71C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tx136"/>
            <p:cNvSpPr/>
            <p:nvPr/>
          </p:nvSpPr>
          <p:spPr>
            <a:xfrm>
              <a:off x="9600697" y="4749256"/>
              <a:ext cx="422818" cy="1026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0" i="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Pepck</a:t>
              </a:r>
            </a:p>
          </p:txBody>
        </p:sp>
        <p:sp>
          <p:nvSpPr>
            <p:cNvPr id="137" name="tx137"/>
            <p:cNvSpPr/>
            <p:nvPr/>
          </p:nvSpPr>
          <p:spPr>
            <a:xfrm>
              <a:off x="9428561" y="5102352"/>
              <a:ext cx="76709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1">
                  <a:solidFill>
                    <a:srgbClr val="C82127">
                      <a:alpha val="100000"/>
                    </a:srgbClr>
                  </a:solidFill>
                  <a:latin typeface="Arial"/>
                  <a:cs typeface="Arial"/>
                </a:rPr>
                <a:t>Pd L4 -&gt; Vv L2</a:t>
              </a:r>
            </a:p>
          </p:txBody>
        </p:sp>
        <p:sp>
          <p:nvSpPr>
            <p:cNvPr id="138" name="pg138"/>
            <p:cNvSpPr/>
            <p:nvPr/>
          </p:nvSpPr>
          <p:spPr>
            <a:xfrm>
              <a:off x="9385493" y="5218938"/>
              <a:ext cx="853226" cy="329184"/>
            </a:xfrm>
            <a:custGeom>
              <a:avLst/>
              <a:pathLst>
                <a:path w="853226" h="329184">
                  <a:moveTo>
                    <a:pt x="64008" y="329184"/>
                  </a:moveTo>
                  <a:lnTo>
                    <a:pt x="789218" y="329184"/>
                  </a:lnTo>
                  <a:lnTo>
                    <a:pt x="786641" y="329132"/>
                  </a:lnTo>
                  <a:lnTo>
                    <a:pt x="796933" y="328717"/>
                  </a:lnTo>
                  <a:lnTo>
                    <a:pt x="807026" y="326656"/>
                  </a:lnTo>
                  <a:lnTo>
                    <a:pt x="816658" y="323004"/>
                  </a:lnTo>
                  <a:lnTo>
                    <a:pt x="825579" y="317853"/>
                  </a:lnTo>
                  <a:lnTo>
                    <a:pt x="833558" y="311338"/>
                  </a:lnTo>
                  <a:lnTo>
                    <a:pt x="840389" y="303628"/>
                  </a:lnTo>
                  <a:lnTo>
                    <a:pt x="845894" y="294922"/>
                  </a:lnTo>
                  <a:lnTo>
                    <a:pt x="849932" y="285445"/>
                  </a:lnTo>
                  <a:lnTo>
                    <a:pt x="852397" y="275443"/>
                  </a:lnTo>
                  <a:lnTo>
                    <a:pt x="853226" y="265175"/>
                  </a:lnTo>
                  <a:lnTo>
                    <a:pt x="853226" y="64008"/>
                  </a:lnTo>
                  <a:lnTo>
                    <a:pt x="852397" y="53740"/>
                  </a:lnTo>
                  <a:lnTo>
                    <a:pt x="849932" y="43738"/>
                  </a:lnTo>
                  <a:lnTo>
                    <a:pt x="845894" y="34261"/>
                  </a:lnTo>
                  <a:lnTo>
                    <a:pt x="840389" y="25555"/>
                  </a:lnTo>
                  <a:lnTo>
                    <a:pt x="833558" y="17845"/>
                  </a:lnTo>
                  <a:lnTo>
                    <a:pt x="825579" y="11330"/>
                  </a:lnTo>
                  <a:lnTo>
                    <a:pt x="816658" y="6179"/>
                  </a:lnTo>
                  <a:lnTo>
                    <a:pt x="807026" y="2527"/>
                  </a:lnTo>
                  <a:lnTo>
                    <a:pt x="796933" y="466"/>
                  </a:lnTo>
                  <a:lnTo>
                    <a:pt x="789218" y="0"/>
                  </a:lnTo>
                  <a:lnTo>
                    <a:pt x="64008" y="0"/>
                  </a:lnTo>
                  <a:lnTo>
                    <a:pt x="71723" y="466"/>
                  </a:lnTo>
                  <a:lnTo>
                    <a:pt x="61430" y="51"/>
                  </a:lnTo>
                  <a:lnTo>
                    <a:pt x="51204" y="1293"/>
                  </a:lnTo>
                  <a:lnTo>
                    <a:pt x="41310" y="4159"/>
                  </a:lnTo>
                  <a:lnTo>
                    <a:pt x="32004" y="8575"/>
                  </a:lnTo>
                  <a:lnTo>
                    <a:pt x="23526" y="14427"/>
                  </a:lnTo>
                  <a:lnTo>
                    <a:pt x="16097" y="21562"/>
                  </a:lnTo>
                  <a:lnTo>
                    <a:pt x="9909" y="29797"/>
                  </a:lnTo>
                  <a:lnTo>
                    <a:pt x="5121" y="38919"/>
                  </a:lnTo>
                  <a:lnTo>
                    <a:pt x="1859" y="48689"/>
                  </a:lnTo>
                  <a:lnTo>
                    <a:pt x="207" y="58857"/>
                  </a:lnTo>
                  <a:lnTo>
                    <a:pt x="0" y="64008"/>
                  </a:lnTo>
                  <a:lnTo>
                    <a:pt x="0" y="265175"/>
                  </a:lnTo>
                  <a:lnTo>
                    <a:pt x="207" y="260025"/>
                  </a:lnTo>
                  <a:lnTo>
                    <a:pt x="207" y="270326"/>
                  </a:lnTo>
                  <a:lnTo>
                    <a:pt x="1859" y="280494"/>
                  </a:lnTo>
                  <a:lnTo>
                    <a:pt x="5121" y="290264"/>
                  </a:lnTo>
                  <a:lnTo>
                    <a:pt x="9909" y="299386"/>
                  </a:lnTo>
                  <a:lnTo>
                    <a:pt x="16097" y="307621"/>
                  </a:lnTo>
                  <a:lnTo>
                    <a:pt x="23526" y="314756"/>
                  </a:lnTo>
                  <a:lnTo>
                    <a:pt x="32004" y="320608"/>
                  </a:lnTo>
                  <a:lnTo>
                    <a:pt x="41310" y="325024"/>
                  </a:lnTo>
                  <a:lnTo>
                    <a:pt x="51204" y="327890"/>
                  </a:lnTo>
                  <a:lnTo>
                    <a:pt x="61430" y="3291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0953" cap="rnd">
              <a:solidFill>
                <a:srgbClr val="20202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tx139"/>
            <p:cNvSpPr/>
            <p:nvPr/>
          </p:nvSpPr>
          <p:spPr>
            <a:xfrm>
              <a:off x="9604720" y="5332186"/>
              <a:ext cx="414771" cy="1026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0" i="0" b="0">
                  <a:solidFill>
                    <a:srgbClr val="202020">
                      <a:alpha val="100000"/>
                    </a:srgbClr>
                  </a:solidFill>
                  <a:latin typeface="Arial"/>
                  <a:cs typeface="Arial"/>
                </a:rPr>
                <a:t>BNIP3</a:t>
              </a:r>
            </a:p>
          </p:txBody>
        </p:sp>
        <p:sp>
          <p:nvSpPr>
            <p:cNvPr id="140" name="pg140"/>
            <p:cNvSpPr/>
            <p:nvPr/>
          </p:nvSpPr>
          <p:spPr>
            <a:xfrm>
              <a:off x="9355020" y="5685282"/>
              <a:ext cx="914171" cy="356615"/>
            </a:xfrm>
            <a:custGeom>
              <a:avLst/>
              <a:pathLst>
                <a:path w="914171" h="356615">
                  <a:moveTo>
                    <a:pt x="64007" y="356615"/>
                  </a:moveTo>
                  <a:lnTo>
                    <a:pt x="850163" y="356615"/>
                  </a:lnTo>
                  <a:lnTo>
                    <a:pt x="847586" y="356564"/>
                  </a:lnTo>
                  <a:lnTo>
                    <a:pt x="857878" y="356149"/>
                  </a:lnTo>
                  <a:lnTo>
                    <a:pt x="867971" y="354088"/>
                  </a:lnTo>
                  <a:lnTo>
                    <a:pt x="877603" y="350436"/>
                  </a:lnTo>
                  <a:lnTo>
                    <a:pt x="886524" y="345285"/>
                  </a:lnTo>
                  <a:lnTo>
                    <a:pt x="894503" y="338770"/>
                  </a:lnTo>
                  <a:lnTo>
                    <a:pt x="901334" y="331060"/>
                  </a:lnTo>
                  <a:lnTo>
                    <a:pt x="906839" y="322354"/>
                  </a:lnTo>
                  <a:lnTo>
                    <a:pt x="910877" y="312877"/>
                  </a:lnTo>
                  <a:lnTo>
                    <a:pt x="913342" y="302875"/>
                  </a:lnTo>
                  <a:lnTo>
                    <a:pt x="914171" y="292607"/>
                  </a:lnTo>
                  <a:lnTo>
                    <a:pt x="914171" y="64007"/>
                  </a:lnTo>
                  <a:lnTo>
                    <a:pt x="913342" y="53740"/>
                  </a:lnTo>
                  <a:lnTo>
                    <a:pt x="910877" y="43738"/>
                  </a:lnTo>
                  <a:lnTo>
                    <a:pt x="906839" y="34261"/>
                  </a:lnTo>
                  <a:lnTo>
                    <a:pt x="901334" y="25555"/>
                  </a:lnTo>
                  <a:lnTo>
                    <a:pt x="894503" y="17845"/>
                  </a:lnTo>
                  <a:lnTo>
                    <a:pt x="886524" y="11330"/>
                  </a:lnTo>
                  <a:lnTo>
                    <a:pt x="877603" y="6179"/>
                  </a:lnTo>
                  <a:lnTo>
                    <a:pt x="867971" y="2527"/>
                  </a:lnTo>
                  <a:lnTo>
                    <a:pt x="857878" y="466"/>
                  </a:lnTo>
                  <a:lnTo>
                    <a:pt x="850163" y="0"/>
                  </a:lnTo>
                  <a:lnTo>
                    <a:pt x="64007" y="0"/>
                  </a:lnTo>
                  <a:lnTo>
                    <a:pt x="71723" y="466"/>
                  </a:lnTo>
                  <a:lnTo>
                    <a:pt x="61430" y="51"/>
                  </a:lnTo>
                  <a:lnTo>
                    <a:pt x="51204" y="1293"/>
                  </a:lnTo>
                  <a:lnTo>
                    <a:pt x="41310" y="4159"/>
                  </a:lnTo>
                  <a:lnTo>
                    <a:pt x="32003" y="8575"/>
                  </a:lnTo>
                  <a:lnTo>
                    <a:pt x="23526" y="14427"/>
                  </a:lnTo>
                  <a:lnTo>
                    <a:pt x="16097" y="21562"/>
                  </a:lnTo>
                  <a:lnTo>
                    <a:pt x="9909" y="29797"/>
                  </a:lnTo>
                  <a:lnTo>
                    <a:pt x="5121" y="38919"/>
                  </a:lnTo>
                  <a:lnTo>
                    <a:pt x="1859" y="48689"/>
                  </a:lnTo>
                  <a:lnTo>
                    <a:pt x="207" y="58857"/>
                  </a:lnTo>
                  <a:lnTo>
                    <a:pt x="0" y="64007"/>
                  </a:lnTo>
                  <a:lnTo>
                    <a:pt x="0" y="292607"/>
                  </a:lnTo>
                  <a:lnTo>
                    <a:pt x="207" y="287457"/>
                  </a:lnTo>
                  <a:lnTo>
                    <a:pt x="207" y="297758"/>
                  </a:lnTo>
                  <a:lnTo>
                    <a:pt x="1859" y="307926"/>
                  </a:lnTo>
                  <a:lnTo>
                    <a:pt x="5121" y="317696"/>
                  </a:lnTo>
                  <a:lnTo>
                    <a:pt x="9909" y="326818"/>
                  </a:lnTo>
                  <a:lnTo>
                    <a:pt x="16097" y="335053"/>
                  </a:lnTo>
                  <a:lnTo>
                    <a:pt x="23526" y="342188"/>
                  </a:lnTo>
                  <a:lnTo>
                    <a:pt x="32003" y="348040"/>
                  </a:lnTo>
                  <a:lnTo>
                    <a:pt x="41310" y="352456"/>
                  </a:lnTo>
                  <a:lnTo>
                    <a:pt x="51204" y="355322"/>
                  </a:lnTo>
                  <a:lnTo>
                    <a:pt x="61430" y="356564"/>
                  </a:lnTo>
                  <a:close/>
                </a:path>
              </a:pathLst>
            </a:custGeom>
            <a:solidFill>
              <a:srgbClr val="D62828">
                <a:alpha val="100000"/>
              </a:srgbClr>
            </a:solidFill>
            <a:ln w="12382" cap="rnd">
              <a:solidFill>
                <a:srgbClr val="B71C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tx141"/>
            <p:cNvSpPr/>
            <p:nvPr/>
          </p:nvSpPr>
          <p:spPr>
            <a:xfrm>
              <a:off x="9517120" y="5812246"/>
              <a:ext cx="589970" cy="1026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0" i="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Gbs-76A</a:t>
              </a:r>
            </a:p>
          </p:txBody>
        </p:sp>
        <p:sp>
          <p:nvSpPr>
            <p:cNvPr id="142" name="tx142"/>
            <p:cNvSpPr/>
            <p:nvPr/>
          </p:nvSpPr>
          <p:spPr>
            <a:xfrm>
              <a:off x="9428561" y="6165342"/>
              <a:ext cx="76709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1">
                  <a:solidFill>
                    <a:srgbClr val="C82127">
                      <a:alpha val="100000"/>
                    </a:srgbClr>
                  </a:solidFill>
                  <a:latin typeface="Arial"/>
                  <a:cs typeface="Arial"/>
                </a:rPr>
                <a:t>Pd L4 -&gt; Vv L2</a:t>
              </a:r>
            </a:p>
          </p:txBody>
        </p:sp>
        <p:sp>
          <p:nvSpPr>
            <p:cNvPr id="143" name="pg143"/>
            <p:cNvSpPr/>
            <p:nvPr/>
          </p:nvSpPr>
          <p:spPr>
            <a:xfrm>
              <a:off x="10653144" y="4629150"/>
              <a:ext cx="999494" cy="411479"/>
            </a:xfrm>
            <a:custGeom>
              <a:avLst/>
              <a:pathLst>
                <a:path w="999494" h="411479">
                  <a:moveTo>
                    <a:pt x="64007" y="411479"/>
                  </a:moveTo>
                  <a:lnTo>
                    <a:pt x="935486" y="411479"/>
                  </a:lnTo>
                  <a:lnTo>
                    <a:pt x="932908" y="411428"/>
                  </a:lnTo>
                  <a:lnTo>
                    <a:pt x="943201" y="411013"/>
                  </a:lnTo>
                  <a:lnTo>
                    <a:pt x="953294" y="408952"/>
                  </a:lnTo>
                  <a:lnTo>
                    <a:pt x="962925" y="405300"/>
                  </a:lnTo>
                  <a:lnTo>
                    <a:pt x="971846" y="400149"/>
                  </a:lnTo>
                  <a:lnTo>
                    <a:pt x="979825" y="393634"/>
                  </a:lnTo>
                  <a:lnTo>
                    <a:pt x="986656" y="385924"/>
                  </a:lnTo>
                  <a:lnTo>
                    <a:pt x="992162" y="377218"/>
                  </a:lnTo>
                  <a:lnTo>
                    <a:pt x="996199" y="367741"/>
                  </a:lnTo>
                  <a:lnTo>
                    <a:pt x="998665" y="357739"/>
                  </a:lnTo>
                  <a:lnTo>
                    <a:pt x="999494" y="347472"/>
                  </a:lnTo>
                  <a:lnTo>
                    <a:pt x="999494" y="64008"/>
                  </a:lnTo>
                  <a:lnTo>
                    <a:pt x="998665" y="53740"/>
                  </a:lnTo>
                  <a:lnTo>
                    <a:pt x="996199" y="43738"/>
                  </a:lnTo>
                  <a:lnTo>
                    <a:pt x="992162" y="34261"/>
                  </a:lnTo>
                  <a:lnTo>
                    <a:pt x="986656" y="25555"/>
                  </a:lnTo>
                  <a:lnTo>
                    <a:pt x="979825" y="17845"/>
                  </a:lnTo>
                  <a:lnTo>
                    <a:pt x="971846" y="11330"/>
                  </a:lnTo>
                  <a:lnTo>
                    <a:pt x="962925" y="6179"/>
                  </a:lnTo>
                  <a:lnTo>
                    <a:pt x="953294" y="2527"/>
                  </a:lnTo>
                  <a:lnTo>
                    <a:pt x="943201" y="466"/>
                  </a:lnTo>
                  <a:lnTo>
                    <a:pt x="935486" y="0"/>
                  </a:lnTo>
                  <a:lnTo>
                    <a:pt x="64007" y="0"/>
                  </a:lnTo>
                  <a:lnTo>
                    <a:pt x="71723" y="466"/>
                  </a:lnTo>
                  <a:lnTo>
                    <a:pt x="61430" y="51"/>
                  </a:lnTo>
                  <a:lnTo>
                    <a:pt x="51204" y="1293"/>
                  </a:lnTo>
                  <a:lnTo>
                    <a:pt x="41310" y="4159"/>
                  </a:lnTo>
                  <a:lnTo>
                    <a:pt x="32003" y="8575"/>
                  </a:lnTo>
                  <a:lnTo>
                    <a:pt x="23526" y="14427"/>
                  </a:lnTo>
                  <a:lnTo>
                    <a:pt x="16097" y="21562"/>
                  </a:lnTo>
                  <a:lnTo>
                    <a:pt x="9909" y="29797"/>
                  </a:lnTo>
                  <a:lnTo>
                    <a:pt x="5121" y="38919"/>
                  </a:lnTo>
                  <a:lnTo>
                    <a:pt x="1859" y="48689"/>
                  </a:lnTo>
                  <a:lnTo>
                    <a:pt x="207" y="58857"/>
                  </a:lnTo>
                  <a:lnTo>
                    <a:pt x="0" y="64008"/>
                  </a:lnTo>
                  <a:lnTo>
                    <a:pt x="0" y="347472"/>
                  </a:lnTo>
                  <a:lnTo>
                    <a:pt x="207" y="342321"/>
                  </a:lnTo>
                  <a:lnTo>
                    <a:pt x="207" y="352622"/>
                  </a:lnTo>
                  <a:lnTo>
                    <a:pt x="1859" y="362790"/>
                  </a:lnTo>
                  <a:lnTo>
                    <a:pt x="5121" y="372560"/>
                  </a:lnTo>
                  <a:lnTo>
                    <a:pt x="9909" y="381682"/>
                  </a:lnTo>
                  <a:lnTo>
                    <a:pt x="16097" y="389917"/>
                  </a:lnTo>
                  <a:lnTo>
                    <a:pt x="23526" y="397052"/>
                  </a:lnTo>
                  <a:lnTo>
                    <a:pt x="32003" y="402904"/>
                  </a:lnTo>
                  <a:lnTo>
                    <a:pt x="41310" y="407320"/>
                  </a:lnTo>
                  <a:lnTo>
                    <a:pt x="51204" y="410186"/>
                  </a:lnTo>
                  <a:lnTo>
                    <a:pt x="61430" y="411428"/>
                  </a:lnTo>
                  <a:close/>
                </a:path>
              </a:pathLst>
            </a:custGeom>
            <a:solidFill>
              <a:srgbClr val="D62828">
                <a:alpha val="100000"/>
              </a:srgbClr>
            </a:solidFill>
            <a:ln w="12382" cap="rnd">
              <a:solidFill>
                <a:srgbClr val="B71C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tx144"/>
            <p:cNvSpPr/>
            <p:nvPr/>
          </p:nvSpPr>
          <p:spPr>
            <a:xfrm>
              <a:off x="10926439" y="4695306"/>
              <a:ext cx="452902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9" i="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sut1-3 /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10858088" y="4881844"/>
              <a:ext cx="589605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9" i="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SLC2-like</a:t>
              </a:r>
            </a:p>
          </p:txBody>
        </p:sp>
        <p:sp>
          <p:nvSpPr>
            <p:cNvPr id="146" name="tx146"/>
            <p:cNvSpPr/>
            <p:nvPr/>
          </p:nvSpPr>
          <p:spPr>
            <a:xfrm>
              <a:off x="10769346" y="5164074"/>
              <a:ext cx="76709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1">
                  <a:solidFill>
                    <a:srgbClr val="C82127">
                      <a:alpha val="100000"/>
                    </a:srgbClr>
                  </a:solidFill>
                  <a:latin typeface="Arial"/>
                  <a:cs typeface="Arial"/>
                </a:rPr>
                <a:t>Pd L4 -&gt; Vv L2</a:t>
              </a:r>
            </a:p>
          </p:txBody>
        </p:sp>
        <p:sp>
          <p:nvSpPr>
            <p:cNvPr id="147" name="pg147"/>
            <p:cNvSpPr/>
            <p:nvPr/>
          </p:nvSpPr>
          <p:spPr>
            <a:xfrm>
              <a:off x="10848167" y="5596128"/>
              <a:ext cx="1218895" cy="534924"/>
            </a:xfrm>
            <a:custGeom>
              <a:avLst/>
              <a:pathLst>
                <a:path w="1218895" h="534924">
                  <a:moveTo>
                    <a:pt x="64007" y="534924"/>
                  </a:moveTo>
                  <a:lnTo>
                    <a:pt x="1154887" y="534924"/>
                  </a:lnTo>
                  <a:lnTo>
                    <a:pt x="1152309" y="534872"/>
                  </a:lnTo>
                  <a:lnTo>
                    <a:pt x="1162602" y="534457"/>
                  </a:lnTo>
                  <a:lnTo>
                    <a:pt x="1172695" y="532396"/>
                  </a:lnTo>
                  <a:lnTo>
                    <a:pt x="1182326" y="528744"/>
                  </a:lnTo>
                  <a:lnTo>
                    <a:pt x="1191247" y="523593"/>
                  </a:lnTo>
                  <a:lnTo>
                    <a:pt x="1199227" y="517078"/>
                  </a:lnTo>
                  <a:lnTo>
                    <a:pt x="1206057" y="509368"/>
                  </a:lnTo>
                  <a:lnTo>
                    <a:pt x="1211563" y="500662"/>
                  </a:lnTo>
                  <a:lnTo>
                    <a:pt x="1215601" y="491185"/>
                  </a:lnTo>
                  <a:lnTo>
                    <a:pt x="1218066" y="481183"/>
                  </a:lnTo>
                  <a:lnTo>
                    <a:pt x="1218895" y="470916"/>
                  </a:lnTo>
                  <a:lnTo>
                    <a:pt x="1218895" y="64008"/>
                  </a:lnTo>
                  <a:lnTo>
                    <a:pt x="1218066" y="53740"/>
                  </a:lnTo>
                  <a:lnTo>
                    <a:pt x="1215601" y="43738"/>
                  </a:lnTo>
                  <a:lnTo>
                    <a:pt x="1211563" y="34261"/>
                  </a:lnTo>
                  <a:lnTo>
                    <a:pt x="1206057" y="25555"/>
                  </a:lnTo>
                  <a:lnTo>
                    <a:pt x="1199227" y="17845"/>
                  </a:lnTo>
                  <a:lnTo>
                    <a:pt x="1191247" y="11330"/>
                  </a:lnTo>
                  <a:lnTo>
                    <a:pt x="1182326" y="6179"/>
                  </a:lnTo>
                  <a:lnTo>
                    <a:pt x="1172695" y="2527"/>
                  </a:lnTo>
                  <a:lnTo>
                    <a:pt x="1162602" y="466"/>
                  </a:lnTo>
                  <a:lnTo>
                    <a:pt x="1154887" y="0"/>
                  </a:lnTo>
                  <a:lnTo>
                    <a:pt x="64007" y="0"/>
                  </a:lnTo>
                  <a:lnTo>
                    <a:pt x="71723" y="466"/>
                  </a:lnTo>
                  <a:lnTo>
                    <a:pt x="61430" y="51"/>
                  </a:lnTo>
                  <a:lnTo>
                    <a:pt x="51204" y="1293"/>
                  </a:lnTo>
                  <a:lnTo>
                    <a:pt x="41310" y="4159"/>
                  </a:lnTo>
                  <a:lnTo>
                    <a:pt x="32003" y="8575"/>
                  </a:lnTo>
                  <a:lnTo>
                    <a:pt x="23526" y="14427"/>
                  </a:lnTo>
                  <a:lnTo>
                    <a:pt x="16097" y="21562"/>
                  </a:lnTo>
                  <a:lnTo>
                    <a:pt x="9909" y="29797"/>
                  </a:lnTo>
                  <a:lnTo>
                    <a:pt x="5121" y="38919"/>
                  </a:lnTo>
                  <a:lnTo>
                    <a:pt x="1859" y="48689"/>
                  </a:lnTo>
                  <a:lnTo>
                    <a:pt x="207" y="58857"/>
                  </a:lnTo>
                  <a:lnTo>
                    <a:pt x="0" y="64008"/>
                  </a:lnTo>
                  <a:lnTo>
                    <a:pt x="0" y="470916"/>
                  </a:lnTo>
                  <a:lnTo>
                    <a:pt x="207" y="465765"/>
                  </a:lnTo>
                  <a:lnTo>
                    <a:pt x="207" y="476066"/>
                  </a:lnTo>
                  <a:lnTo>
                    <a:pt x="1859" y="486234"/>
                  </a:lnTo>
                  <a:lnTo>
                    <a:pt x="5121" y="496004"/>
                  </a:lnTo>
                  <a:lnTo>
                    <a:pt x="9909" y="505126"/>
                  </a:lnTo>
                  <a:lnTo>
                    <a:pt x="16097" y="513361"/>
                  </a:lnTo>
                  <a:lnTo>
                    <a:pt x="23526" y="520496"/>
                  </a:lnTo>
                  <a:lnTo>
                    <a:pt x="32003" y="526348"/>
                  </a:lnTo>
                  <a:lnTo>
                    <a:pt x="41310" y="530764"/>
                  </a:lnTo>
                  <a:lnTo>
                    <a:pt x="51204" y="533630"/>
                  </a:lnTo>
                  <a:lnTo>
                    <a:pt x="61430" y="534872"/>
                  </a:lnTo>
                  <a:close/>
                </a:path>
              </a:pathLst>
            </a:custGeom>
            <a:solidFill>
              <a:srgbClr val="EEE9FA">
                <a:alpha val="100000"/>
              </a:srgbClr>
            </a:solidFill>
            <a:ln w="10953" cap="rnd">
              <a:solidFill>
                <a:srgbClr val="9B8B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tx148"/>
            <p:cNvSpPr/>
            <p:nvPr/>
          </p:nvSpPr>
          <p:spPr>
            <a:xfrm>
              <a:off x="10835411" y="5724006"/>
              <a:ext cx="1244406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9" i="0" b="0">
                  <a:solidFill>
                    <a:srgbClr val="202020">
                      <a:alpha val="100000"/>
                    </a:srgbClr>
                  </a:solidFill>
                  <a:latin typeface="Arial"/>
                  <a:cs typeface="Arial"/>
                </a:rPr>
                <a:t>Carbohydrate uptake,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10767151" y="5910544"/>
              <a:ext cx="1380926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9" i="0" b="0">
                  <a:solidFill>
                    <a:srgbClr val="202020">
                      <a:alpha val="100000"/>
                    </a:srgbClr>
                  </a:solidFill>
                  <a:latin typeface="Arial"/>
                  <a:cs typeface="Arial"/>
                </a:rPr>
                <a:t>metabolism and storage</a:t>
              </a:r>
            </a:p>
          </p:txBody>
        </p:sp>
        <p:sp>
          <p:nvSpPr>
            <p:cNvPr id="150" name="pl150"/>
            <p:cNvSpPr/>
            <p:nvPr/>
          </p:nvSpPr>
          <p:spPr>
            <a:xfrm>
              <a:off x="243779" y="5452109"/>
              <a:ext cx="487558" cy="0"/>
            </a:xfrm>
            <a:custGeom>
              <a:avLst/>
              <a:pathLst>
                <a:path w="487558" h="0">
                  <a:moveTo>
                    <a:pt x="0" y="0"/>
                  </a:moveTo>
                  <a:lnTo>
                    <a:pt x="487558" y="0"/>
                  </a:lnTo>
                </a:path>
              </a:pathLst>
            </a:custGeom>
            <a:ln w="11906" cap="rnd">
              <a:solidFill>
                <a:srgbClr val="4545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4026" y="5413247"/>
              <a:ext cx="67310" cy="77724"/>
            </a:xfrm>
            <a:custGeom>
              <a:avLst/>
              <a:pathLst>
                <a:path w="67310" h="77724">
                  <a:moveTo>
                    <a:pt x="0" y="77724"/>
                  </a:moveTo>
                  <a:lnTo>
                    <a:pt x="67310" y="38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54545">
                <a:alpha val="100000"/>
              </a:srgbClr>
            </a:solidFill>
            <a:ln w="11906" cap="rnd">
              <a:solidFill>
                <a:srgbClr val="4545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tx152"/>
            <p:cNvSpPr/>
            <p:nvPr/>
          </p:nvSpPr>
          <p:spPr>
            <a:xfrm>
              <a:off x="853226" y="5402092"/>
              <a:ext cx="675467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202020">
                      <a:alpha val="100000"/>
                    </a:srgbClr>
                  </a:solidFill>
                  <a:latin typeface="Arial"/>
                  <a:cs typeface="Arial"/>
                </a:rPr>
                <a:t>Activation</a:t>
              </a:r>
            </a:p>
          </p:txBody>
        </p:sp>
        <p:sp>
          <p:nvSpPr>
            <p:cNvPr id="153" name="pl153"/>
            <p:cNvSpPr/>
            <p:nvPr/>
          </p:nvSpPr>
          <p:spPr>
            <a:xfrm>
              <a:off x="243779" y="5678424"/>
              <a:ext cx="414424" cy="0"/>
            </a:xfrm>
            <a:custGeom>
              <a:avLst/>
              <a:pathLst>
                <a:path w="414424" h="0">
                  <a:moveTo>
                    <a:pt x="0" y="0"/>
                  </a:moveTo>
                  <a:lnTo>
                    <a:pt x="414424" y="0"/>
                  </a:lnTo>
                </a:path>
              </a:pathLst>
            </a:custGeom>
            <a:ln w="12858" cap="rnd">
              <a:solidFill>
                <a:srgbClr val="4545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731337" y="5623560"/>
              <a:ext cx="0" cy="109727"/>
            </a:xfrm>
            <a:custGeom>
              <a:avLst/>
              <a:pathLst>
                <a:path w="0" h="109727">
                  <a:moveTo>
                    <a:pt x="0" y="0"/>
                  </a:moveTo>
                  <a:lnTo>
                    <a:pt x="0" y="109727"/>
                  </a:lnTo>
                </a:path>
              </a:pathLst>
            </a:custGeom>
            <a:ln w="16192" cap="rnd">
              <a:solidFill>
                <a:srgbClr val="4545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tx155"/>
            <p:cNvSpPr/>
            <p:nvPr/>
          </p:nvSpPr>
          <p:spPr>
            <a:xfrm>
              <a:off x="853226" y="5628406"/>
              <a:ext cx="62855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202020">
                      <a:alpha val="100000"/>
                    </a:srgbClr>
                  </a:solidFill>
                  <a:latin typeface="Arial"/>
                  <a:cs typeface="Arial"/>
                </a:rPr>
                <a:t>Inhibition</a:t>
              </a:r>
            </a:p>
          </p:txBody>
        </p:sp>
        <p:sp>
          <p:nvSpPr>
            <p:cNvPr id="156" name="pl156"/>
            <p:cNvSpPr/>
            <p:nvPr/>
          </p:nvSpPr>
          <p:spPr>
            <a:xfrm>
              <a:off x="243779" y="5904738"/>
              <a:ext cx="487558" cy="0"/>
            </a:xfrm>
            <a:custGeom>
              <a:avLst/>
              <a:pathLst>
                <a:path w="487558" h="0">
                  <a:moveTo>
                    <a:pt x="0" y="0"/>
                  </a:moveTo>
                  <a:lnTo>
                    <a:pt x="487558" y="0"/>
                  </a:lnTo>
                </a:path>
              </a:pathLst>
            </a:custGeom>
            <a:ln w="11906" cap="rnd">
              <a:solidFill>
                <a:srgbClr val="454545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4026" y="5865876"/>
              <a:ext cx="67310" cy="77724"/>
            </a:xfrm>
            <a:custGeom>
              <a:avLst/>
              <a:pathLst>
                <a:path w="67310" h="77724">
                  <a:moveTo>
                    <a:pt x="0" y="77724"/>
                  </a:moveTo>
                  <a:lnTo>
                    <a:pt x="67310" y="38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54545">
                <a:alpha val="100000"/>
              </a:srgbClr>
            </a:solidFill>
            <a:ln w="11906" cap="rnd">
              <a:solidFill>
                <a:srgbClr val="454545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8" name="tx158"/>
            <p:cNvSpPr/>
            <p:nvPr/>
          </p:nvSpPr>
          <p:spPr>
            <a:xfrm>
              <a:off x="853226" y="5854720"/>
              <a:ext cx="2197303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202020">
                      <a:alpha val="100000"/>
                    </a:srgbClr>
                  </a:solidFill>
                  <a:latin typeface="Arial"/>
                  <a:cs typeface="Arial"/>
                </a:rPr>
                <a:t>Cross-talk or indirect modulation</a:t>
              </a:r>
            </a:p>
          </p:txBody>
        </p:sp>
        <p:sp>
          <p:nvSpPr>
            <p:cNvPr id="159" name="pg159"/>
            <p:cNvSpPr/>
            <p:nvPr/>
          </p:nvSpPr>
          <p:spPr>
            <a:xfrm>
              <a:off x="219401" y="6096762"/>
              <a:ext cx="1706453" cy="288036"/>
            </a:xfrm>
            <a:custGeom>
              <a:avLst/>
              <a:pathLst>
                <a:path w="1706453" h="288036">
                  <a:moveTo>
                    <a:pt x="54863" y="288036"/>
                  </a:moveTo>
                  <a:lnTo>
                    <a:pt x="1651589" y="288036"/>
                  </a:lnTo>
                  <a:lnTo>
                    <a:pt x="1649380" y="287991"/>
                  </a:lnTo>
                  <a:lnTo>
                    <a:pt x="1658202" y="287635"/>
                  </a:lnTo>
                  <a:lnTo>
                    <a:pt x="1666853" y="285869"/>
                  </a:lnTo>
                  <a:lnTo>
                    <a:pt x="1675109" y="282738"/>
                  </a:lnTo>
                  <a:lnTo>
                    <a:pt x="1682755" y="278324"/>
                  </a:lnTo>
                  <a:lnTo>
                    <a:pt x="1689594" y="272740"/>
                  </a:lnTo>
                  <a:lnTo>
                    <a:pt x="1695449" y="266131"/>
                  </a:lnTo>
                  <a:lnTo>
                    <a:pt x="1700168" y="258668"/>
                  </a:lnTo>
                  <a:lnTo>
                    <a:pt x="1703629" y="250545"/>
                  </a:lnTo>
                  <a:lnTo>
                    <a:pt x="1705742" y="241972"/>
                  </a:lnTo>
                  <a:lnTo>
                    <a:pt x="1706453" y="233172"/>
                  </a:lnTo>
                  <a:lnTo>
                    <a:pt x="1706453" y="54863"/>
                  </a:lnTo>
                  <a:lnTo>
                    <a:pt x="1705742" y="46063"/>
                  </a:lnTo>
                  <a:lnTo>
                    <a:pt x="1703629" y="37490"/>
                  </a:lnTo>
                  <a:lnTo>
                    <a:pt x="1700168" y="29367"/>
                  </a:lnTo>
                  <a:lnTo>
                    <a:pt x="1695449" y="21904"/>
                  </a:lnTo>
                  <a:lnTo>
                    <a:pt x="1689594" y="15295"/>
                  </a:lnTo>
                  <a:lnTo>
                    <a:pt x="1682755" y="9711"/>
                  </a:lnTo>
                  <a:lnTo>
                    <a:pt x="1675109" y="5297"/>
                  </a:lnTo>
                  <a:lnTo>
                    <a:pt x="1666853" y="2166"/>
                  </a:lnTo>
                  <a:lnTo>
                    <a:pt x="1658202" y="400"/>
                  </a:lnTo>
                  <a:lnTo>
                    <a:pt x="1651589" y="0"/>
                  </a:lnTo>
                  <a:lnTo>
                    <a:pt x="54863" y="0"/>
                  </a:lnTo>
                  <a:lnTo>
                    <a:pt x="61477" y="400"/>
                  </a:lnTo>
                  <a:lnTo>
                    <a:pt x="52654" y="44"/>
                  </a:lnTo>
                  <a:lnTo>
                    <a:pt x="43889" y="1108"/>
                  </a:lnTo>
                  <a:lnTo>
                    <a:pt x="35408" y="3565"/>
                  </a:lnTo>
                  <a:lnTo>
                    <a:pt x="27432" y="7350"/>
                  </a:lnTo>
                  <a:lnTo>
                    <a:pt x="20165" y="12366"/>
                  </a:lnTo>
                  <a:lnTo>
                    <a:pt x="13797" y="18482"/>
                  </a:lnTo>
                  <a:lnTo>
                    <a:pt x="8493" y="25541"/>
                  </a:lnTo>
                  <a:lnTo>
                    <a:pt x="4390" y="33359"/>
                  </a:lnTo>
                  <a:lnTo>
                    <a:pt x="1594" y="41734"/>
                  </a:lnTo>
                  <a:lnTo>
                    <a:pt x="177" y="50449"/>
                  </a:lnTo>
                  <a:lnTo>
                    <a:pt x="0" y="54863"/>
                  </a:lnTo>
                  <a:lnTo>
                    <a:pt x="0" y="233172"/>
                  </a:lnTo>
                  <a:lnTo>
                    <a:pt x="177" y="228757"/>
                  </a:lnTo>
                  <a:lnTo>
                    <a:pt x="177" y="237586"/>
                  </a:lnTo>
                  <a:lnTo>
                    <a:pt x="1594" y="246301"/>
                  </a:lnTo>
                  <a:lnTo>
                    <a:pt x="4390" y="254676"/>
                  </a:lnTo>
                  <a:lnTo>
                    <a:pt x="8493" y="262494"/>
                  </a:lnTo>
                  <a:lnTo>
                    <a:pt x="13797" y="269553"/>
                  </a:lnTo>
                  <a:lnTo>
                    <a:pt x="20165" y="275669"/>
                  </a:lnTo>
                  <a:lnTo>
                    <a:pt x="27431" y="280685"/>
                  </a:lnTo>
                  <a:lnTo>
                    <a:pt x="35408" y="284470"/>
                  </a:lnTo>
                  <a:lnTo>
                    <a:pt x="43889" y="286927"/>
                  </a:lnTo>
                  <a:lnTo>
                    <a:pt x="52654" y="287991"/>
                  </a:lnTo>
                  <a:close/>
                </a:path>
              </a:pathLst>
            </a:custGeom>
            <a:solidFill>
              <a:srgbClr val="D62828">
                <a:alpha val="100000"/>
              </a:srgbClr>
            </a:solidFill>
            <a:ln w="9525" cap="rnd">
              <a:solidFill>
                <a:srgbClr val="B71C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tx160"/>
            <p:cNvSpPr/>
            <p:nvPr/>
          </p:nvSpPr>
          <p:spPr>
            <a:xfrm>
              <a:off x="242809" y="6193048"/>
              <a:ext cx="1659636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Concordantly upregulated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3351961" y="6200775"/>
              <a:ext cx="404585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54545">
                      <a:alpha val="100000"/>
                    </a:srgbClr>
                  </a:solidFill>
                  <a:latin typeface="Arial"/>
                  <a:cs typeface="Arial"/>
                </a:rPr>
                <a:t>Global BH FDR &lt; 0.05 in both contrasts; matching ASH-shrunken effect directions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2026-09-09T13:01:49Z</dcterms:modified>
  <cp:category/>
</cp:coreProperties>
</file>